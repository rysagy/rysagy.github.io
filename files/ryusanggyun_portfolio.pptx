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68" r:id="rId26"/>
    <p:sldId id="269" r:id="rId27"/>
    <p:sldId id="272" r:id="rId31"/>
    <p:sldId id="274" r:id="rId33"/>
    <p:sldId id="259" r:id="rId17"/>
    <p:sldId id="260" r:id="rId18"/>
    <p:sldId id="264" r:id="rId22"/>
    <p:sldId id="261" r:id="rId19"/>
    <p:sldId id="267" r:id="rId25"/>
    <p:sldId id="270" r:id="rId28"/>
    <p:sldId id="271" r:id="rId29"/>
  </p:sldIdLst>
  <p:sldSz cx="24384000" cy="13716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2" Type="http://schemas.openxmlformats.org/officeDocument/2006/relationships/slide" Target="slides/slide10.xml"/><Relationship Id="rId25" Type="http://schemas.openxmlformats.org/officeDocument/2006/relationships/slide" Target="slides/slide12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presProps" Target="presProps.xml"/><Relationship Id="rId31" Type="http://schemas.openxmlformats.org/officeDocument/2006/relationships/slide" Target="slides/slide6.xml"/><Relationship Id="rId3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5404F34-BEEF-471A-91E2-3A123D74DF4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기반 자료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류상균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포트폴리오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최적화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.pptx,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류상균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로봇개발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자기소개서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포트폴리오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.docx.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로봇 개발자 지원용 마스터 포트폴리오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[Sources]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템플릿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3.pptx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·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자기소개서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DOCX, ARMIGO.pptx 5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AI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융합로봇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결과보고서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).pptx 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DOCX Skill-Portfolio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및 세 프로젝트 역할 분담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ROS2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는 학습 중이며 상용 개발 실적으로 제시하지 않음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역할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ARMIGO.pptx 5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Safe Eye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결과보고서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PLC_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미니프로젝트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류상균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_PPT.pptx 2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PLC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날짜는 기존 수정 포트폴리오와 사용자 이전 정정 내용 기준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ARMIGO.pptx 3–5, 9–13, 26–28, 31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개인 담당의 근거는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 역할 분담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기구 설계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·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외장 제작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·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모터 제어 및 동기화는 다른 팀원 담당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AI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융합로봇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결과보고서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).pptx 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 역할 분담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7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 시연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15–16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PPE OD, 23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 하드웨어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MLC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모델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위험구역 탐지 알고리즘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정량 비교 평가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프론트엔드 위젯은 다른 팀원 담당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PLC_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미니프로젝트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류상균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_PPT.pptx 2,7,8,10,11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쪽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본인 담당은 기초 시퀀스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Teaching,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설비 점검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비상정지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HMI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전체 구성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창고 비움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작업시간 측정은 최은비 담당이므로 개인 실적으로 기재하지 않음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PLC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정지 로직을 안전 인증 수준의 회로라고 주장하지 않음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DOCX.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년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9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월 기준 교육 종료일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2026.11.09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는 예정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학점은행제 학위는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2027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년 하반기 예정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삼성전자 직접 고용이 아닌 에스앤에스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에스에프시스템 소속 경력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자소서 모음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.hwp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최근 기아 자기소개서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번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DOCX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성장과정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현장 유지보수 사례이며 해당 장비 제어 프로그램을 개발했다는 의미가 아님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출처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이력서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DOCX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지원동기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성격의 장단점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특기사항 및 각 프로젝트 기술서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연락처는 사용자 제공 이력서 및 원본 포트폴리오 기준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E276D0-DAD0-4F57-BE04-9A5A881399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E211491-33EF-477F-94E3-61D6F5A345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D91BE01-C2AF-4009-96E4-28B14EE1F7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712AC6E-D22A-4DEA-A7B8-A02ECEA36A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C1160AA-ED2C-4D04-9CF4-0C82E9BC56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AA32D63-CB90-423A-A251-A3034166DE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C6F6277-2799-461D-949C-DE73B78D1C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13F56C1-071D-4493-B849-684A34E1A2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57C7BB2-A226-45F0-B1C6-A9B64DFD44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D4DB256-290B-4071-BF51-4440413089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1070892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12463560" y="3209400"/>
            <a:ext cx="1070892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73C7B64-4247-49FD-A2BA-D7334AB965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edi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Ma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titl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146964-6ABF-4460-B61A-B2A493AB80D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  <a:ea typeface="Calibri"/>
              </a:rPr>
              <a:t>Click to edit 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  <a:ea typeface="Calibri"/>
              </a:rPr>
              <a:t>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A9B66F-5CE5-4AAD-A0B8-5B5EEECCB6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8645F4-5C60-4156-9089-7CF4488191D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3850F6-7800-4DD4-B8D3-FFF18134644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edi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Ma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titl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styl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1F4BCDB-939D-408B-A414-8327136D40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EA2693D-A8EB-460A-9989-AFE399E8B5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648C72E-7901-4CB2-8B70-5C049749ED7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F9821B-81D7-4432-B080-E77FF20C09C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C4DA93-1395-4DFF-9210-C1B1832655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584ECF5-D7B3-4CD1-B25A-CA6A05AA0B9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  <a:ea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743040" indent="-28584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  <a:ea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1143000" indent="-22860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16002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2057400" indent="-228600" defTabSz="9144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15E8FD-F60C-4C1D-A6AA-7C7EE80919F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7.png"/><Relationship Id="rId7" Type="http://schemas.openxmlformats.org/officeDocument/2006/relationships/image" Target="../media/image27.png"/><Relationship Id="rId8" Type="http://schemas.openxmlformats.org/officeDocument/2006/relationships/image" Target="../media/image27.png"/><Relationship Id="rId9" Type="http://schemas.openxmlformats.org/officeDocument/2006/relationships/slideLayout" Target="../slideLayouts/slideLayout6.xml"/><Relationship Id="rId10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6.xml"/><Relationship Id="rId4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5.xml"/><Relationship Id="rId7" Type="http://schemas.openxmlformats.org/officeDocument/2006/relationships/image" Target="../media/image2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2" descr=""/>
          <p:cNvPicPr/>
          <p:nvPr/>
        </p:nvPicPr>
        <p:blipFill>
          <a:blip r:embed="rId1"/>
          <a:stretch/>
        </p:blipFill>
        <p:spPr>
          <a:xfrm>
            <a:off x="1434960" y="0"/>
            <a:ext cx="22948560" cy="4343040"/>
          </a:xfrm>
          <a:prstGeom prst="rect">
            <a:avLst/>
          </a:prstGeom>
          <a:ln w="0">
            <a:noFill/>
          </a:ln>
        </p:spPr>
      </p:pic>
      <p:sp>
        <p:nvSpPr>
          <p:cNvPr id="74" name="TextBox 3"/>
          <p:cNvSpPr/>
          <p:nvPr/>
        </p:nvSpPr>
        <p:spPr>
          <a:xfrm>
            <a:off x="2571840" y="2095560"/>
            <a:ext cx="161920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1" lang="zh-CN" sz="570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로봇 개발 포트폴리오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2571840" y="1000080"/>
            <a:ext cx="857232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1" lang="zh-CN" sz="450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류상균</a:t>
            </a:r>
            <a:endParaRPr b="0" lang="en-US" sz="45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2476440" y="4952880"/>
            <a:ext cx="17620920" cy="30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1" lang="en-US" sz="16130" spc="-301" strike="noStrike">
                <a:solidFill>
                  <a:srgbClr val="202020"/>
                </a:solidFill>
                <a:latin typeface="Pretendard Bold"/>
                <a:ea typeface="Pretendard Bold"/>
              </a:rPr>
              <a:t>Portfolio.</a:t>
            </a:r>
            <a:endParaRPr b="0" lang="en-US" sz="161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18668880" y="10706040"/>
            <a:ext cx="22730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zh-CN" sz="3340" spc="-100" strike="noStrike">
                <a:solidFill>
                  <a:srgbClr val="1d1d1d"/>
                </a:solidFill>
                <a:latin typeface="Pretendard Bold"/>
                <a:ea typeface="Pretendard Bold"/>
              </a:rPr>
              <a:t>류상균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78" name="TextBox 7"/>
          <p:cNvSpPr/>
          <p:nvPr/>
        </p:nvSpPr>
        <p:spPr>
          <a:xfrm>
            <a:off x="18668880" y="11404440"/>
            <a:ext cx="47876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en-US" sz="3340" spc="-100" strike="noStrike">
                <a:solidFill>
                  <a:srgbClr val="1d1d1d"/>
                </a:solidFill>
                <a:latin typeface="Pretendard Light"/>
                <a:ea typeface="Pretendard Light"/>
              </a:rPr>
              <a:t>etland6554@gmail.com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79" name="TextBox 8"/>
          <p:cNvSpPr/>
          <p:nvPr/>
        </p:nvSpPr>
        <p:spPr>
          <a:xfrm>
            <a:off x="18668880" y="12103200"/>
            <a:ext cx="41270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en-US" sz="3340" spc="-100" strike="noStrike">
                <a:solidFill>
                  <a:srgbClr val="1d1d1d"/>
                </a:solidFill>
                <a:latin typeface="Pretendard Light"/>
                <a:ea typeface="Pretendard Light"/>
              </a:rPr>
              <a:t>+82 10-6554-2989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80" name="Picture 9" descr=""/>
          <p:cNvPicPr/>
          <p:nvPr/>
        </p:nvPicPr>
        <p:blipFill>
          <a:blip r:embed="rId2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81" name="TextBox 10"/>
          <p:cNvSpPr/>
          <p:nvPr/>
        </p:nvSpPr>
        <p:spPr>
          <a:xfrm rot="5400000">
            <a:off x="-698040" y="11163240"/>
            <a:ext cx="27554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r">
              <a:lnSpc>
                <a:spcPct val="99000"/>
              </a:lnSpc>
            </a:pPr>
            <a:r>
              <a:rPr b="0" lang="en-US" sz="226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  </a:t>
            </a:r>
            <a:r>
              <a:rPr b="0" lang="en-US" sz="226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RYU SANG GYUN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2" name="TextBox 11"/>
          <p:cNvSpPr/>
          <p:nvPr/>
        </p:nvSpPr>
        <p:spPr>
          <a:xfrm rot="5400000">
            <a:off x="-507600" y="1993680"/>
            <a:ext cx="2437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just">
              <a:lnSpc>
                <a:spcPct val="99000"/>
              </a:lnSpc>
            </a:pPr>
            <a:r>
              <a:rPr b="0" lang="en-US" sz="226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2026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3" name="TextBox 12"/>
          <p:cNvSpPr/>
          <p:nvPr/>
        </p:nvSpPr>
        <p:spPr>
          <a:xfrm>
            <a:off x="2619360" y="8381880"/>
            <a:ext cx="1571580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8000"/>
              </a:lnSpc>
            </a:pPr>
            <a:r>
              <a:rPr b="0" lang="zh-CN" sz="338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설비를 설계하고 고치던 경험으로</a:t>
            </a:r>
            <a:endParaRPr b="0" lang="en-US" sz="33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8000"/>
              </a:lnSpc>
            </a:pPr>
            <a:r>
              <a:rPr b="0" lang="zh-CN" sz="338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현장에서 제대로 움직이는 로봇을 만듭니다</a:t>
            </a:r>
            <a:endParaRPr b="0" lang="en-US" sz="33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7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85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Contents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6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02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7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Contents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8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현장 경력과 개발 프로젝트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89" name="index0"/>
          <p:cNvSpPr/>
          <p:nvPr/>
        </p:nvSpPr>
        <p:spPr>
          <a:xfrm>
            <a:off x="2619360" y="495288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01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0" name="section0"/>
          <p:cNvSpPr/>
          <p:nvPr/>
        </p:nvSpPr>
        <p:spPr>
          <a:xfrm>
            <a:off x="3905280" y="495288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Profile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1" name="description0"/>
          <p:cNvSpPr/>
          <p:nvPr/>
        </p:nvSpPr>
        <p:spPr>
          <a:xfrm>
            <a:off x="3905280" y="571500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소개와 개발 방향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2" name="pages0"/>
          <p:cNvSpPr/>
          <p:nvPr/>
        </p:nvSpPr>
        <p:spPr>
          <a:xfrm>
            <a:off x="10477440" y="500076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03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3" name="index1"/>
          <p:cNvSpPr/>
          <p:nvPr/>
        </p:nvSpPr>
        <p:spPr>
          <a:xfrm>
            <a:off x="2619360" y="685800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02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4" name="section1"/>
          <p:cNvSpPr/>
          <p:nvPr/>
        </p:nvSpPr>
        <p:spPr>
          <a:xfrm>
            <a:off x="3905280" y="685800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Career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5" name="description1"/>
          <p:cNvSpPr/>
          <p:nvPr/>
        </p:nvSpPr>
        <p:spPr>
          <a:xfrm>
            <a:off x="3905280" y="762012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경력과 현장 문제 해결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6" name="pages1"/>
          <p:cNvSpPr/>
          <p:nvPr/>
        </p:nvSpPr>
        <p:spPr>
          <a:xfrm>
            <a:off x="10477440" y="690552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04–05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7" name="index2"/>
          <p:cNvSpPr/>
          <p:nvPr/>
        </p:nvSpPr>
        <p:spPr>
          <a:xfrm>
            <a:off x="2619360" y="876312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03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8" name="section2"/>
          <p:cNvSpPr/>
          <p:nvPr/>
        </p:nvSpPr>
        <p:spPr>
          <a:xfrm>
            <a:off x="3905280" y="876312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Final Project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99" name="description2"/>
          <p:cNvSpPr/>
          <p:nvPr/>
        </p:nvSpPr>
        <p:spPr>
          <a:xfrm>
            <a:off x="3905280" y="952488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공장자동화 AMR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0" name="pages2"/>
          <p:cNvSpPr/>
          <p:nvPr/>
        </p:nvSpPr>
        <p:spPr>
          <a:xfrm>
            <a:off x="10477440" y="881064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06–07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1" name="index3"/>
          <p:cNvSpPr/>
          <p:nvPr/>
        </p:nvSpPr>
        <p:spPr>
          <a:xfrm>
            <a:off x="2619360" y="1066788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04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2" name="section3"/>
          <p:cNvSpPr/>
          <p:nvPr/>
        </p:nvSpPr>
        <p:spPr>
          <a:xfrm>
            <a:off x="3905280" y="1066788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Skills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3" name="description3"/>
          <p:cNvSpPr/>
          <p:nvPr/>
        </p:nvSpPr>
        <p:spPr>
          <a:xfrm>
            <a:off x="3905280" y="1143000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직접 써 본 기술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4" name="pages3"/>
          <p:cNvSpPr/>
          <p:nvPr/>
        </p:nvSpPr>
        <p:spPr>
          <a:xfrm>
            <a:off x="10477440" y="1071576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08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5" name="index4"/>
          <p:cNvSpPr/>
          <p:nvPr/>
        </p:nvSpPr>
        <p:spPr>
          <a:xfrm>
            <a:off x="13716000" y="495288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05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6" name="section4"/>
          <p:cNvSpPr/>
          <p:nvPr/>
        </p:nvSpPr>
        <p:spPr>
          <a:xfrm>
            <a:off x="15001920" y="495288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Project Map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7" name="description4"/>
          <p:cNvSpPr/>
          <p:nvPr/>
        </p:nvSpPr>
        <p:spPr>
          <a:xfrm>
            <a:off x="15001920" y="571500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프로젝트 한눈에 보기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8" name="pages4"/>
          <p:cNvSpPr/>
          <p:nvPr/>
        </p:nvSpPr>
        <p:spPr>
          <a:xfrm>
            <a:off x="21574080" y="500076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09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09" name="index5"/>
          <p:cNvSpPr/>
          <p:nvPr/>
        </p:nvSpPr>
        <p:spPr>
          <a:xfrm>
            <a:off x="13716000" y="685800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06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0" name="section5"/>
          <p:cNvSpPr/>
          <p:nvPr/>
        </p:nvSpPr>
        <p:spPr>
          <a:xfrm>
            <a:off x="15001920" y="685800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Safe Eye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1" name="description5"/>
          <p:cNvSpPr/>
          <p:nvPr/>
        </p:nvSpPr>
        <p:spPr>
          <a:xfrm>
            <a:off x="15001920" y="762012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YOLO 안전 감지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2" name="pages5"/>
          <p:cNvSpPr/>
          <p:nvPr/>
        </p:nvSpPr>
        <p:spPr>
          <a:xfrm>
            <a:off x="21574080" y="690552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10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3" name="index6"/>
          <p:cNvSpPr/>
          <p:nvPr/>
        </p:nvSpPr>
        <p:spPr>
          <a:xfrm>
            <a:off x="13716000" y="876312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07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4" name="section6"/>
          <p:cNvSpPr/>
          <p:nvPr/>
        </p:nvSpPr>
        <p:spPr>
          <a:xfrm>
            <a:off x="15001920" y="876312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ARMIGO · PLC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5" name="description6"/>
          <p:cNvSpPr/>
          <p:nvPr/>
        </p:nvSpPr>
        <p:spPr>
          <a:xfrm>
            <a:off x="15001920" y="952488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로봇 팔, 자동화 설비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6" name="pages6"/>
          <p:cNvSpPr/>
          <p:nvPr/>
        </p:nvSpPr>
        <p:spPr>
          <a:xfrm>
            <a:off x="21574080" y="881064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11–12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7" name="index7"/>
          <p:cNvSpPr/>
          <p:nvPr/>
        </p:nvSpPr>
        <p:spPr>
          <a:xfrm>
            <a:off x="13716000" y="10667880"/>
            <a:ext cx="952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30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08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8" name="section7"/>
          <p:cNvSpPr/>
          <p:nvPr/>
        </p:nvSpPr>
        <p:spPr>
          <a:xfrm>
            <a:off x="15001920" y="1066788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7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Work Style</a:t>
            </a:r>
            <a:endParaRPr b="0" lang="en-US" sz="36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19" name="description7"/>
          <p:cNvSpPr/>
          <p:nvPr/>
        </p:nvSpPr>
        <p:spPr>
          <a:xfrm>
            <a:off x="15001920" y="11430000"/>
            <a:ext cx="7429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일하는 방식과 연락처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0" name="pages7"/>
          <p:cNvSpPr/>
          <p:nvPr/>
        </p:nvSpPr>
        <p:spPr>
          <a:xfrm>
            <a:off x="21574080" y="10715760"/>
            <a:ext cx="16664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6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13–14</a:t>
            </a:r>
            <a:endParaRPr b="0" lang="en-US" sz="26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2" descr=""/>
          <p:cNvPicPr/>
          <p:nvPr/>
        </p:nvPicPr>
        <p:blipFill>
          <a:blip r:embed="rId1"/>
          <a:stretch/>
        </p:blipFill>
        <p:spPr>
          <a:xfrm>
            <a:off x="1487520" y="1314360"/>
            <a:ext cx="8314920" cy="1108692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3" descr=""/>
          <p:cNvPicPr/>
          <p:nvPr/>
        </p:nvPicPr>
        <p:blipFill>
          <a:blip r:embed="rId2"/>
          <a:stretch/>
        </p:blipFill>
        <p:spPr>
          <a:xfrm>
            <a:off x="9791640" y="0"/>
            <a:ext cx="14591880" cy="5994000"/>
          </a:xfrm>
          <a:prstGeom prst="rect">
            <a:avLst/>
          </a:prstGeom>
          <a:ln w="0">
            <a:noFill/>
          </a:ln>
        </p:spPr>
      </p:pic>
      <p:sp>
        <p:nvSpPr>
          <p:cNvPr id="123" name="TextBox 4"/>
          <p:cNvSpPr/>
          <p:nvPr/>
        </p:nvSpPr>
        <p:spPr>
          <a:xfrm>
            <a:off x="10906200" y="2286000"/>
            <a:ext cx="12572640" cy="24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zh-CN" sz="5250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여러 현장에서 본 것을</a:t>
            </a:r>
            <a:endParaRPr b="0" lang="en-US" sz="5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1" lang="zh-CN" sz="5250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로봇 개발에 씁니다</a:t>
            </a:r>
            <a:endParaRPr b="0" lang="en-US" sz="5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10906200" y="6610320"/>
            <a:ext cx="1219176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zh-CN" sz="360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현장 경력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5" name="TextBox 6"/>
          <p:cNvSpPr/>
          <p:nvPr/>
        </p:nvSpPr>
        <p:spPr>
          <a:xfrm rot="5400000">
            <a:off x="-698040" y="11163240"/>
            <a:ext cx="27554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r">
              <a:lnSpc>
                <a:spcPct val="99000"/>
              </a:lnSpc>
            </a:pP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  </a:t>
            </a: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PORTFOLIO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6" name="TextBox 7"/>
          <p:cNvSpPr/>
          <p:nvPr/>
        </p:nvSpPr>
        <p:spPr>
          <a:xfrm rot="5400000">
            <a:off x="-507600" y="1993680"/>
            <a:ext cx="2437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just">
              <a:lnSpc>
                <a:spcPct val="99000"/>
              </a:lnSpc>
            </a:pP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Introduce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10858680" y="7381800"/>
            <a:ext cx="12191760" cy="13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27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냉동설비 설계부터 반도체 설비 보전, NRD 물류로봇 유지보수, 평택 셋업 PM까지 했습니다. 같은 설비를 여러 입장에서 보면서 원인을 넓게 보는 눈이 생겼습니다.</a:t>
            </a:r>
            <a:endParaRPr b="0" lang="en-US" sz="2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8" name="TextBox 9"/>
          <p:cNvSpPr/>
          <p:nvPr/>
        </p:nvSpPr>
        <p:spPr>
          <a:xfrm>
            <a:off x="10909440" y="9169560"/>
            <a:ext cx="74163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zh-CN" sz="360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개발 프로젝트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10858680" y="9906120"/>
            <a:ext cx="1219176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27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지금은 공장자동화 팀 프로젝트에서 AMR 2대의 주행과 마커 도킹을 맡고 있습니다. 그 전에는 YOLO 안전 감지와 STM32 로봇 팔을 만들었습니다.</a:t>
            </a:r>
            <a:endParaRPr b="0" lang="en-US" sz="2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10909440" y="11417400"/>
            <a:ext cx="74163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zh-CN" sz="360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협업 방식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10858680" y="12382560"/>
            <a:ext cx="121917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zh-CN" sz="24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담당 기능의 입출력 조건과 오류 상황을 확인하고 공유합니다</a:t>
            </a:r>
            <a:r>
              <a:rPr b="0" lang="en-US" sz="24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4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점검 순서와 조치 내용을 기록해 팀의 다음 대응에 활용합니다</a:t>
            </a:r>
            <a:r>
              <a:rPr b="0" lang="en-US" sz="24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4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5575320" y="12827160"/>
            <a:ext cx="3466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>
              <a:lnSpc>
                <a:spcPct val="157000"/>
              </a:lnSpc>
            </a:pPr>
            <a:endParaRPr b="0" lang="en-US" sz="18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Picture 2" descr=""/>
          <p:cNvPicPr/>
          <p:nvPr/>
        </p:nvPicPr>
        <p:blipFill>
          <a:blip r:embed="rId1"/>
          <a:stretch/>
        </p:blipFill>
        <p:spPr>
          <a:xfrm>
            <a:off x="1486080" y="0"/>
            <a:ext cx="22897800" cy="6032160"/>
          </a:xfrm>
          <a:prstGeom prst="rect">
            <a:avLst/>
          </a:prstGeom>
          <a:ln w="0">
            <a:noFill/>
          </a:ln>
        </p:spPr>
      </p:pic>
      <p:pic>
        <p:nvPicPr>
          <p:cNvPr id="292" name="Picture 3" descr=""/>
          <p:cNvPicPr/>
          <p:nvPr/>
        </p:nvPicPr>
        <p:blipFill>
          <a:blip r:embed="rId2"/>
          <a:stretch/>
        </p:blipFill>
        <p:spPr>
          <a:xfrm>
            <a:off x="12890520" y="6045120"/>
            <a:ext cx="5702040" cy="7670520"/>
          </a:xfrm>
          <a:prstGeom prst="rect">
            <a:avLst/>
          </a:prstGeom>
          <a:ln w="0">
            <a:noFill/>
          </a:ln>
        </p:spPr>
      </p:pic>
      <p:pic>
        <p:nvPicPr>
          <p:cNvPr id="293" name="Picture 4" descr=""/>
          <p:cNvPicPr/>
          <p:nvPr/>
        </p:nvPicPr>
        <p:blipFill>
          <a:blip r:embed="rId3"/>
          <a:stretch/>
        </p:blipFill>
        <p:spPr>
          <a:xfrm>
            <a:off x="1486080" y="6045120"/>
            <a:ext cx="5702040" cy="7670520"/>
          </a:xfrm>
          <a:prstGeom prst="rect">
            <a:avLst/>
          </a:prstGeom>
          <a:ln w="0">
            <a:noFill/>
          </a:ln>
        </p:spPr>
      </p:pic>
      <p:pic>
        <p:nvPicPr>
          <p:cNvPr id="294" name="Picture 5" descr=""/>
          <p:cNvPicPr/>
          <p:nvPr/>
        </p:nvPicPr>
        <p:blipFill>
          <a:blip r:embed="rId4"/>
          <a:stretch/>
        </p:blipFill>
        <p:spPr>
          <a:xfrm>
            <a:off x="1486080" y="8102520"/>
            <a:ext cx="22897800" cy="25200"/>
          </a:xfrm>
          <a:prstGeom prst="rect">
            <a:avLst/>
          </a:prstGeom>
          <a:ln w="0">
            <a:noFill/>
          </a:ln>
        </p:spPr>
      </p:pic>
      <p:pic>
        <p:nvPicPr>
          <p:cNvPr id="295" name="Picture 6" descr=""/>
          <p:cNvPicPr/>
          <p:nvPr/>
        </p:nvPicPr>
        <p:blipFill>
          <a:blip r:embed="rId5"/>
          <a:stretch/>
        </p:blipFill>
        <p:spPr>
          <a:xfrm rot="5400000">
            <a:off x="3022920" y="9867600"/>
            <a:ext cx="8292600" cy="25200"/>
          </a:xfrm>
          <a:prstGeom prst="rect">
            <a:avLst/>
          </a:prstGeom>
          <a:ln w="0">
            <a:noFill/>
          </a:ln>
        </p:spPr>
      </p:pic>
      <p:pic>
        <p:nvPicPr>
          <p:cNvPr id="296" name="Picture 7" descr=""/>
          <p:cNvPicPr/>
          <p:nvPr/>
        </p:nvPicPr>
        <p:blipFill>
          <a:blip r:embed="rId6"/>
          <a:stretch/>
        </p:blipFill>
        <p:spPr>
          <a:xfrm rot="5400000">
            <a:off x="-708120" y="9842040"/>
            <a:ext cx="5638320" cy="25200"/>
          </a:xfrm>
          <a:prstGeom prst="rect">
            <a:avLst/>
          </a:prstGeom>
          <a:ln w="0">
            <a:noFill/>
          </a:ln>
        </p:spPr>
      </p:pic>
      <p:pic>
        <p:nvPicPr>
          <p:cNvPr id="297" name="Picture 8" descr=""/>
          <p:cNvPicPr/>
          <p:nvPr/>
        </p:nvPicPr>
        <p:blipFill>
          <a:blip r:embed="rId7"/>
          <a:stretch/>
        </p:blipFill>
        <p:spPr>
          <a:xfrm rot="5400000">
            <a:off x="8750520" y="9867600"/>
            <a:ext cx="8292600" cy="25200"/>
          </a:xfrm>
          <a:prstGeom prst="rect">
            <a:avLst/>
          </a:prstGeom>
          <a:ln w="0">
            <a:noFill/>
          </a:ln>
        </p:spPr>
      </p:pic>
      <p:pic>
        <p:nvPicPr>
          <p:cNvPr id="298" name="Picture 9" descr=""/>
          <p:cNvPicPr/>
          <p:nvPr/>
        </p:nvPicPr>
        <p:blipFill>
          <a:blip r:embed="rId8"/>
          <a:stretch/>
        </p:blipFill>
        <p:spPr>
          <a:xfrm rot="5400000">
            <a:off x="14452920" y="9867600"/>
            <a:ext cx="8292600" cy="25200"/>
          </a:xfrm>
          <a:prstGeom prst="rect">
            <a:avLst/>
          </a:prstGeom>
          <a:ln w="0">
            <a:noFill/>
          </a:ln>
        </p:spPr>
      </p:pic>
      <p:sp>
        <p:nvSpPr>
          <p:cNvPr id="299" name="TextBox 10"/>
          <p:cNvSpPr/>
          <p:nvPr/>
        </p:nvSpPr>
        <p:spPr>
          <a:xfrm>
            <a:off x="2486160" y="1143000"/>
            <a:ext cx="10953360" cy="33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zh-CN" sz="5850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현장 경험과</a:t>
            </a:r>
            <a:endParaRPr b="0" lang="en-US" sz="58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1" lang="zh-CN" sz="5850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개발 학습 이력</a:t>
            </a:r>
            <a:endParaRPr b="0" lang="en-US" sz="58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0" name="TextBox 11"/>
          <p:cNvSpPr/>
          <p:nvPr/>
        </p:nvSpPr>
        <p:spPr>
          <a:xfrm>
            <a:off x="13792320" y="2374920"/>
            <a:ext cx="38095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16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3359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INFO</a:t>
            </a:r>
            <a:endParaRPr b="0" lang="en-US" sz="3359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1" name="TextBox 12"/>
          <p:cNvSpPr/>
          <p:nvPr/>
        </p:nvSpPr>
        <p:spPr>
          <a:xfrm>
            <a:off x="15659280" y="2387520"/>
            <a:ext cx="4584240" cy="22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4000"/>
              </a:lnSpc>
            </a:pPr>
            <a:r>
              <a:rPr b="0" lang="en-US" sz="289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1994.03.09</a:t>
            </a:r>
            <a:endParaRPr b="0" lang="en-US" sz="289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34000"/>
              </a:lnSpc>
            </a:pPr>
            <a:r>
              <a:rPr b="0" lang="zh-CN" sz="289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서울특별시</a:t>
            </a:r>
            <a:endParaRPr b="0" lang="en-US" sz="289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34000"/>
              </a:lnSpc>
            </a:pPr>
            <a:r>
              <a:rPr b="0" lang="en-US" sz="289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010-6554-2989</a:t>
            </a:r>
            <a:endParaRPr b="0" lang="en-US" sz="289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34000"/>
              </a:lnSpc>
            </a:pPr>
            <a:r>
              <a:rPr b="0" lang="en-US" sz="289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etland6554@gmail.com</a:t>
            </a:r>
            <a:endParaRPr b="0" lang="en-US" sz="289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2" name="TextBox 13"/>
          <p:cNvSpPr/>
          <p:nvPr/>
        </p:nvSpPr>
        <p:spPr>
          <a:xfrm rot="5400000">
            <a:off x="-698040" y="11163240"/>
            <a:ext cx="27554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r">
              <a:lnSpc>
                <a:spcPct val="99000"/>
              </a:lnSpc>
            </a:pP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  </a:t>
            </a: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PORTFOLIO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3" name="TextBox 14"/>
          <p:cNvSpPr/>
          <p:nvPr/>
        </p:nvSpPr>
        <p:spPr>
          <a:xfrm rot="5400000">
            <a:off x="-507600" y="1993680"/>
            <a:ext cx="2437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28800" anchor="b">
            <a:noAutofit/>
          </a:bodyPr>
          <a:p>
            <a:pPr algn="just">
              <a:lnSpc>
                <a:spcPct val="99000"/>
              </a:lnSpc>
            </a:pPr>
            <a:r>
              <a:rPr b="0" lang="en-US" sz="226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Career</a:t>
            </a:r>
            <a:endParaRPr b="0" lang="en-US" sz="226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4" name="TextBox 15"/>
          <p:cNvSpPr/>
          <p:nvPr/>
        </p:nvSpPr>
        <p:spPr>
          <a:xfrm>
            <a:off x="2489040" y="6743880"/>
            <a:ext cx="38095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16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3359" spc="-100" strike="noStrike">
                <a:solidFill>
                  <a:srgbClr val="000000"/>
                </a:solidFill>
                <a:latin typeface="Pretendard Bold"/>
                <a:ea typeface="Pretendard Bold"/>
              </a:rPr>
              <a:t>EDUCATION</a:t>
            </a:r>
            <a:endParaRPr b="0" lang="en-US" sz="3359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5" name="TextBox 16"/>
          <p:cNvSpPr/>
          <p:nvPr/>
        </p:nvSpPr>
        <p:spPr>
          <a:xfrm>
            <a:off x="2476440" y="9096480"/>
            <a:ext cx="4285800" cy="37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기계공학 학사과정 이수 중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2027</a:t>
            </a: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년 하반기 취득 예정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2013.03–2017.02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한국폴리텍</a:t>
            </a: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1</a:t>
            </a: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대학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컴퓨터응용기계과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4.09 / 4.5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6" name="TextBox 17"/>
          <p:cNvSpPr/>
          <p:nvPr/>
        </p:nvSpPr>
        <p:spPr>
          <a:xfrm>
            <a:off x="8140680" y="6743880"/>
            <a:ext cx="38095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16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3359" spc="-100" strike="noStrike">
                <a:solidFill>
                  <a:srgbClr val="000000"/>
                </a:solidFill>
                <a:latin typeface="Pretendard Bold"/>
                <a:ea typeface="Pretendard Bold"/>
              </a:rPr>
              <a:t>EXPERIENCE</a:t>
            </a:r>
            <a:endParaRPr b="0" lang="en-US" sz="3359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7" name="TextBox 18"/>
          <p:cNvSpPr/>
          <p:nvPr/>
        </p:nvSpPr>
        <p:spPr>
          <a:xfrm>
            <a:off x="8096400" y="9048600"/>
            <a:ext cx="4762080" cy="414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2025.03–2026.03 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에스앤에스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평택 셋업</a:t>
            </a: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·PM·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유지보수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2023.10–2024.11 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에스에프시스템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NRD 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물류자동화 유지보수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2020.01–2021.01 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동우화인켐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설비 운영</a:t>
            </a: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보전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2018.08–2019.03 </a:t>
            </a: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에이씨알텍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17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공조냉동설계</a:t>
            </a:r>
            <a:endParaRPr b="0" lang="en-US" sz="21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8" name="TextBox 19"/>
          <p:cNvSpPr/>
          <p:nvPr/>
        </p:nvSpPr>
        <p:spPr>
          <a:xfrm>
            <a:off x="13792320" y="6743880"/>
            <a:ext cx="38095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16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3359" spc="-100" strike="noStrike">
                <a:solidFill>
                  <a:srgbClr val="000000"/>
                </a:solidFill>
                <a:latin typeface="Pretendard Bold"/>
                <a:ea typeface="Pretendard Bold"/>
              </a:rPr>
              <a:t>TRAINING</a:t>
            </a:r>
            <a:endParaRPr b="0" lang="en-US" sz="3359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09" name="TextBox 20"/>
          <p:cNvSpPr/>
          <p:nvPr/>
        </p:nvSpPr>
        <p:spPr>
          <a:xfrm>
            <a:off x="13811400" y="9096480"/>
            <a:ext cx="4381200" cy="37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2026.04–2026.11.09 예정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AI융합로봇 교육 3기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4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현재 교육 과정 이수 중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/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최종 프로젝트: 공장자동화 AMR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비전·임베디드 프로젝트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40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PLC 공장자동화 프로젝트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10" name="TextBox 21"/>
          <p:cNvSpPr/>
          <p:nvPr/>
        </p:nvSpPr>
        <p:spPr>
          <a:xfrm>
            <a:off x="19507320" y="6743880"/>
            <a:ext cx="380952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160" bIns="0" anchor="t">
            <a:noAutofit/>
          </a:bodyPr>
          <a:p>
            <a:pPr>
              <a:lnSpc>
                <a:spcPct val="115000"/>
              </a:lnSpc>
            </a:pPr>
            <a:r>
              <a:rPr b="0" lang="en-US" sz="3359" spc="-100" strike="noStrike">
                <a:solidFill>
                  <a:srgbClr val="000000"/>
                </a:solidFill>
                <a:latin typeface="Pretendard Bold"/>
                <a:ea typeface="Pretendard Bold"/>
              </a:rPr>
              <a:t>CERTIFICATE</a:t>
            </a:r>
            <a:endParaRPr b="0" lang="en-US" sz="3359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11" name="TextBox 22"/>
          <p:cNvSpPr/>
          <p:nvPr/>
        </p:nvSpPr>
        <p:spPr>
          <a:xfrm>
            <a:off x="19507320" y="9067680"/>
            <a:ext cx="3644640" cy="36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800" bIns="0" anchor="t">
            <a:noAutofit/>
          </a:bodyPr>
          <a:p>
            <a:pPr>
              <a:lnSpc>
                <a:spcPct val="115000"/>
              </a:lnSpc>
            </a:pPr>
            <a:r>
              <a:rPr b="0" lang="zh-CN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컴퓨터응용가공산업기사</a:t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(2016.07)</a:t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UG NX · AutoCAD</a:t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en-US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PowerMILL CAM</a:t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15000"/>
              </a:lnSpc>
            </a:pPr>
            <a:r>
              <a:rPr b="0" lang="zh-CN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기계설계</a:t>
            </a:r>
            <a:r>
              <a:rPr b="0" lang="en-US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·</a:t>
            </a:r>
            <a:r>
              <a:rPr b="0" lang="zh-CN" sz="2570" spc="-100" strike="noStrike">
                <a:solidFill>
                  <a:srgbClr val="000000"/>
                </a:solidFill>
                <a:latin typeface="Pretendard Light"/>
                <a:ea typeface="Pretendard Light"/>
              </a:rPr>
              <a:t>가공 기반</a:t>
            </a:r>
            <a:endParaRPr b="0" lang="en-US" sz="25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Picture 2" descr=""/>
          <p:cNvPicPr/>
          <p:nvPr/>
        </p:nvPicPr>
        <p:blipFill>
          <a:blip r:embed="rId1"/>
          <a:stretch/>
        </p:blipFill>
        <p:spPr>
          <a:xfrm>
            <a:off x="1486080" y="8966160"/>
            <a:ext cx="11455200" cy="4749480"/>
          </a:xfrm>
          <a:prstGeom prst="rect">
            <a:avLst/>
          </a:prstGeom>
          <a:ln w="0">
            <a:noFill/>
          </a:ln>
        </p:spPr>
      </p:pic>
      <p:pic>
        <p:nvPicPr>
          <p:cNvPr id="313" name="Picture 3" descr=""/>
          <p:cNvPicPr/>
          <p:nvPr/>
        </p:nvPicPr>
        <p:blipFill>
          <a:blip r:embed="rId2"/>
          <a:stretch/>
        </p:blipFill>
        <p:spPr>
          <a:xfrm>
            <a:off x="12928680" y="4102200"/>
            <a:ext cx="11455200" cy="4863600"/>
          </a:xfrm>
          <a:prstGeom prst="rect">
            <a:avLst/>
          </a:prstGeom>
          <a:ln w="0">
            <a:noFill/>
          </a:ln>
        </p:spPr>
      </p:pic>
      <p:pic>
        <p:nvPicPr>
          <p:cNvPr id="314" name="Picture 4" descr=""/>
          <p:cNvPicPr/>
          <p:nvPr/>
        </p:nvPicPr>
        <p:blipFill>
          <a:blip r:embed="rId3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pic>
        <p:nvPicPr>
          <p:cNvPr id="315" name="Picture 5" descr=""/>
          <p:cNvPicPr/>
          <p:nvPr/>
        </p:nvPicPr>
        <p:blipFill>
          <a:blip r:embed="rId4"/>
          <a:stretch/>
        </p:blipFill>
        <p:spPr>
          <a:xfrm rot="5400000">
            <a:off x="7924680" y="9105840"/>
            <a:ext cx="10032480" cy="25200"/>
          </a:xfrm>
          <a:prstGeom prst="rect">
            <a:avLst/>
          </a:prstGeom>
          <a:ln w="0">
            <a:noFill/>
          </a:ln>
        </p:spPr>
      </p:pic>
      <p:pic>
        <p:nvPicPr>
          <p:cNvPr id="316" name="Picture 6" descr=""/>
          <p:cNvPicPr/>
          <p:nvPr/>
        </p:nvPicPr>
        <p:blipFill>
          <a:blip r:embed="rId5"/>
          <a:stretch/>
        </p:blipFill>
        <p:spPr>
          <a:xfrm>
            <a:off x="1486080" y="4102200"/>
            <a:ext cx="22897800" cy="25200"/>
          </a:xfrm>
          <a:prstGeom prst="rect">
            <a:avLst/>
          </a:prstGeom>
          <a:ln w="0">
            <a:noFill/>
          </a:ln>
        </p:spPr>
      </p:pic>
      <p:pic>
        <p:nvPicPr>
          <p:cNvPr id="317" name="Picture 7" descr=""/>
          <p:cNvPicPr/>
          <p:nvPr/>
        </p:nvPicPr>
        <p:blipFill>
          <a:blip r:embed="rId6"/>
          <a:stretch/>
        </p:blipFill>
        <p:spPr>
          <a:xfrm>
            <a:off x="1486080" y="8966160"/>
            <a:ext cx="22897800" cy="25200"/>
          </a:xfrm>
          <a:prstGeom prst="rect">
            <a:avLst/>
          </a:prstGeom>
          <a:ln w="0">
            <a:noFill/>
          </a:ln>
        </p:spPr>
      </p:pic>
      <p:sp>
        <p:nvSpPr>
          <p:cNvPr id="318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Field Experience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19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05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0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물류자동화 설비의 반복 오류 대응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1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에스에프시스템 소속 </a:t>
            </a: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/ 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삼성전자 화성 </a:t>
            </a: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NRD 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현장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2" name="문제: 적재·하역 위치 오류 title"/>
          <p:cNvSpPr/>
          <p:nvPr/>
        </p:nvSpPr>
        <p:spPr>
          <a:xfrm>
            <a:off x="2619360" y="495288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문제</a:t>
            </a: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: </a:t>
            </a: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적재</a:t>
            </a: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·</a:t>
            </a: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하역 위치 오류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3" name="문제: 적재·하역 위치 오류 detail"/>
          <p:cNvSpPr/>
          <p:nvPr/>
        </p:nvSpPr>
        <p:spPr>
          <a:xfrm>
            <a:off x="2619360" y="585792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천장 이송장비가 정해진 위치를 제대로 인식하지 못해 캐리어 적재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하역 오류가 반복됐습니다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4" name="확인: 동작 순서와 위치값 title"/>
          <p:cNvSpPr/>
          <p:nvPr/>
        </p:nvSpPr>
        <p:spPr>
          <a:xfrm>
            <a:off x="14382720" y="495288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확인</a:t>
            </a: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: </a:t>
            </a: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동작 순서와 위치값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5" name="확인: 동작 순서와 위치값 detail"/>
          <p:cNvSpPr/>
          <p:nvPr/>
        </p:nvSpPr>
        <p:spPr>
          <a:xfrm>
            <a:off x="14382720" y="585792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매뉴얼에서 위치 보정과 파지부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승강부 동작을 확인했습니다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정상 상태와 오류 상태의 위치값을 비교하며 원인을 좁혔습니다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6" name="조치: 위치 보정과 반복 시험 title"/>
          <p:cNvSpPr/>
          <p:nvPr/>
        </p:nvSpPr>
        <p:spPr>
          <a:xfrm>
            <a:off x="2619360" y="981072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조치</a:t>
            </a: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: </a:t>
            </a: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위치 보정과 반복 시험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7" name="조치: 위치 보정과 반복 시험 detail"/>
          <p:cNvSpPr/>
          <p:nvPr/>
        </p:nvSpPr>
        <p:spPr>
          <a:xfrm>
            <a:off x="2619360" y="1071576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자동 위치 보정 기능의 이상을 확인하고 파지부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승강부를 정상 범위로 교정했습니다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빈 캐리어로 반복 시험해 동작을 확인했습니다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8" name="공유: 점검 기준 정리 title"/>
          <p:cNvSpPr/>
          <p:nvPr/>
        </p:nvSpPr>
        <p:spPr>
          <a:xfrm>
            <a:off x="14382720" y="981072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공유</a:t>
            </a: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: </a:t>
            </a: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점검 기준 정리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29" name="공유: 점검 기준 정리 detail"/>
          <p:cNvSpPr/>
          <p:nvPr/>
        </p:nvSpPr>
        <p:spPr>
          <a:xfrm>
            <a:off x="14382720" y="1071576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확인한 값과 점검 순서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,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조정 항목을 동료들과 공유했습니다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개발에서도 입력과 상태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,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동작 조건을 연결해 확인하는 기준으로 삼았습니다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Picture 5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191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Final Project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2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06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3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공장자동화 AMR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4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최종 프로젝트 / 2026.09–진행 중 / 5인 팀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202" name="Picture 201" descr="amr_map1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440" y="4878720"/>
            <a:ext cx="10762920" cy="6054120"/>
          </a:xfrm>
          <a:prstGeom prst="rect">
            <a:avLst/>
          </a:prstGeom>
        </p:spPr>
      </p:pic>
      <p:sp>
        <p:nvSpPr>
          <p:cNvPr id="196" name="caption"/>
          <p:cNvSpPr/>
          <p:nvPr/>
        </p:nvSpPr>
        <p:spPr>
          <a:xfrm>
            <a:off x="2619360" y="12096720"/>
            <a:ext cx="106675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실제 공정: 자재창고, 조립대, 완제품 적재대와 AMR 2대</a:t>
            </a:r>
            <a:endParaRPr b="0" lang="en-US" sz="23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7" name="구현 목표 title"/>
          <p:cNvSpPr/>
          <p:nvPr/>
        </p:nvSpPr>
        <p:spPr>
          <a:xfrm>
            <a:off x="14287680" y="419112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프로젝트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8" name="구현 목표 detail"/>
          <p:cNvSpPr/>
          <p:nvPr/>
        </p:nvSpPr>
        <p:spPr>
          <a:xfrm>
            <a:off x="14287680" y="509580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AMR이 자재창고에서 재료를 싣고 조립대와 적재대로 옮깁니다. 지정 위치까지 주행한 뒤 카메라로 마커를 보고 mm 단위로 붙습니다.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9" name="담당 범위 title"/>
          <p:cNvSpPr/>
          <p:nvPr/>
        </p:nvSpPr>
        <p:spPr>
          <a:xfrm>
            <a:off x="14287680" y="7095960"/>
            <a:ext cx="8572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맡은 부분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00" name="담당 범위 detail"/>
          <p:cNvSpPr/>
          <p:nvPr/>
        </p:nvSpPr>
        <p:spPr>
          <a:xfrm>
            <a:off x="14287680" y="8001000"/>
            <a:ext cx="857232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AMR 2대의 Nav2 주행, 마커 도킹, 관제 연동과 부하 줄이기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제품·지그 3D 모델링, 로봇팔 리니어 액추에이터 제어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01" name="stack"/>
          <p:cNvSpPr/>
          <p:nvPr/>
        </p:nvSpPr>
        <p:spPr>
          <a:xfrm>
            <a:off x="14287680" y="10858680"/>
            <a:ext cx="8762760" cy="166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ROS2 Jazzy · Nav2 · AMCL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OpenCV · AprilTag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TurtleBot3 · Raspberry Pi 5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Picture 2" descr=""/>
          <p:cNvPicPr/>
          <p:nvPr/>
        </p:nvPicPr>
        <p:blipFill>
          <a:blip r:embed="rId1"/>
          <a:stretch/>
        </p:blipFill>
        <p:spPr>
          <a:xfrm>
            <a:off x="1486080" y="8966160"/>
            <a:ext cx="11455200" cy="4749480"/>
          </a:xfrm>
          <a:prstGeom prst="rect">
            <a:avLst/>
          </a:prstGeom>
          <a:ln w="0">
            <a:noFill/>
          </a:ln>
        </p:spPr>
      </p:pic>
      <p:pic>
        <p:nvPicPr>
          <p:cNvPr id="216" name="Picture 3" descr=""/>
          <p:cNvPicPr/>
          <p:nvPr/>
        </p:nvPicPr>
        <p:blipFill>
          <a:blip r:embed="rId2"/>
          <a:stretch/>
        </p:blipFill>
        <p:spPr>
          <a:xfrm>
            <a:off x="12928680" y="4102200"/>
            <a:ext cx="11455200" cy="4863600"/>
          </a:xfrm>
          <a:prstGeom prst="rect">
            <a:avLst/>
          </a:prstGeom>
          <a:ln w="0">
            <a:noFill/>
          </a:ln>
        </p:spPr>
      </p:pic>
      <p:pic>
        <p:nvPicPr>
          <p:cNvPr id="217" name="Picture 4" descr=""/>
          <p:cNvPicPr/>
          <p:nvPr/>
        </p:nvPicPr>
        <p:blipFill>
          <a:blip r:embed="rId3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pic>
        <p:nvPicPr>
          <p:cNvPr id="218" name="Picture 5" descr=""/>
          <p:cNvPicPr/>
          <p:nvPr/>
        </p:nvPicPr>
        <p:blipFill>
          <a:blip r:embed="rId4"/>
          <a:stretch/>
        </p:blipFill>
        <p:spPr>
          <a:xfrm rot="5400000">
            <a:off x="7924680" y="9105840"/>
            <a:ext cx="10032480" cy="25200"/>
          </a:xfrm>
          <a:prstGeom prst="rect">
            <a:avLst/>
          </a:prstGeom>
          <a:ln w="0">
            <a:noFill/>
          </a:ln>
        </p:spPr>
      </p:pic>
      <p:pic>
        <p:nvPicPr>
          <p:cNvPr id="219" name="Picture 6" descr=""/>
          <p:cNvPicPr/>
          <p:nvPr/>
        </p:nvPicPr>
        <p:blipFill>
          <a:blip r:embed="rId5"/>
          <a:stretch/>
        </p:blipFill>
        <p:spPr>
          <a:xfrm>
            <a:off x="1486080" y="4102200"/>
            <a:ext cx="22897800" cy="25200"/>
          </a:xfrm>
          <a:prstGeom prst="rect">
            <a:avLst/>
          </a:prstGeom>
          <a:ln w="0">
            <a:noFill/>
          </a:ln>
        </p:spPr>
      </p:pic>
      <p:pic>
        <p:nvPicPr>
          <p:cNvPr id="220" name="Picture 7" descr=""/>
          <p:cNvPicPr/>
          <p:nvPr/>
        </p:nvPicPr>
        <p:blipFill>
          <a:blip r:embed="rId6"/>
          <a:stretch/>
        </p:blipFill>
        <p:spPr>
          <a:xfrm>
            <a:off x="1486080" y="8966160"/>
            <a:ext cx="22897800" cy="25200"/>
          </a:xfrm>
          <a:prstGeom prst="rect">
            <a:avLst/>
          </a:prstGeom>
          <a:ln w="0">
            <a:noFill/>
          </a:ln>
        </p:spPr>
      </p:pic>
      <p:sp>
        <p:nvSpPr>
          <p:cNvPr id="221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Final Project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2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07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3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도킹 정밀도와 안정성 개선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4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직접 재 보고, 로그를 확인하고, 바꾼 뒤 다시 쟀습니다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5" name="b_마커 비교: 평균 0.8mm"/>
          <p:cNvSpPr/>
          <p:nvPr/>
        </p:nvSpPr>
        <p:spPr>
          <a:xfrm>
            <a:off x="2619360" y="495288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마커 비교: 평균 0.8mm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6" name="b_마커 비교: 평균 0.8mm d"/>
          <p:cNvSpPr/>
          <p:nvPr/>
        </p:nvSpPr>
        <p:spPr>
          <a:xfrm>
            <a:off x="2619360" y="585792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ArUco와 AprilTag, 마커 수, 허용치를 바꿔 가며 자로 쟀습니다. AprilTag 4장에 허용 2mm일 때 5번 모두 성공했고 평균 0.8mm였습니다.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7" name="b_한 대만 밀리던 원인"/>
          <p:cNvSpPr/>
          <p:nvPr/>
        </p:nvSpPr>
        <p:spPr>
          <a:xfrm>
            <a:off x="14382720" y="495288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한 대만 밀리던 원인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8" name="b_한 대만 밀리던 원인 d"/>
          <p:cNvSpPr/>
          <p:nvPr/>
        </p:nvSpPr>
        <p:spPr>
          <a:xfrm>
            <a:off x="14382720" y="585792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같은 코드인데 버거1만 한쪽으로 밀렸습니다. 다른 로봇의 카메라 보정값을 쓰고 있어서, 다시 보정하고 장착 위치를 맞춰 2mm를 0.7mm로 줄였습니다.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29" name="b_시뮬레이터로 값 정하기"/>
          <p:cNvSpPr/>
          <p:nvPr/>
        </p:nvSpPr>
        <p:spPr>
          <a:xfrm>
            <a:off x="2619360" y="981072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시뮬레이터로 값 정하기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0" name="b_시뮬레이터로 값 정하기 d"/>
          <p:cNvSpPr/>
          <p:nvPr/>
        </p:nvSpPr>
        <p:spPr>
          <a:xfrm>
            <a:off x="2619360" y="1071576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실제 도킹 코드를 그대로 돌리는 시뮬레이터를 만들어 실측과 맞춘 뒤, 값을 하나씩 바꿔 봤습니다. 적용 후 실측 오차는 약 0.3mm입니다.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1" name="b_멈춤 원인과 부하"/>
          <p:cNvSpPr/>
          <p:nvPr/>
        </p:nvSpPr>
        <p:spPr>
          <a:xfrm>
            <a:off x="14382720" y="981072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멈춤 원인과 부하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2" name="b_멈춤 원인과 부하 d"/>
          <p:cNvSpPr/>
          <p:nvPr/>
        </p:nvSpPr>
        <p:spPr>
          <a:xfrm>
            <a:off x="14382720" y="1071576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주행이 멈춘 원인은 CPU가 아니라 모터 보드 USB 대기였습니다. 쉬는 중 CPU는 40%에서 21%로, 불필요한 통신은 86% 줄였습니다.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Picture 2" descr=""/>
          <p:cNvPicPr/>
          <p:nvPr/>
        </p:nvPicPr>
        <p:blipFill>
          <a:blip r:embed="rId1"/>
          <a:stretch/>
        </p:blipFill>
        <p:spPr>
          <a:xfrm>
            <a:off x="1168560" y="10782360"/>
            <a:ext cx="15963480" cy="2933280"/>
          </a:xfrm>
          <a:prstGeom prst="rect">
            <a:avLst/>
          </a:prstGeom>
          <a:ln w="0">
            <a:noFill/>
          </a:ln>
        </p:spPr>
      </p:pic>
      <p:pic>
        <p:nvPicPr>
          <p:cNvPr id="134" name="Picture 3" descr=""/>
          <p:cNvPicPr/>
          <p:nvPr/>
        </p:nvPicPr>
        <p:blipFill>
          <a:blip r:embed="rId2"/>
          <a:stretch/>
        </p:blipFill>
        <p:spPr>
          <a:xfrm>
            <a:off x="1473120" y="4940280"/>
            <a:ext cx="15658920" cy="293328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4" descr=""/>
          <p:cNvPicPr/>
          <p:nvPr/>
        </p:nvPicPr>
        <p:blipFill>
          <a:blip r:embed="rId3"/>
          <a:stretch/>
        </p:blipFill>
        <p:spPr>
          <a:xfrm>
            <a:off x="1168560" y="4965840"/>
            <a:ext cx="23215320" cy="25200"/>
          </a:xfrm>
          <a:prstGeom prst="rect">
            <a:avLst/>
          </a:prstGeom>
          <a:ln w="0">
            <a:noFill/>
          </a:ln>
        </p:spPr>
      </p:pic>
      <p:pic>
        <p:nvPicPr>
          <p:cNvPr id="136" name="Picture 5" descr=""/>
          <p:cNvPicPr/>
          <p:nvPr/>
        </p:nvPicPr>
        <p:blipFill>
          <a:blip r:embed="rId4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pic>
        <p:nvPicPr>
          <p:cNvPr id="137" name="Picture 7" descr=""/>
          <p:cNvPicPr/>
          <p:nvPr/>
        </p:nvPicPr>
        <p:blipFill>
          <a:blip r:embed="rId5"/>
          <a:stretch/>
        </p:blipFill>
        <p:spPr>
          <a:xfrm>
            <a:off x="863640" y="7873920"/>
            <a:ext cx="16268400" cy="2520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8" descr=""/>
          <p:cNvPicPr/>
          <p:nvPr/>
        </p:nvPicPr>
        <p:blipFill>
          <a:blip r:embed="rId6"/>
          <a:stretch/>
        </p:blipFill>
        <p:spPr>
          <a:xfrm>
            <a:off x="749160" y="10782360"/>
            <a:ext cx="16357320" cy="25200"/>
          </a:xfrm>
          <a:prstGeom prst="rect">
            <a:avLst/>
          </a:prstGeom>
          <a:ln w="0">
            <a:noFill/>
          </a:ln>
        </p:spPr>
      </p:pic>
      <p:pic>
        <p:nvPicPr>
          <p:cNvPr id="139" name="Picture 10" descr=""/>
          <p:cNvPicPr/>
          <p:nvPr/>
        </p:nvPicPr>
        <p:blipFill>
          <a:blip r:embed="rId7"/>
          <a:stretch/>
        </p:blipFill>
        <p:spPr>
          <a:xfrm rot="5400000">
            <a:off x="9918720" y="7086240"/>
            <a:ext cx="14375880" cy="25200"/>
          </a:xfrm>
          <a:prstGeom prst="rect">
            <a:avLst/>
          </a:prstGeom>
          <a:ln w="0">
            <a:noFill/>
          </a:ln>
        </p:spPr>
      </p:pic>
      <p:sp>
        <p:nvSpPr>
          <p:cNvPr id="140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Skills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1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08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2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구현 경험으로 보는 기술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3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프로젝트에서 직접 써 본 기술만 적었습니다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4" name="skill0"/>
          <p:cNvSpPr/>
          <p:nvPr/>
        </p:nvSpPr>
        <p:spPr>
          <a:xfrm>
            <a:off x="2619360" y="54291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임베디드 제어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5" name="tools0"/>
          <p:cNvSpPr/>
          <p:nvPr/>
        </p:nvSpPr>
        <p:spPr>
          <a:xfrm>
            <a:off x="2619360" y="624852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STM32 · FreeRTOS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6" name="evidence0"/>
          <p:cNvSpPr/>
          <p:nvPr/>
        </p:nvSpPr>
        <p:spPr>
          <a:xfrm>
            <a:off x="2619360" y="681048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UI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와 티칭 로직</a:t>
            </a: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, UART·Bluetooth 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장치 연동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7" name="skill1"/>
          <p:cNvSpPr/>
          <p:nvPr/>
        </p:nvSpPr>
        <p:spPr>
          <a:xfrm>
            <a:off x="10287000" y="54291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로봇 주행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8" name="tools1"/>
          <p:cNvSpPr/>
          <p:nvPr/>
        </p:nvSpPr>
        <p:spPr>
          <a:xfrm>
            <a:off x="10287000" y="624852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ROS2 · Nav2 · AMCL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49" name="evidence1"/>
          <p:cNvSpPr/>
          <p:nvPr/>
        </p:nvSpPr>
        <p:spPr>
          <a:xfrm>
            <a:off x="10287000" y="681048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AMR 2대 주행, 마커 도킹, 관제 연동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0" name="skill2"/>
          <p:cNvSpPr/>
          <p:nvPr/>
        </p:nvSpPr>
        <p:spPr>
          <a:xfrm>
            <a:off x="2619360" y="83343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비전·딥러닝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1" name="tools2"/>
          <p:cNvSpPr/>
          <p:nvPr/>
        </p:nvSpPr>
        <p:spPr>
          <a:xfrm>
            <a:off x="2619360" y="915336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YOLO11n · OpenCV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2" name="evidence2"/>
          <p:cNvSpPr/>
          <p:nvPr/>
        </p:nvSpPr>
        <p:spPr>
          <a:xfrm>
            <a:off x="2619360" y="971568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PPE 탐지 모델 학습, 마커 자세 추정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3" name="skill3"/>
          <p:cNvSpPr/>
          <p:nvPr/>
        </p:nvSpPr>
        <p:spPr>
          <a:xfrm>
            <a:off x="10287000" y="83343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장치 구동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4" name="tools3"/>
          <p:cNvSpPr/>
          <p:nvPr/>
        </p:nvSpPr>
        <p:spPr>
          <a:xfrm>
            <a:off x="10287000" y="915336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Raspberry Pi 5 · Python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5" name="evidence3"/>
          <p:cNvSpPr/>
          <p:nvPr/>
        </p:nvSpPr>
        <p:spPr>
          <a:xfrm>
            <a:off x="10287000" y="971568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IR 트리거, 카메라, 음성 경고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6" name="skill4"/>
          <p:cNvSpPr/>
          <p:nvPr/>
        </p:nvSpPr>
        <p:spPr>
          <a:xfrm>
            <a:off x="2619360" y="112395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자동화</a:t>
            </a:r>
            <a:r>
              <a:rPr b="1" lang="en-US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·</a:t>
            </a: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설계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7" name="tools4"/>
          <p:cNvSpPr/>
          <p:nvPr/>
        </p:nvSpPr>
        <p:spPr>
          <a:xfrm>
            <a:off x="2619360" y="1205856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GX Works2 · GT Designer3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AutoCAD · UG NX · PowerMILL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8" name="evidence4"/>
          <p:cNvSpPr/>
          <p:nvPr/>
        </p:nvSpPr>
        <p:spPr>
          <a:xfrm>
            <a:off x="2619360" y="1300176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PLC 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시퀀스</a:t>
            </a: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·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티칭 </a:t>
            </a: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/ 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설계</a:t>
            </a:r>
            <a:r>
              <a:rPr b="0" lang="en-US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·</a:t>
            </a: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가공 기반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59" name="skill5"/>
          <p:cNvSpPr/>
          <p:nvPr/>
        </p:nvSpPr>
        <p:spPr>
          <a:xfrm>
            <a:off x="10287000" y="11239560"/>
            <a:ext cx="61909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45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프로그래밍</a:t>
            </a:r>
            <a:endParaRPr b="0" lang="en-US" sz="34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0" name="tools5"/>
          <p:cNvSpPr/>
          <p:nvPr/>
        </p:nvSpPr>
        <p:spPr>
          <a:xfrm>
            <a:off x="10287000" y="12058560"/>
            <a:ext cx="628632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55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Python · C++ · Linux</a:t>
            </a:r>
            <a:endParaRPr b="0" lang="en-US" sz="25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1" name="evidence5"/>
          <p:cNvSpPr/>
          <p:nvPr/>
        </p:nvSpPr>
        <p:spPr>
          <a:xfrm>
            <a:off x="10287000" y="12620520"/>
            <a:ext cx="628632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25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로그 분석 도구, 시뮬레이터 작성</a:t>
            </a:r>
            <a:endParaRPr b="0" lang="en-US" sz="22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2" name="focus"/>
          <p:cNvSpPr/>
          <p:nvPr/>
        </p:nvSpPr>
        <p:spPr>
          <a:xfrm>
            <a:off x="17907120" y="5286240"/>
            <a:ext cx="51433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개발 초점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3" name="focusdetail"/>
          <p:cNvSpPr/>
          <p:nvPr/>
        </p:nvSpPr>
        <p:spPr>
          <a:xfrm>
            <a:off x="17907120" y="6477120"/>
            <a:ext cx="5638680" cy="609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만들고 끝내지 않고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현장에서 점검하고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고치는 사람까지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생각하며 개발합니다.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7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165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Projects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6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09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7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Project Portfolio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8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주요 개발 프로젝트와 담당 범위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69" name="project0"/>
          <p:cNvSpPr/>
          <p:nvPr/>
        </p:nvSpPr>
        <p:spPr>
          <a:xfrm>
            <a:off x="2619360" y="4381560"/>
            <a:ext cx="61909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01  공장자동화 AMR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0" name="date0"/>
          <p:cNvSpPr/>
          <p:nvPr/>
        </p:nvSpPr>
        <p:spPr>
          <a:xfrm>
            <a:off x="2619360" y="5238720"/>
            <a:ext cx="619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47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2026.09–진행 중 / 5인</a:t>
            </a:r>
            <a:endParaRPr b="0" lang="en-US" sz="24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1" name="desc0"/>
          <p:cNvSpPr/>
          <p:nvPr/>
        </p:nvSpPr>
        <p:spPr>
          <a:xfrm>
            <a:off x="2619360" y="6191280"/>
            <a:ext cx="61909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재료 운반 로봇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2" name="role0"/>
          <p:cNvSpPr/>
          <p:nvPr/>
        </p:nvSpPr>
        <p:spPr>
          <a:xfrm>
            <a:off x="2619360" y="7191360"/>
            <a:ext cx="61909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4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개인 담당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3" name="detail0"/>
          <p:cNvSpPr/>
          <p:nvPr/>
        </p:nvSpPr>
        <p:spPr>
          <a:xfrm>
            <a:off x="2619360" y="7905600"/>
            <a:ext cx="61909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Nav2 주행, 마커 도킹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관제 연동, 부하 줄이기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190" name="Picture 189" descr="amr_proces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4400" y="9906120"/>
            <a:ext cx="4740840" cy="2666520"/>
          </a:xfrm>
          <a:prstGeom prst="rect">
            <a:avLst/>
          </a:prstGeom>
        </p:spPr>
      </p:pic>
      <p:sp>
        <p:nvSpPr>
          <p:cNvPr id="175" name="tech0"/>
          <p:cNvSpPr/>
          <p:nvPr/>
        </p:nvSpPr>
        <p:spPr>
          <a:xfrm>
            <a:off x="2619360" y="12858840"/>
            <a:ext cx="64767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ROS2 / OpenCV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6" name="project1"/>
          <p:cNvSpPr/>
          <p:nvPr/>
        </p:nvSpPr>
        <p:spPr>
          <a:xfrm>
            <a:off x="9906120" y="4381560"/>
            <a:ext cx="61909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02  Safe Eye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7" name="date1"/>
          <p:cNvSpPr/>
          <p:nvPr/>
        </p:nvSpPr>
        <p:spPr>
          <a:xfrm>
            <a:off x="9906120" y="5238720"/>
            <a:ext cx="619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47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2026.05 / 4인</a:t>
            </a:r>
            <a:endParaRPr b="0" lang="en-US" sz="24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8" name="desc1"/>
          <p:cNvSpPr/>
          <p:nvPr/>
        </p:nvSpPr>
        <p:spPr>
          <a:xfrm>
            <a:off x="9906120" y="6191280"/>
            <a:ext cx="61909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산업현장 안전 감지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79" name="role1"/>
          <p:cNvSpPr/>
          <p:nvPr/>
        </p:nvSpPr>
        <p:spPr>
          <a:xfrm>
            <a:off x="9906120" y="7191360"/>
            <a:ext cx="61909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4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개인 담당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0" name="detail1"/>
          <p:cNvSpPr/>
          <p:nvPr/>
        </p:nvSpPr>
        <p:spPr>
          <a:xfrm>
            <a:off x="9906120" y="7905600"/>
            <a:ext cx="61909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PPE </a:t>
            </a: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객체탐지 모델 학습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하드웨어</a:t>
            </a: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임베디드 구동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3"/>
          <a:stretch/>
        </p:blipFill>
        <p:spPr>
          <a:xfrm>
            <a:off x="10413720" y="9906120"/>
            <a:ext cx="5175360" cy="2666520"/>
          </a:xfrm>
          <a:prstGeom prst="rect">
            <a:avLst/>
          </a:prstGeom>
          <a:ln w="0">
            <a:noFill/>
          </a:ln>
        </p:spPr>
      </p:pic>
      <p:sp>
        <p:nvSpPr>
          <p:cNvPr id="182" name="tech1"/>
          <p:cNvSpPr/>
          <p:nvPr/>
        </p:nvSpPr>
        <p:spPr>
          <a:xfrm>
            <a:off x="9906120" y="12858840"/>
            <a:ext cx="64767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YOLO11n / Raspberry Pi 5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3" name="project2"/>
          <p:cNvSpPr/>
          <p:nvPr/>
        </p:nvSpPr>
        <p:spPr>
          <a:xfrm>
            <a:off x="17192520" y="4381560"/>
            <a:ext cx="61909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03  ARMIGO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4" name="date2"/>
          <p:cNvSpPr/>
          <p:nvPr/>
        </p:nvSpPr>
        <p:spPr>
          <a:xfrm>
            <a:off x="17192520" y="5238720"/>
            <a:ext cx="61909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47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2026.08 / 4인</a:t>
            </a:r>
            <a:endParaRPr b="0" lang="en-US" sz="247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5" name="desc2"/>
          <p:cNvSpPr/>
          <p:nvPr/>
        </p:nvSpPr>
        <p:spPr>
          <a:xfrm>
            <a:off x="17192520" y="6191280"/>
            <a:ext cx="619092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300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원격 조작 로봇 팔</a:t>
            </a:r>
            <a:endParaRPr b="0" lang="en-US" sz="3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6" name="role2"/>
          <p:cNvSpPr/>
          <p:nvPr/>
        </p:nvSpPr>
        <p:spPr>
          <a:xfrm>
            <a:off x="17192520" y="7191360"/>
            <a:ext cx="619092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40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공동 담당</a:t>
            </a:r>
            <a:endParaRPr b="0" lang="en-US" sz="24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87" name="detail2"/>
          <p:cNvSpPr/>
          <p:nvPr/>
        </p:nvSpPr>
        <p:spPr>
          <a:xfrm>
            <a:off x="17192520" y="7905600"/>
            <a:ext cx="61909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UI, 판단 로직, 티칭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무선 통신과 시스템 연동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191" name="Picture 190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7560" y="9906120"/>
            <a:ext cx="4740840" cy="2666520"/>
          </a:xfrm>
          <a:prstGeom prst="rect">
            <a:avLst/>
          </a:prstGeom>
        </p:spPr>
      </p:pic>
      <p:sp>
        <p:nvSpPr>
          <p:cNvPr id="189" name="tech2"/>
          <p:cNvSpPr/>
          <p:nvPr/>
        </p:nvSpPr>
        <p:spPr>
          <a:xfrm>
            <a:off x="17192520" y="12858840"/>
            <a:ext cx="647676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STM32 / FreeRTOS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 5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234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Safe Eye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5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10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6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Safe Eye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37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YOLO 기반 산업현장 안전 감지 / 2026.05 / 4인 프로젝트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238" name="" descr=""/>
          <p:cNvPicPr/>
          <p:nvPr/>
        </p:nvPicPr>
        <p:blipFill>
          <a:blip r:embed="rId2"/>
          <a:stretch/>
        </p:blipFill>
        <p:spPr>
          <a:xfrm>
            <a:off x="2523960" y="4847040"/>
            <a:ext cx="10762920" cy="5545800"/>
          </a:xfrm>
          <a:prstGeom prst="rect">
            <a:avLst/>
          </a:prstGeom>
          <a:ln w="0">
            <a:noFill/>
          </a:ln>
        </p:spPr>
      </p:pic>
      <p:sp>
        <p:nvSpPr>
          <p:cNvPr id="239" name="caption"/>
          <p:cNvSpPr/>
          <p:nvPr/>
        </p:nvSpPr>
        <p:spPr>
          <a:xfrm>
            <a:off x="2619360" y="11810880"/>
            <a:ext cx="1095336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팀 통합 시연 화면 </a:t>
            </a:r>
            <a:r>
              <a:rPr b="0" lang="en-US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/ </a:t>
            </a: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화면 </a:t>
            </a:r>
            <a:r>
              <a:rPr b="0" lang="en-US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UI</a:t>
            </a: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는 팀원 담당</a:t>
            </a:r>
            <a:endParaRPr b="0" lang="en-US" sz="23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40" name="팀 프로젝트 목표 title"/>
          <p:cNvSpPr/>
          <p:nvPr/>
        </p:nvSpPr>
        <p:spPr>
          <a:xfrm>
            <a:off x="14382720" y="428616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팀 프로젝트 목표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41" name="팀 프로젝트 목표 detail"/>
          <p:cNvSpPr/>
          <p:nvPr/>
        </p:nvSpPr>
        <p:spPr>
          <a:xfrm>
            <a:off x="14382720" y="519120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고정 카메라에서 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PPE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미착용과 위험구역 접근을 감지하고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,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화면과 음성으로 경고합니다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42" name="개인 담당 title"/>
          <p:cNvSpPr/>
          <p:nvPr/>
        </p:nvSpPr>
        <p:spPr>
          <a:xfrm>
            <a:off x="14382720" y="742968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개인 담당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43" name="개인 담당 detail"/>
          <p:cNvSpPr/>
          <p:nvPr/>
        </p:nvSpPr>
        <p:spPr>
          <a:xfrm>
            <a:off x="14382720" y="833436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PPE 탐지 모델 학습과 라즈베리파이 장치 구동을 맡았습니다. 라벨이 어긋난 데이터를 정리해 mAP50 0.923을 얻었고, IR 감지 때만 추론하게 만들었습니다.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44" name="stack"/>
          <p:cNvSpPr/>
          <p:nvPr/>
        </p:nvSpPr>
        <p:spPr>
          <a:xfrm>
            <a:off x="14382720" y="11049120"/>
            <a:ext cx="847692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YOLO11n · Python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Raspberry Pi 5 · IR </a:t>
            </a: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센서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카메라 </a:t>
            </a: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 </a:t>
            </a:r>
            <a:r>
              <a:rPr b="0" lang="zh-CN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스피커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Picture 5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191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ARMIGO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2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11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3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ARMIGO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4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Leader–Follower 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원격 로봇 팔 </a:t>
            </a: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/ 2026.08 / 4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인 프로젝트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195" name="" descr=""/>
          <p:cNvPicPr/>
          <p:nvPr/>
        </p:nvPicPr>
        <p:blipFill>
          <a:blip r:embed="rId2"/>
          <a:stretch/>
        </p:blipFill>
        <p:spPr>
          <a:xfrm>
            <a:off x="2476440" y="4878720"/>
            <a:ext cx="10762920" cy="6054120"/>
          </a:xfrm>
          <a:prstGeom prst="rect">
            <a:avLst/>
          </a:prstGeom>
          <a:ln w="0">
            <a:noFill/>
          </a:ln>
        </p:spPr>
      </p:pic>
      <p:sp>
        <p:nvSpPr>
          <p:cNvPr id="196" name="caption"/>
          <p:cNvSpPr/>
          <p:nvPr/>
        </p:nvSpPr>
        <p:spPr>
          <a:xfrm>
            <a:off x="2619360" y="12096720"/>
            <a:ext cx="106675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팀 시연 화면</a:t>
            </a:r>
            <a:r>
              <a:rPr b="0" lang="en-US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: Leader Arm </a:t>
            </a: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조작과 자세 저장</a:t>
            </a:r>
            <a:endParaRPr b="0" lang="en-US" sz="23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7" name="구현 목표 title"/>
          <p:cNvSpPr/>
          <p:nvPr/>
        </p:nvSpPr>
        <p:spPr>
          <a:xfrm>
            <a:off x="14287680" y="419112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구현 목표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8" name="구현 목표 detail"/>
          <p:cNvSpPr/>
          <p:nvPr/>
        </p:nvSpPr>
        <p:spPr>
          <a:xfrm>
            <a:off x="14287680" y="509580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Leader Arm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의 자세를 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Follower Arm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으로 전달하고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,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저장한 자세를 반복 실행합니다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199" name="담당 범위 title"/>
          <p:cNvSpPr/>
          <p:nvPr/>
        </p:nvSpPr>
        <p:spPr>
          <a:xfrm>
            <a:off x="14287680" y="7095960"/>
            <a:ext cx="8572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담당 범위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00" name="담당 범위 detail"/>
          <p:cNvSpPr/>
          <p:nvPr/>
        </p:nvSpPr>
        <p:spPr>
          <a:xfrm>
            <a:off x="14287680" y="8001000"/>
            <a:ext cx="857232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전민석과 UI, 티칭, 무선 통신을 같이 맡았습니다. 통신 대기로 모터가 끊기던 문제는 인터럽트 수신과 UART 설정 수정으로 해결했습니다.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01" name="stack"/>
          <p:cNvSpPr/>
          <p:nvPr/>
        </p:nvSpPr>
        <p:spPr>
          <a:xfrm>
            <a:off x="14287680" y="10858680"/>
            <a:ext cx="8762760" cy="166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STM32F411RE · FreeRTOS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UART · Bluetooth HC-05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  <a:p>
            <a:pPr>
              <a:lnSpc>
                <a:spcPct val="100000"/>
              </a:lnSpc>
            </a:pPr>
            <a:r>
              <a:rPr b="0" lang="en-US" sz="278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TFT LCD · 4×4 Keypad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Picture 5" descr=""/>
          <p:cNvPicPr/>
          <p:nvPr/>
        </p:nvPicPr>
        <p:blipFill>
          <a:blip r:embed="rId1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sp>
        <p:nvSpPr>
          <p:cNvPr id="279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PLC Project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0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12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1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PLC </a:t>
            </a:r>
            <a:r>
              <a:rPr b="1" lang="zh-CN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공장자동화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2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창고 적재</a:t>
            </a: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·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서보 제어 </a:t>
            </a:r>
            <a:r>
              <a:rPr b="0" lang="en-US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/ 2026.06.10–06.13 / 2</a:t>
            </a: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인 프로젝트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2"/>
          <a:stretch/>
        </p:blipFill>
        <p:spPr>
          <a:xfrm>
            <a:off x="2853000" y="4286160"/>
            <a:ext cx="9723960" cy="7333920"/>
          </a:xfrm>
          <a:prstGeom prst="rect">
            <a:avLst/>
          </a:prstGeom>
          <a:ln w="0">
            <a:noFill/>
          </a:ln>
        </p:spPr>
      </p:pic>
      <p:sp>
        <p:nvSpPr>
          <p:cNvPr id="284" name="caption"/>
          <p:cNvSpPr/>
          <p:nvPr/>
        </p:nvSpPr>
        <p:spPr>
          <a:xfrm>
            <a:off x="2666880" y="12192120"/>
            <a:ext cx="1028664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32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서보 위치 티칭 화면</a:t>
            </a:r>
            <a:endParaRPr b="0" lang="en-US" sz="23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5" name="원점과 완료 신호를 잇는 시퀀스 title"/>
          <p:cNvSpPr/>
          <p:nvPr/>
        </p:nvSpPr>
        <p:spPr>
          <a:xfrm>
            <a:off x="14192280" y="4238640"/>
            <a:ext cx="88578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원점과 완료 신호를 잇는 시퀀스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6" name="원점과 완료 신호를 잇는 시퀀스 detail"/>
          <p:cNvSpPr/>
          <p:nvPr/>
        </p:nvSpPr>
        <p:spPr>
          <a:xfrm>
            <a:off x="14192280" y="5143680"/>
            <a:ext cx="88578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서보와 실린더 원점 복귀 후 다음 동작을 허용했습니다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서보 이동 완료 신호를 다음 공정의 실행 조건으로 연결했습니다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7" name="점검과 정지 조건 title"/>
          <p:cNvSpPr/>
          <p:nvPr/>
        </p:nvSpPr>
        <p:spPr>
          <a:xfrm>
            <a:off x="14192280" y="7286760"/>
            <a:ext cx="88578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점검과 정지 조건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8" name="점검과 정지 조건 detail"/>
          <p:cNvSpPr/>
          <p:nvPr/>
        </p:nvSpPr>
        <p:spPr>
          <a:xfrm>
            <a:off x="14192280" y="8191440"/>
            <a:ext cx="88578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장치를 수동 조작하고 센서 상태를 확인하는 점검 기능을 맡았습니다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비상정지 입력 시 시퀀스와 관련 출력을 정지하도록 구현했습니다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89" name="현장 위치 티칭 title"/>
          <p:cNvSpPr/>
          <p:nvPr/>
        </p:nvSpPr>
        <p:spPr>
          <a:xfrm>
            <a:off x="14192280" y="10287000"/>
            <a:ext cx="88578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현장 위치 티칭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290" name="현장 위치 티칭 detail"/>
          <p:cNvSpPr/>
          <p:nvPr/>
        </p:nvSpPr>
        <p:spPr>
          <a:xfrm>
            <a:off x="14192280" y="11192040"/>
            <a:ext cx="88578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서보의 현재 위치를 목표값으로 저장하는 기능을 구현했습니다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설비 위치 변경 시 목표 위치를 다시 설정할 수 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Picture 2" descr=""/>
          <p:cNvPicPr/>
          <p:nvPr/>
        </p:nvPicPr>
        <p:blipFill>
          <a:blip r:embed="rId1"/>
          <a:stretch/>
        </p:blipFill>
        <p:spPr>
          <a:xfrm>
            <a:off x="1486080" y="8966160"/>
            <a:ext cx="11455200" cy="4749480"/>
          </a:xfrm>
          <a:prstGeom prst="rect">
            <a:avLst/>
          </a:prstGeom>
          <a:ln w="0">
            <a:noFill/>
          </a:ln>
        </p:spPr>
      </p:pic>
      <p:pic>
        <p:nvPicPr>
          <p:cNvPr id="331" name="Picture 3" descr=""/>
          <p:cNvPicPr/>
          <p:nvPr/>
        </p:nvPicPr>
        <p:blipFill>
          <a:blip r:embed="rId2"/>
          <a:stretch/>
        </p:blipFill>
        <p:spPr>
          <a:xfrm>
            <a:off x="12928680" y="4102200"/>
            <a:ext cx="11455200" cy="486360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4" descr=""/>
          <p:cNvPicPr/>
          <p:nvPr/>
        </p:nvPicPr>
        <p:blipFill>
          <a:blip r:embed="rId3"/>
          <a:stretch/>
        </p:blipFill>
        <p:spPr>
          <a:xfrm>
            <a:off x="0" y="0"/>
            <a:ext cx="1485720" cy="1371564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5" descr=""/>
          <p:cNvPicPr/>
          <p:nvPr/>
        </p:nvPicPr>
        <p:blipFill>
          <a:blip r:embed="rId4"/>
          <a:stretch/>
        </p:blipFill>
        <p:spPr>
          <a:xfrm rot="5400000">
            <a:off x="7924680" y="9105840"/>
            <a:ext cx="10032480" cy="25200"/>
          </a:xfrm>
          <a:prstGeom prst="rect">
            <a:avLst/>
          </a:prstGeom>
          <a:ln w="0">
            <a:noFill/>
          </a:ln>
        </p:spPr>
      </p:pic>
      <p:pic>
        <p:nvPicPr>
          <p:cNvPr id="334" name="Picture 6" descr=""/>
          <p:cNvPicPr/>
          <p:nvPr/>
        </p:nvPicPr>
        <p:blipFill>
          <a:blip r:embed="rId5"/>
          <a:stretch/>
        </p:blipFill>
        <p:spPr>
          <a:xfrm>
            <a:off x="1486080" y="4102200"/>
            <a:ext cx="22897800" cy="2520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7" descr=""/>
          <p:cNvPicPr/>
          <p:nvPr/>
        </p:nvPicPr>
        <p:blipFill>
          <a:blip r:embed="rId6"/>
          <a:stretch/>
        </p:blipFill>
        <p:spPr>
          <a:xfrm>
            <a:off x="1486080" y="8966160"/>
            <a:ext cx="22897800" cy="25200"/>
          </a:xfrm>
          <a:prstGeom prst="rect">
            <a:avLst/>
          </a:prstGeom>
          <a:ln w="0">
            <a:noFill/>
          </a:ln>
        </p:spPr>
      </p:pic>
      <p:sp>
        <p:nvSpPr>
          <p:cNvPr id="336" name="section"/>
          <p:cNvSpPr/>
          <p:nvPr/>
        </p:nvSpPr>
        <p:spPr>
          <a:xfrm rot="5400000">
            <a:off x="-1208880" y="2952720"/>
            <a:ext cx="38095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02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Work Style</a:t>
            </a:r>
            <a:endParaRPr b="0" lang="en-US" sz="202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37" name="page"/>
          <p:cNvSpPr/>
          <p:nvPr/>
        </p:nvSpPr>
        <p:spPr>
          <a:xfrm>
            <a:off x="466560" y="12477600"/>
            <a:ext cx="666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ffffff"/>
                </a:solidFill>
                <a:latin typeface="Pretendard Light"/>
                <a:ea typeface="Pretendard Light"/>
              </a:rPr>
              <a:t>13</a:t>
            </a:r>
            <a:endParaRPr b="0" lang="en-US" sz="195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38" name="title"/>
          <p:cNvSpPr/>
          <p:nvPr/>
        </p:nvSpPr>
        <p:spPr>
          <a:xfrm>
            <a:off x="2571840" y="1066680"/>
            <a:ext cx="205736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57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프로젝트와 현장에서 이어온 업무 방식</a:t>
            </a:r>
            <a:endParaRPr b="0" lang="en-US" sz="57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39" name="subtitle"/>
          <p:cNvSpPr/>
          <p:nvPr/>
        </p:nvSpPr>
        <p:spPr>
          <a:xfrm>
            <a:off x="2619360" y="2571840"/>
            <a:ext cx="2009736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780" spc="-1" strike="noStrike">
                <a:solidFill>
                  <a:srgbClr val="555555"/>
                </a:solidFill>
                <a:latin typeface="Pretendard Light"/>
                <a:ea typeface="Pretendard Light"/>
              </a:rPr>
              <a:t>기능 구현과 장치 동작을 함께 확인합니다</a:t>
            </a:r>
            <a:endParaRPr b="0" lang="en-US" sz="278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0" name="입력과 상태를 먼저 확인 title"/>
          <p:cNvSpPr/>
          <p:nvPr/>
        </p:nvSpPr>
        <p:spPr>
          <a:xfrm>
            <a:off x="2619360" y="495288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입력과 상태를 먼저 확인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1" name="입력과 상태를 먼저 확인 detail"/>
          <p:cNvSpPr/>
          <p:nvPr/>
        </p:nvSpPr>
        <p:spPr>
          <a:xfrm>
            <a:off x="2619360" y="585792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NRD에서는 정상값과 오류값을 비교했고, AMR에서는 로그와 실측을 맞춰 보며 원인을 찾았습니다.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2" name="기능을 나누고 연결을 점검 title"/>
          <p:cNvSpPr/>
          <p:nvPr/>
        </p:nvSpPr>
        <p:spPr>
          <a:xfrm>
            <a:off x="14382720" y="495288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기능을 나누고 연결을 점검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3" name="기능을 나누고 연결을 점검 detail"/>
          <p:cNvSpPr/>
          <p:nvPr/>
        </p:nvSpPr>
        <p:spPr>
          <a:xfrm>
            <a:off x="14382720" y="585792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ARMIGO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에서는 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UI·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티칭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·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통신을 공동 구현했습니다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Safe Eye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에서는 장치 구동을 모듈로 나눠 관리했습니다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4" name="팀에 필요한 내용을 공유 title"/>
          <p:cNvSpPr/>
          <p:nvPr/>
        </p:nvSpPr>
        <p:spPr>
          <a:xfrm>
            <a:off x="2619360" y="9810720"/>
            <a:ext cx="933408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팀에 필요한 내용을 공유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5" name="팀에 필요한 내용을 공유 detail"/>
          <p:cNvSpPr/>
          <p:nvPr/>
        </p:nvSpPr>
        <p:spPr>
          <a:xfrm>
            <a:off x="2619360" y="10715760"/>
            <a:ext cx="933408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평택 셋업에서 장비별 진행상황과 인증 이슈를 정리했습니다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 </a:t>
            </a: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프로젝트에서도 담당 기능과 연결 조건을 팀원과 맞췄습니다</a:t>
            </a:r>
            <a:r>
              <a:rPr b="0" lang="en-US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6" name="개발 역량을 꾸준히 확장 title"/>
          <p:cNvSpPr/>
          <p:nvPr/>
        </p:nvSpPr>
        <p:spPr>
          <a:xfrm>
            <a:off x="14382720" y="9810720"/>
            <a:ext cx="842940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zh-CN" sz="3600" spc="-1" strike="noStrike">
                <a:solidFill>
                  <a:srgbClr val="202020"/>
                </a:solidFill>
                <a:latin typeface="Pretendard Bold"/>
                <a:ea typeface="Pretendard Bold"/>
              </a:rPr>
              <a:t>개발 역량을 꾸준히 확장</a:t>
            </a:r>
            <a:endParaRPr b="0" lang="en-US" sz="36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47" name="개발 역량을 꾸준히 확장 detail"/>
          <p:cNvSpPr/>
          <p:nvPr/>
        </p:nvSpPr>
        <p:spPr>
          <a:xfrm>
            <a:off x="14382720" y="10715760"/>
            <a:ext cx="8429400" cy="21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zh-CN" sz="2930" spc="-1" strike="noStrike">
                <a:solidFill>
                  <a:srgbClr val="202020"/>
                </a:solidFill>
                <a:latin typeface="Pretendard Light"/>
                <a:ea typeface="Pretendard Light"/>
              </a:rPr>
              <a:t>현장 경험에 임베디드, 비전, ROS2 주행을 차례로 더했습니다. 지금은 AMR 프로젝트에서 실제 로봇으로 확인하며 배우고 있습니다.</a:t>
            </a:r>
            <a:endParaRPr b="0" lang="en-US" sz="29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Picture 2" descr=""/>
          <p:cNvPicPr/>
          <p:nvPr/>
        </p:nvPicPr>
        <p:blipFill>
          <a:blip r:embed="rId1"/>
          <a:stretch/>
        </p:blipFill>
        <p:spPr>
          <a:xfrm>
            <a:off x="0" y="4343400"/>
            <a:ext cx="24383520" cy="9372240"/>
          </a:xfrm>
          <a:prstGeom prst="rect">
            <a:avLst/>
          </a:prstGeom>
          <a:ln w="0">
            <a:noFill/>
          </a:ln>
        </p:spPr>
      </p:pic>
      <p:sp>
        <p:nvSpPr>
          <p:cNvPr id="349" name="TextBox 3"/>
          <p:cNvSpPr/>
          <p:nvPr/>
        </p:nvSpPr>
        <p:spPr>
          <a:xfrm>
            <a:off x="2489040" y="11874600"/>
            <a:ext cx="22730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zh-CN" sz="3340" spc="-100" strike="noStrike">
                <a:solidFill>
                  <a:srgbClr val="ffffff"/>
                </a:solidFill>
                <a:latin typeface="Pretendard Bold"/>
                <a:ea typeface="Pretendard Bold"/>
              </a:rPr>
              <a:t>류상균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50" name="TextBox 4"/>
          <p:cNvSpPr/>
          <p:nvPr/>
        </p:nvSpPr>
        <p:spPr>
          <a:xfrm>
            <a:off x="6400800" y="11874600"/>
            <a:ext cx="47876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en-US" sz="334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etland6554@gmail.com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51" name="TextBox 5"/>
          <p:cNvSpPr/>
          <p:nvPr/>
        </p:nvSpPr>
        <p:spPr>
          <a:xfrm>
            <a:off x="12814200" y="11874600"/>
            <a:ext cx="41270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r>
              <a:rPr b="0" lang="en-US" sz="3340" spc="-100" strike="noStrike">
                <a:solidFill>
                  <a:srgbClr val="ffffff"/>
                </a:solidFill>
                <a:latin typeface="Pretendard Light"/>
                <a:ea typeface="Pretendard Light"/>
              </a:rPr>
              <a:t>+82 10-6554-2989</a:t>
            </a:r>
            <a:endParaRPr b="0" lang="en-US" sz="334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52" name="TextBox 6"/>
          <p:cNvSpPr/>
          <p:nvPr/>
        </p:nvSpPr>
        <p:spPr>
          <a:xfrm>
            <a:off x="18923040" y="11874600"/>
            <a:ext cx="35301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42480" anchor="ctr">
            <a:noAutofit/>
          </a:bodyPr>
          <a:p>
            <a:pPr>
              <a:lnSpc>
                <a:spcPct val="99000"/>
              </a:lnSpc>
            </a:pPr>
            <a:endParaRPr b="0" lang="en-US" sz="18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pic>
        <p:nvPicPr>
          <p:cNvPr id="353" name="Picture 7" descr=""/>
          <p:cNvPicPr/>
          <p:nvPr/>
        </p:nvPicPr>
        <p:blipFill>
          <a:blip r:embed="rId2"/>
          <a:stretch/>
        </p:blipFill>
        <p:spPr>
          <a:xfrm>
            <a:off x="0" y="0"/>
            <a:ext cx="24383520" cy="4343040"/>
          </a:xfrm>
          <a:prstGeom prst="rect">
            <a:avLst/>
          </a:prstGeom>
          <a:ln w="0">
            <a:noFill/>
          </a:ln>
        </p:spPr>
      </p:pic>
      <p:sp>
        <p:nvSpPr>
          <p:cNvPr id="354" name="TextBox 8"/>
          <p:cNvSpPr/>
          <p:nvPr/>
        </p:nvSpPr>
        <p:spPr>
          <a:xfrm>
            <a:off x="2523960" y="2095560"/>
            <a:ext cx="1990692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1" lang="zh-CN" sz="4730" spc="-100" strike="noStrike">
                <a:solidFill>
                  <a:srgbClr val="202020"/>
                </a:solidFill>
                <a:latin typeface="Pretendard Bold"/>
                <a:ea typeface="Pretendard Bold"/>
              </a:rPr>
              <a:t>현장을 이해하며 로봇 기능을 구현하는 개발자</a:t>
            </a:r>
            <a:endParaRPr b="0" lang="en-US" sz="47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55" name="TextBox 9"/>
          <p:cNvSpPr/>
          <p:nvPr/>
        </p:nvSpPr>
        <p:spPr>
          <a:xfrm>
            <a:off x="2523960" y="1143000"/>
            <a:ext cx="1714464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0" lang="zh-CN" sz="3230" spc="-100" strike="noStrike">
                <a:solidFill>
                  <a:srgbClr val="202020"/>
                </a:solidFill>
                <a:latin typeface="Pretendard Light"/>
                <a:ea typeface="Pretendard Light"/>
              </a:rPr>
              <a:t>류상균의 로봇 개발 포트폴리오</a:t>
            </a:r>
            <a:endParaRPr b="0" lang="en-US" sz="323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  <p:sp>
        <p:nvSpPr>
          <p:cNvPr id="356" name="TextBox 10"/>
          <p:cNvSpPr/>
          <p:nvPr/>
        </p:nvSpPr>
        <p:spPr>
          <a:xfrm>
            <a:off x="2476440" y="5429160"/>
            <a:ext cx="19049760" cy="28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99000"/>
              </a:lnSpc>
            </a:pPr>
            <a:r>
              <a:rPr b="1" lang="en-US" sz="15000" spc="-301" strike="noStrike">
                <a:solidFill>
                  <a:srgbClr val="ffffff"/>
                </a:solidFill>
                <a:latin typeface="Pretendard Bold"/>
                <a:ea typeface="Pretendard Bold"/>
              </a:rPr>
              <a:t>Thank You.</a:t>
            </a:r>
            <a:endParaRPr b="0" lang="en-US" sz="15000" spc="-1" strike="noStrike">
              <a:solidFill>
                <a:srgbClr val="000000"/>
              </a:solidFill>
              <a:latin typeface="Pretendard Light"/>
              <a:ea typeface="Pretendar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2026-09-19T21:13:12Z</dcterms:created>
  <dc:creator>Walnut Exporter</dc:creator>
  <dc:description/>
  <dc:language>en-US</dc:language>
  <cp:lastModifiedBy/>
  <dcterms:modified xsi:type="dcterms:W3CDTF">2026-10-14T10:09:45Z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