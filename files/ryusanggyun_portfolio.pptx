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24384000" cy="13716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1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1218960" y="532800"/>
            <a:ext cx="21944520" cy="222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1218960" y="3125160"/>
            <a:ext cx="21944520" cy="774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218960" y="532800"/>
            <a:ext cx="21944520" cy="222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1218960" y="3125160"/>
            <a:ext cx="21944520" cy="774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218960" y="532800"/>
            <a:ext cx="21944520" cy="222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1218960" y="3125160"/>
            <a:ext cx="21944520" cy="774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  <p:sldLayoutId id="2147483652" r:id="rId3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8.png"/><Relationship Id="rId8" Type="http://schemas.openxmlformats.org/officeDocument/2006/relationships/image" Target="../media/image8.png"/><Relationship Id="rId9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6.jpeg"/><Relationship Id="rId3" Type="http://schemas.openxmlformats.org/officeDocument/2006/relationships/slideLayout" Target="../slideLayouts/slideLayout2.xml"/><Relationship Id="rId4" Type="http://schemas.openxmlformats.org/officeDocument/2006/relationships/image" Target="../media/image36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slideLayout" Target="../slideLayouts/slideLayout2.xml"/><Relationship Id="rId8" Type="http://schemas.openxmlformats.org/officeDocument/2006/relationships/image" Target="../media/image37.gif"/><Relationship Id="rId9" Type="http://schemas.openxmlformats.org/officeDocument/2006/relationships/image" Target="../media/image3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8.png"/><Relationship Id="rId3" Type="http://schemas.openxmlformats.org/officeDocument/2006/relationships/slideLayout" Target="../slideLayouts/slideLayout1.xml"/><Relationship Id="rId4" Type="http://schemas.openxmlformats.org/officeDocument/2006/relationships/image" Target="../media/image39.gif"/><Relationship Id="rId5" Type="http://schemas.openxmlformats.org/officeDocument/2006/relationships/image" Target="../media/image40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12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Relationship Id="rId8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29.jpeg"/><Relationship Id="rId3" Type="http://schemas.openxmlformats.org/officeDocument/2006/relationships/image" Target="../media/image30.png"/><Relationship Id="rId4" Type="http://schemas.openxmlformats.org/officeDocument/2006/relationships/image" Target="../media/image31.jpeg"/><Relationship Id="rId5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30.png"/><Relationship Id="rId3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32.jpeg"/><Relationship Id="rId3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33.png"/><Relationship Id="rId3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image" Target="../media/image35.png"/><Relationship Id="rId3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/>
          <p:nvPr/>
        </p:nvSpPr>
        <p:spPr>
          <a:xfrm>
            <a:off x="0" y="0"/>
            <a:ext cx="24383520" cy="13716000"/>
          </a:xfrm>
          <a:custGeom>
            <a:avLst/>
            <a:gdLst/>
            <a:ahLst/>
            <a:rect l="0" t="0" r="r" b="b"/>
            <a:pathLst>
              <a:path w="67732" h="38100">
                <a:moveTo>
                  <a:pt x="0" y="0"/>
                </a:moveTo>
                <a:lnTo>
                  <a:pt x="67732" y="0"/>
                </a:lnTo>
                <a:lnTo>
                  <a:pt x="67732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7" name=""/>
          <p:cNvSpPr/>
          <p:nvPr/>
        </p:nvSpPr>
        <p:spPr>
          <a:xfrm>
            <a:off x="0" y="0"/>
            <a:ext cx="24384240" cy="13716360"/>
          </a:xfrm>
          <a:custGeom>
            <a:avLst/>
            <a:gdLst/>
            <a:ahLst/>
            <a:rect l="0" t="0" r="r" b="b"/>
            <a:pathLst>
              <a:path w="67734" h="38101">
                <a:moveTo>
                  <a:pt x="0" y="0"/>
                </a:moveTo>
                <a:lnTo>
                  <a:pt x="67734" y="0"/>
                </a:lnTo>
                <a:lnTo>
                  <a:pt x="67734" y="38101"/>
                </a:lnTo>
                <a:lnTo>
                  <a:pt x="0" y="3810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Noto Sans CJK KR"/>
            </a:endParaRPr>
          </a:p>
        </p:txBody>
      </p:sp>
      <p:pic>
        <p:nvPicPr>
          <p:cNvPr id="8" name="" descr=""/>
          <p:cNvPicPr/>
          <p:nvPr/>
        </p:nvPicPr>
        <p:blipFill>
          <a:blip r:embed="rId1"/>
          <a:stretch/>
        </p:blipFill>
        <p:spPr>
          <a:xfrm>
            <a:off x="1434960" y="-360"/>
            <a:ext cx="22947840" cy="4342320"/>
          </a:xfrm>
          <a:prstGeom prst="rect">
            <a:avLst/>
          </a:prstGeom>
          <a:ln w="0">
            <a:noFill/>
          </a:ln>
        </p:spPr>
      </p:pic>
      <p:sp>
        <p:nvSpPr>
          <p:cNvPr id="9" name=""/>
          <p:cNvSpPr txBox="1"/>
          <p:nvPr/>
        </p:nvSpPr>
        <p:spPr>
          <a:xfrm>
            <a:off x="2571480" y="2081520"/>
            <a:ext cx="6322320" cy="1049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ko-KR" sz="570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개발·현장 엔지니어 포트폴리오</a:t>
            </a:r>
            <a:endParaRPr b="0" lang="en-US" sz="57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2571480" y="989280"/>
            <a:ext cx="1578240" cy="828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ko-KR" sz="450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류상균</a:t>
            </a:r>
            <a:endParaRPr b="0" lang="en-US" sz="45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2476440" y="4914360"/>
            <a:ext cx="9289440" cy="2478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130" spc="-1" strike="noStrike">
                <a:solidFill>
                  <a:srgbClr val="202020"/>
                </a:solidFill>
                <a:latin typeface="Noto Sans"/>
                <a:ea typeface="Noto Sans"/>
              </a:rPr>
              <a:t>Portfolio.</a:t>
            </a:r>
            <a:endParaRPr b="0" lang="en-US" sz="1613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18668520" y="10744560"/>
            <a:ext cx="1169640" cy="613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ko-KR" sz="3340" spc="-1" strike="noStrike">
                <a:solidFill>
                  <a:srgbClr val="1d1d1d"/>
                </a:solidFill>
                <a:latin typeface="Noto Sans CJK KR"/>
                <a:ea typeface="Noto Sans CJK KR"/>
              </a:rPr>
              <a:t>류상균</a:t>
            </a:r>
            <a:endParaRPr b="0" lang="en-US" sz="334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18668880" y="11442960"/>
            <a:ext cx="4760280" cy="51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3340" spc="-1" strike="noStrike">
                <a:solidFill>
                  <a:srgbClr val="1d1d1d"/>
                </a:solidFill>
                <a:latin typeface="Noto Sans"/>
                <a:ea typeface="Noto Sans"/>
              </a:rPr>
              <a:t>etland6554@gmail.com</a:t>
            </a:r>
            <a:endParaRPr b="0" lang="en-US" sz="3340" spc="-1" strike="noStrike">
              <a:solidFill>
                <a:srgbClr val="000000"/>
              </a:solidFill>
              <a:latin typeface="Noto Sans CJK KR"/>
            </a:endParaRPr>
          </a:p>
        </p:txBody>
      </p:sp>
      <p:pic>
        <p:nvPicPr>
          <p:cNvPr id="14" name="" descr=""/>
          <p:cNvPicPr/>
          <p:nvPr/>
        </p:nvPicPr>
        <p:blipFill>
          <a:blip r:embed="rId2"/>
          <a:stretch/>
        </p:blipFill>
        <p:spPr>
          <a:xfrm>
            <a:off x="0" y="-360"/>
            <a:ext cx="1485000" cy="13714920"/>
          </a:xfrm>
          <a:prstGeom prst="rect">
            <a:avLst/>
          </a:prstGeom>
          <a:ln w="0">
            <a:noFill/>
          </a:ln>
        </p:spPr>
      </p:pic>
      <p:sp>
        <p:nvSpPr>
          <p:cNvPr id="15" name=""/>
          <p:cNvSpPr txBox="1"/>
          <p:nvPr/>
        </p:nvSpPr>
        <p:spPr>
          <a:xfrm>
            <a:off x="18668520" y="12141720"/>
            <a:ext cx="3847320" cy="51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3340" spc="-1" strike="noStrike">
                <a:solidFill>
                  <a:srgbClr val="1d1d1d"/>
                </a:solidFill>
                <a:latin typeface="Noto Sans"/>
                <a:ea typeface="Noto Sans"/>
              </a:rPr>
              <a:t>+82 10-6554-2989</a:t>
            </a:r>
            <a:endParaRPr b="0" lang="en-US" sz="334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6" name=""/>
          <p:cNvSpPr txBox="1"/>
          <p:nvPr/>
        </p:nvSpPr>
        <p:spPr>
          <a:xfrm rot="5400000">
            <a:off x="-601920" y="11603520"/>
            <a:ext cx="256140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260" spc="-1" strike="noStrike">
                <a:solidFill>
                  <a:srgbClr val="ffffff"/>
                </a:solidFill>
                <a:latin typeface="Noto Sans"/>
                <a:ea typeface="Noto Sans"/>
              </a:rPr>
              <a:t>  </a:t>
            </a:r>
            <a:r>
              <a:rPr b="0" lang="en-US" sz="2260" spc="-1" strike="noStrike">
                <a:solidFill>
                  <a:srgbClr val="ffffff"/>
                </a:solidFill>
                <a:latin typeface="Noto Sans"/>
                <a:ea typeface="Noto Sans"/>
              </a:rPr>
              <a:t>RYU SANG GYUN</a:t>
            </a:r>
            <a:endParaRPr b="0" lang="en-US" sz="226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7" name=""/>
          <p:cNvSpPr txBox="1"/>
          <p:nvPr/>
        </p:nvSpPr>
        <p:spPr>
          <a:xfrm rot="5400000">
            <a:off x="356040" y="1158120"/>
            <a:ext cx="70776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260" spc="-1" strike="noStrike">
                <a:solidFill>
                  <a:srgbClr val="ffffff"/>
                </a:solidFill>
                <a:latin typeface="Noto Sans"/>
                <a:ea typeface="Noto Sans"/>
              </a:rPr>
              <a:t>2026</a:t>
            </a:r>
            <a:endParaRPr b="0" lang="en-US" sz="226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2619360" y="8435880"/>
            <a:ext cx="5824080" cy="622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ko-KR" sz="338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설비를 설계하고 고치던 경험으로</a:t>
            </a:r>
            <a:endParaRPr b="0" lang="en-US" sz="338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2619360" y="8991720"/>
            <a:ext cx="7501680" cy="622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ko-KR" sz="338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개발하고, 현장에서 끝까지 동작시킵니다</a:t>
            </a:r>
            <a:endParaRPr b="0" lang="en-US" sz="338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"/>
          <p:cNvSpPr/>
          <p:nvPr/>
        </p:nvSpPr>
        <p:spPr>
          <a:xfrm>
            <a:off x="0" y="0"/>
            <a:ext cx="24383520" cy="13716000"/>
          </a:xfrm>
          <a:custGeom>
            <a:avLst/>
            <a:gdLst/>
            <a:ahLst/>
            <a:rect l="0" t="0" r="r" b="b"/>
            <a:pathLst>
              <a:path w="67732" h="38100">
                <a:moveTo>
                  <a:pt x="0" y="0"/>
                </a:moveTo>
                <a:lnTo>
                  <a:pt x="67732" y="0"/>
                </a:lnTo>
                <a:lnTo>
                  <a:pt x="67732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1" name=""/>
          <p:cNvSpPr/>
          <p:nvPr/>
        </p:nvSpPr>
        <p:spPr>
          <a:xfrm>
            <a:off x="0" y="0"/>
            <a:ext cx="24384240" cy="13716360"/>
          </a:xfrm>
          <a:custGeom>
            <a:avLst/>
            <a:gdLst/>
            <a:ahLst/>
            <a:rect l="0" t="0" r="r" b="b"/>
            <a:pathLst>
              <a:path w="67734" h="38101">
                <a:moveTo>
                  <a:pt x="0" y="0"/>
                </a:moveTo>
                <a:lnTo>
                  <a:pt x="67734" y="0"/>
                </a:lnTo>
                <a:lnTo>
                  <a:pt x="67734" y="38101"/>
                </a:lnTo>
                <a:lnTo>
                  <a:pt x="0" y="3810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Noto Sans CJK KR"/>
            </a:endParaRPr>
          </a:p>
        </p:txBody>
      </p:sp>
      <p:pic>
        <p:nvPicPr>
          <p:cNvPr id="22" name="" descr=""/>
          <p:cNvPicPr/>
          <p:nvPr/>
        </p:nvPicPr>
        <p:blipFill>
          <a:blip r:embed="rId1"/>
          <a:stretch/>
        </p:blipFill>
        <p:spPr>
          <a:xfrm>
            <a:off x="0" y="-360"/>
            <a:ext cx="1485000" cy="13714920"/>
          </a:xfrm>
          <a:prstGeom prst="rect">
            <a:avLst/>
          </a:prstGeom>
          <a:ln w="0">
            <a:noFill/>
          </a:ln>
        </p:spPr>
      </p:pic>
      <p:sp>
        <p:nvSpPr>
          <p:cNvPr id="23" name=""/>
          <p:cNvSpPr txBox="1"/>
          <p:nvPr/>
        </p:nvSpPr>
        <p:spPr>
          <a:xfrm rot="5400000">
            <a:off x="174960" y="1629720"/>
            <a:ext cx="1095120" cy="31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020" spc="-1" strike="noStrike">
                <a:solidFill>
                  <a:srgbClr val="ffffff"/>
                </a:solidFill>
                <a:latin typeface="Noto Sans"/>
                <a:ea typeface="Noto Sans"/>
              </a:rPr>
              <a:t>Contents</a:t>
            </a:r>
            <a:endParaRPr b="0" lang="en-US" sz="202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466560" y="12484800"/>
            <a:ext cx="308520" cy="30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ffffff"/>
                </a:solidFill>
                <a:latin typeface="Noto Sans"/>
                <a:ea typeface="Noto Sans"/>
              </a:rPr>
              <a:t>02</a:t>
            </a:r>
            <a:endParaRPr b="0" lang="en-US" sz="19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2571840" y="1088640"/>
            <a:ext cx="3248280" cy="876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5700" spc="-1" strike="noStrike">
                <a:solidFill>
                  <a:srgbClr val="202020"/>
                </a:solidFill>
                <a:latin typeface="Noto Sans"/>
                <a:ea typeface="Noto Sans"/>
              </a:rPr>
              <a:t>Contents</a:t>
            </a:r>
            <a:endParaRPr b="0" lang="en-US" sz="57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2619000" y="2582640"/>
            <a:ext cx="3815280" cy="51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ko-KR" sz="2780" spc="-1" strike="noStrike">
                <a:solidFill>
                  <a:srgbClr val="555555"/>
                </a:solidFill>
                <a:latin typeface="Noto Sans CJK KR"/>
                <a:ea typeface="Noto Sans CJK KR"/>
              </a:rPr>
              <a:t>현장 경력과 개발 프로젝트</a:t>
            </a:r>
            <a:endParaRPr b="0" lang="en-US" sz="278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7" name=""/>
          <p:cNvSpPr txBox="1"/>
          <p:nvPr/>
        </p:nvSpPr>
        <p:spPr>
          <a:xfrm>
            <a:off x="2619360" y="4964760"/>
            <a:ext cx="395280" cy="460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3000" spc="-1" strike="noStrike">
                <a:solidFill>
                  <a:srgbClr val="555555"/>
                </a:solidFill>
                <a:latin typeface="Noto Sans"/>
                <a:ea typeface="Noto Sans"/>
              </a:rPr>
              <a:t>01</a:t>
            </a:r>
            <a:endParaRPr b="0" lang="en-US" sz="3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8" name=""/>
          <p:cNvSpPr txBox="1"/>
          <p:nvPr/>
        </p:nvSpPr>
        <p:spPr>
          <a:xfrm>
            <a:off x="3905280" y="4967280"/>
            <a:ext cx="1494360" cy="564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3670" spc="-1" strike="noStrike">
                <a:solidFill>
                  <a:srgbClr val="202020"/>
                </a:solidFill>
                <a:latin typeface="Noto Sans"/>
                <a:ea typeface="Noto Sans"/>
              </a:rPr>
              <a:t>Profile</a:t>
            </a:r>
            <a:endParaRPr b="0" lang="en-US" sz="367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9" name=""/>
          <p:cNvSpPr txBox="1"/>
          <p:nvPr/>
        </p:nvSpPr>
        <p:spPr>
          <a:xfrm>
            <a:off x="3905280" y="5725440"/>
            <a:ext cx="2288160" cy="48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ko-KR" sz="2620" spc="-1" strike="noStrike">
                <a:solidFill>
                  <a:srgbClr val="555555"/>
                </a:solidFill>
                <a:latin typeface="Noto Sans CJK KR"/>
                <a:ea typeface="Noto Sans CJK KR"/>
              </a:rPr>
              <a:t>소개와 개발 방향</a:t>
            </a:r>
            <a:endParaRPr b="0" lang="en-US" sz="262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0" name=""/>
          <p:cNvSpPr txBox="1"/>
          <p:nvPr/>
        </p:nvSpPr>
        <p:spPr>
          <a:xfrm>
            <a:off x="10477440" y="5011200"/>
            <a:ext cx="415080" cy="402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620" spc="-1" strike="noStrike">
                <a:solidFill>
                  <a:srgbClr val="555555"/>
                </a:solidFill>
                <a:latin typeface="Noto Sans"/>
                <a:ea typeface="Noto Sans"/>
              </a:rPr>
              <a:t>03</a:t>
            </a:r>
            <a:endParaRPr b="0" lang="en-US" sz="262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1" name=""/>
          <p:cNvSpPr txBox="1"/>
          <p:nvPr/>
        </p:nvSpPr>
        <p:spPr>
          <a:xfrm>
            <a:off x="2619360" y="6869880"/>
            <a:ext cx="473040" cy="460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3000" spc="-1" strike="noStrike">
                <a:solidFill>
                  <a:srgbClr val="555555"/>
                </a:solidFill>
                <a:latin typeface="Noto Sans"/>
                <a:ea typeface="Noto Sans"/>
              </a:rPr>
              <a:t>02</a:t>
            </a:r>
            <a:endParaRPr b="0" lang="en-US" sz="3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2" name=""/>
          <p:cNvSpPr txBox="1"/>
          <p:nvPr/>
        </p:nvSpPr>
        <p:spPr>
          <a:xfrm>
            <a:off x="3905280" y="6872400"/>
            <a:ext cx="1550520" cy="564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3670" spc="-1" strike="noStrike">
                <a:solidFill>
                  <a:srgbClr val="202020"/>
                </a:solidFill>
                <a:latin typeface="Noto Sans"/>
                <a:ea typeface="Noto Sans"/>
              </a:rPr>
              <a:t>Career</a:t>
            </a:r>
            <a:endParaRPr b="0" lang="en-US" sz="367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3" name=""/>
          <p:cNvSpPr txBox="1"/>
          <p:nvPr/>
        </p:nvSpPr>
        <p:spPr>
          <a:xfrm>
            <a:off x="3905280" y="7630560"/>
            <a:ext cx="2973960" cy="48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ko-KR" sz="2620" spc="-1" strike="noStrike">
                <a:solidFill>
                  <a:srgbClr val="555555"/>
                </a:solidFill>
                <a:latin typeface="Noto Sans CJK KR"/>
                <a:ea typeface="Noto Sans CJK KR"/>
              </a:rPr>
              <a:t>경력과 현장 문제 해결</a:t>
            </a:r>
            <a:endParaRPr b="0" lang="en-US" sz="262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4" name=""/>
          <p:cNvSpPr txBox="1"/>
          <p:nvPr/>
        </p:nvSpPr>
        <p:spPr>
          <a:xfrm>
            <a:off x="10477440" y="6915960"/>
            <a:ext cx="1001880" cy="402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620" spc="-1" strike="noStrike">
                <a:solidFill>
                  <a:srgbClr val="555555"/>
                </a:solidFill>
                <a:latin typeface="Noto Sans"/>
                <a:ea typeface="Noto Sans"/>
              </a:rPr>
              <a:t>04–05</a:t>
            </a:r>
            <a:endParaRPr b="0" lang="en-US" sz="262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5" name=""/>
          <p:cNvSpPr txBox="1"/>
          <p:nvPr/>
        </p:nvSpPr>
        <p:spPr>
          <a:xfrm>
            <a:off x="2619360" y="8775000"/>
            <a:ext cx="476280" cy="460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3000" spc="-1" strike="noStrike">
                <a:solidFill>
                  <a:srgbClr val="555555"/>
                </a:solidFill>
                <a:latin typeface="Noto Sans"/>
                <a:ea typeface="Noto Sans"/>
              </a:rPr>
              <a:t>03</a:t>
            </a:r>
            <a:endParaRPr b="0" lang="en-US" sz="3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6" name=""/>
          <p:cNvSpPr txBox="1"/>
          <p:nvPr/>
        </p:nvSpPr>
        <p:spPr>
          <a:xfrm>
            <a:off x="3905280" y="8777520"/>
            <a:ext cx="2824560" cy="564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3670" spc="-1" strike="noStrike">
                <a:solidFill>
                  <a:srgbClr val="202020"/>
                </a:solidFill>
                <a:latin typeface="Noto Sans"/>
                <a:ea typeface="Noto Sans"/>
              </a:rPr>
              <a:t>Final Project</a:t>
            </a:r>
            <a:endParaRPr b="0" lang="en-US" sz="367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7" name=""/>
          <p:cNvSpPr txBox="1"/>
          <p:nvPr/>
        </p:nvSpPr>
        <p:spPr>
          <a:xfrm>
            <a:off x="3905280" y="9535320"/>
            <a:ext cx="2513880" cy="48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ko-KR" sz="2620" spc="-1" strike="noStrike">
                <a:solidFill>
                  <a:srgbClr val="555555"/>
                </a:solidFill>
                <a:latin typeface="Noto Sans CJK KR"/>
                <a:ea typeface="Noto Sans CJK KR"/>
              </a:rPr>
              <a:t>공장자동화 </a:t>
            </a:r>
            <a:r>
              <a:rPr b="0" lang="en-US" sz="2620" spc="-1" strike="noStrike">
                <a:solidFill>
                  <a:srgbClr val="555555"/>
                </a:solidFill>
                <a:latin typeface="Noto Sans"/>
                <a:ea typeface="Noto Sans"/>
              </a:rPr>
              <a:t> </a:t>
            </a:r>
            <a:r>
              <a:rPr b="0" lang="en-US" sz="2620" spc="-1" strike="noStrike">
                <a:solidFill>
                  <a:srgbClr val="555555"/>
                </a:solidFill>
                <a:latin typeface="Noto Sans"/>
                <a:ea typeface="Noto Sans"/>
              </a:rPr>
              <a:t>AMR</a:t>
            </a:r>
            <a:endParaRPr b="0" lang="en-US" sz="262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8" name=""/>
          <p:cNvSpPr txBox="1"/>
          <p:nvPr/>
        </p:nvSpPr>
        <p:spPr>
          <a:xfrm>
            <a:off x="10477440" y="8821080"/>
            <a:ext cx="979200" cy="402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620" spc="-1" strike="noStrike">
                <a:solidFill>
                  <a:srgbClr val="555555"/>
                </a:solidFill>
                <a:latin typeface="Noto Sans"/>
                <a:ea typeface="Noto Sans"/>
              </a:rPr>
              <a:t>06–07</a:t>
            </a:r>
            <a:endParaRPr b="0" lang="en-US" sz="262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9" name=""/>
          <p:cNvSpPr txBox="1"/>
          <p:nvPr/>
        </p:nvSpPr>
        <p:spPr>
          <a:xfrm>
            <a:off x="2619360" y="10679760"/>
            <a:ext cx="486720" cy="460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3000" spc="-1" strike="noStrike">
                <a:solidFill>
                  <a:srgbClr val="555555"/>
                </a:solidFill>
                <a:latin typeface="Noto Sans"/>
                <a:ea typeface="Noto Sans"/>
              </a:rPr>
              <a:t>04</a:t>
            </a:r>
            <a:endParaRPr b="0" lang="en-US" sz="3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0" name=""/>
          <p:cNvSpPr txBox="1"/>
          <p:nvPr/>
        </p:nvSpPr>
        <p:spPr>
          <a:xfrm>
            <a:off x="3905280" y="10682280"/>
            <a:ext cx="1216800" cy="564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3670" spc="-1" strike="noStrike">
                <a:solidFill>
                  <a:srgbClr val="202020"/>
                </a:solidFill>
                <a:latin typeface="Noto Sans"/>
                <a:ea typeface="Noto Sans"/>
              </a:rPr>
              <a:t>Skills</a:t>
            </a:r>
            <a:endParaRPr b="0" lang="en-US" sz="367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3905280" y="11440440"/>
            <a:ext cx="2056680" cy="48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ko-KR" sz="2620" spc="-1" strike="noStrike">
                <a:solidFill>
                  <a:srgbClr val="555555"/>
                </a:solidFill>
                <a:latin typeface="Noto Sans CJK KR"/>
                <a:ea typeface="Noto Sans CJK KR"/>
              </a:rPr>
              <a:t>직접 써 본 기술</a:t>
            </a:r>
            <a:endParaRPr b="0" lang="en-US" sz="262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10477440" y="10726200"/>
            <a:ext cx="415080" cy="402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620" spc="-1" strike="noStrike">
                <a:solidFill>
                  <a:srgbClr val="555555"/>
                </a:solidFill>
                <a:latin typeface="Noto Sans"/>
                <a:ea typeface="Noto Sans"/>
              </a:rPr>
              <a:t>08</a:t>
            </a:r>
            <a:endParaRPr b="0" lang="en-US" sz="262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13716000" y="4964760"/>
            <a:ext cx="471600" cy="460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3000" spc="-1" strike="noStrike">
                <a:solidFill>
                  <a:srgbClr val="555555"/>
                </a:solidFill>
                <a:latin typeface="Noto Sans"/>
                <a:ea typeface="Noto Sans"/>
              </a:rPr>
              <a:t>05</a:t>
            </a:r>
            <a:endParaRPr b="0" lang="en-US" sz="3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4" name=""/>
          <p:cNvSpPr txBox="1"/>
          <p:nvPr/>
        </p:nvSpPr>
        <p:spPr>
          <a:xfrm>
            <a:off x="15001920" y="4967280"/>
            <a:ext cx="2736360" cy="564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3670" spc="-1" strike="noStrike">
                <a:solidFill>
                  <a:srgbClr val="202020"/>
                </a:solidFill>
                <a:latin typeface="Noto Sans"/>
                <a:ea typeface="Noto Sans"/>
              </a:rPr>
              <a:t>Project Map</a:t>
            </a:r>
            <a:endParaRPr b="0" lang="en-US" sz="367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15001920" y="5725440"/>
            <a:ext cx="2899440" cy="48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ko-KR" sz="2620" spc="-1" strike="noStrike">
                <a:solidFill>
                  <a:srgbClr val="555555"/>
                </a:solidFill>
                <a:latin typeface="Noto Sans CJK KR"/>
                <a:ea typeface="Noto Sans CJK KR"/>
              </a:rPr>
              <a:t>프로젝트 한눈에 보기</a:t>
            </a:r>
            <a:endParaRPr b="0" lang="en-US" sz="262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21574080" y="5011200"/>
            <a:ext cx="415080" cy="402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620" spc="-1" strike="noStrike">
                <a:solidFill>
                  <a:srgbClr val="555555"/>
                </a:solidFill>
                <a:latin typeface="Noto Sans"/>
                <a:ea typeface="Noto Sans"/>
              </a:rPr>
              <a:t>09</a:t>
            </a:r>
            <a:endParaRPr b="0" lang="en-US" sz="262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13716000" y="6869880"/>
            <a:ext cx="476280" cy="460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3000" spc="-1" strike="noStrike">
                <a:solidFill>
                  <a:srgbClr val="555555"/>
                </a:solidFill>
                <a:latin typeface="Noto Sans"/>
                <a:ea typeface="Noto Sans"/>
              </a:rPr>
              <a:t>06</a:t>
            </a:r>
            <a:endParaRPr b="0" lang="en-US" sz="3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15001920" y="6872400"/>
            <a:ext cx="1991160" cy="564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3670" spc="-1" strike="noStrike">
                <a:solidFill>
                  <a:srgbClr val="202020"/>
                </a:solidFill>
                <a:latin typeface="Noto Sans"/>
                <a:ea typeface="Noto Sans"/>
              </a:rPr>
              <a:t>Safe Eye</a:t>
            </a:r>
            <a:endParaRPr b="0" lang="en-US" sz="367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15001920" y="7630560"/>
            <a:ext cx="2484360" cy="48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620" spc="-1" strike="noStrike">
                <a:solidFill>
                  <a:srgbClr val="555555"/>
                </a:solidFill>
                <a:latin typeface="Noto Sans"/>
                <a:ea typeface="Noto Sans"/>
              </a:rPr>
              <a:t>YOLO </a:t>
            </a:r>
            <a:r>
              <a:rPr b="0" lang="en-US" sz="2620" spc="-1" strike="noStrike">
                <a:solidFill>
                  <a:srgbClr val="555555"/>
                </a:solidFill>
                <a:latin typeface="Noto Sans CJK KR"/>
                <a:ea typeface="Noto Sans CJK KR"/>
              </a:rPr>
              <a:t> </a:t>
            </a:r>
            <a:r>
              <a:rPr b="0" lang="ko-KR" sz="2620" spc="-1" strike="noStrike">
                <a:solidFill>
                  <a:srgbClr val="555555"/>
                </a:solidFill>
                <a:latin typeface="Noto Sans CJK KR"/>
                <a:ea typeface="Noto Sans CJK KR"/>
              </a:rPr>
              <a:t>안전 감지</a:t>
            </a:r>
            <a:endParaRPr b="0" lang="en-US" sz="262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21574080" y="6915960"/>
            <a:ext cx="345240" cy="402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620" spc="-1" strike="noStrike">
                <a:solidFill>
                  <a:srgbClr val="555555"/>
                </a:solidFill>
                <a:latin typeface="Noto Sans"/>
                <a:ea typeface="Noto Sans"/>
              </a:rPr>
              <a:t>10</a:t>
            </a:r>
            <a:endParaRPr b="0" lang="en-US" sz="262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13716000" y="8775000"/>
            <a:ext cx="456480" cy="460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3000" spc="-1" strike="noStrike">
                <a:solidFill>
                  <a:srgbClr val="555555"/>
                </a:solidFill>
                <a:latin typeface="Noto Sans"/>
                <a:ea typeface="Noto Sans"/>
              </a:rPr>
              <a:t>07</a:t>
            </a:r>
            <a:endParaRPr b="0" lang="en-US" sz="3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15001920" y="8777520"/>
            <a:ext cx="3216240" cy="564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3670" spc="-1" strike="noStrike">
                <a:solidFill>
                  <a:srgbClr val="202020"/>
                </a:solidFill>
                <a:latin typeface="Noto Sans"/>
                <a:ea typeface="Noto Sans"/>
              </a:rPr>
              <a:t>ARMIGO · PLC</a:t>
            </a:r>
            <a:endParaRPr b="0" lang="en-US" sz="367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3" name=""/>
          <p:cNvSpPr txBox="1"/>
          <p:nvPr/>
        </p:nvSpPr>
        <p:spPr>
          <a:xfrm>
            <a:off x="15001920" y="9535320"/>
            <a:ext cx="3124440" cy="48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ko-KR" sz="2620" spc="-1" strike="noStrike">
                <a:solidFill>
                  <a:srgbClr val="555555"/>
                </a:solidFill>
                <a:latin typeface="Noto Sans CJK KR"/>
                <a:ea typeface="Noto Sans CJK KR"/>
              </a:rPr>
              <a:t>로봇 팔</a:t>
            </a:r>
            <a:r>
              <a:rPr b="0" lang="en-US" sz="2620" spc="-1" strike="noStrike">
                <a:solidFill>
                  <a:srgbClr val="555555"/>
                </a:solidFill>
                <a:latin typeface="Noto Sans"/>
                <a:ea typeface="Noto Sans"/>
              </a:rPr>
              <a:t> </a:t>
            </a:r>
            <a:r>
              <a:rPr b="0" lang="en-US" sz="2620" spc="-1" strike="noStrike">
                <a:solidFill>
                  <a:srgbClr val="555555"/>
                </a:solidFill>
                <a:latin typeface="Noto Sans"/>
                <a:ea typeface="Noto Sans"/>
              </a:rPr>
              <a:t>, </a:t>
            </a:r>
            <a:r>
              <a:rPr b="0" lang="en-US" sz="2620" spc="-1" strike="noStrike">
                <a:solidFill>
                  <a:srgbClr val="555555"/>
                </a:solidFill>
                <a:latin typeface="Noto Sans CJK KR"/>
                <a:ea typeface="Noto Sans CJK KR"/>
              </a:rPr>
              <a:t> </a:t>
            </a:r>
            <a:r>
              <a:rPr b="0" lang="ko-KR" sz="2620" spc="-1" strike="noStrike">
                <a:solidFill>
                  <a:srgbClr val="555555"/>
                </a:solidFill>
                <a:latin typeface="Noto Sans CJK KR"/>
                <a:ea typeface="Noto Sans CJK KR"/>
              </a:rPr>
              <a:t>자동화 설비</a:t>
            </a:r>
            <a:endParaRPr b="0" lang="en-US" sz="262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21574080" y="8821080"/>
            <a:ext cx="773280" cy="402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620" spc="-1" strike="noStrike">
                <a:solidFill>
                  <a:srgbClr val="555555"/>
                </a:solidFill>
                <a:latin typeface="Noto Sans"/>
                <a:ea typeface="Noto Sans"/>
              </a:rPr>
              <a:t>11–12</a:t>
            </a:r>
            <a:endParaRPr b="0" lang="en-US" sz="262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13716000" y="10679760"/>
            <a:ext cx="476280" cy="460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3000" spc="-1" strike="noStrike">
                <a:solidFill>
                  <a:srgbClr val="555555"/>
                </a:solidFill>
                <a:latin typeface="Noto Sans"/>
                <a:ea typeface="Noto Sans"/>
              </a:rPr>
              <a:t>08</a:t>
            </a:r>
            <a:endParaRPr b="0" lang="en-US" sz="3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6" name=""/>
          <p:cNvSpPr txBox="1"/>
          <p:nvPr/>
        </p:nvSpPr>
        <p:spPr>
          <a:xfrm>
            <a:off x="15001920" y="10682280"/>
            <a:ext cx="2501640" cy="564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3670" spc="-1" strike="noStrike">
                <a:solidFill>
                  <a:srgbClr val="202020"/>
                </a:solidFill>
                <a:latin typeface="Noto Sans"/>
                <a:ea typeface="Noto Sans"/>
              </a:rPr>
              <a:t>Work Style</a:t>
            </a:r>
            <a:endParaRPr b="0" lang="en-US" sz="367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15001920" y="11440440"/>
            <a:ext cx="2899440" cy="48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ko-KR" sz="2620" spc="-1" strike="noStrike">
                <a:solidFill>
                  <a:srgbClr val="555555"/>
                </a:solidFill>
                <a:latin typeface="Noto Sans CJK KR"/>
                <a:ea typeface="Noto Sans CJK KR"/>
              </a:rPr>
              <a:t>일하는 방식과 연락처</a:t>
            </a:r>
            <a:endParaRPr b="0" lang="en-US" sz="262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21574080" y="10726200"/>
            <a:ext cx="855720" cy="402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620" spc="-1" strike="noStrike">
                <a:solidFill>
                  <a:srgbClr val="555555"/>
                </a:solidFill>
                <a:latin typeface="Noto Sans"/>
                <a:ea typeface="Noto Sans"/>
              </a:rPr>
              <a:t>13–14</a:t>
            </a:r>
            <a:endParaRPr b="0" lang="en-US" sz="262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"/>
          <p:cNvSpPr/>
          <p:nvPr/>
        </p:nvSpPr>
        <p:spPr>
          <a:xfrm>
            <a:off x="0" y="0"/>
            <a:ext cx="24383520" cy="13716000"/>
          </a:xfrm>
          <a:custGeom>
            <a:avLst/>
            <a:gdLst/>
            <a:ahLst/>
            <a:rect l="0" t="0" r="r" b="b"/>
            <a:pathLst>
              <a:path w="67732" h="38100">
                <a:moveTo>
                  <a:pt x="0" y="0"/>
                </a:moveTo>
                <a:lnTo>
                  <a:pt x="67732" y="0"/>
                </a:lnTo>
                <a:lnTo>
                  <a:pt x="67732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60" name=""/>
          <p:cNvSpPr/>
          <p:nvPr/>
        </p:nvSpPr>
        <p:spPr>
          <a:xfrm>
            <a:off x="0" y="0"/>
            <a:ext cx="24384240" cy="13716360"/>
          </a:xfrm>
          <a:custGeom>
            <a:avLst/>
            <a:gdLst/>
            <a:ahLst/>
            <a:rect l="0" t="0" r="r" b="b"/>
            <a:pathLst>
              <a:path w="67734" h="38101">
                <a:moveTo>
                  <a:pt x="0" y="0"/>
                </a:moveTo>
                <a:lnTo>
                  <a:pt x="67734" y="0"/>
                </a:lnTo>
                <a:lnTo>
                  <a:pt x="67734" y="38101"/>
                </a:lnTo>
                <a:lnTo>
                  <a:pt x="0" y="3810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Noto Sans CJK KR"/>
            </a:endParaRPr>
          </a:p>
        </p:txBody>
      </p:sp>
      <p:pic>
        <p:nvPicPr>
          <p:cNvPr id="61" name="" descr=""/>
          <p:cNvPicPr/>
          <p:nvPr/>
        </p:nvPicPr>
        <p:blipFill>
          <a:blip r:embed="rId1"/>
          <a:stretch/>
        </p:blipFill>
        <p:spPr>
          <a:xfrm>
            <a:off x="1487520" y="1314000"/>
            <a:ext cx="8314200" cy="11086200"/>
          </a:xfrm>
          <a:prstGeom prst="rect">
            <a:avLst/>
          </a:prstGeom>
          <a:ln w="0">
            <a:noFill/>
          </a:ln>
        </p:spPr>
      </p:pic>
      <p:pic>
        <p:nvPicPr>
          <p:cNvPr id="62" name="" descr=""/>
          <p:cNvPicPr/>
          <p:nvPr/>
        </p:nvPicPr>
        <p:blipFill>
          <a:blip r:embed="rId2"/>
          <a:stretch/>
        </p:blipFill>
        <p:spPr>
          <a:xfrm>
            <a:off x="9791640" y="-360"/>
            <a:ext cx="14591160" cy="5993280"/>
          </a:xfrm>
          <a:prstGeom prst="rect">
            <a:avLst/>
          </a:prstGeom>
          <a:ln w="0">
            <a:noFill/>
          </a:ln>
        </p:spPr>
      </p:pic>
      <p:sp>
        <p:nvSpPr>
          <p:cNvPr id="63" name=""/>
          <p:cNvSpPr txBox="1"/>
          <p:nvPr/>
        </p:nvSpPr>
        <p:spPr>
          <a:xfrm>
            <a:off x="10905840" y="2426040"/>
            <a:ext cx="5967360" cy="965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ko-KR" sz="5250" spc="-1" strike="noStrike">
                <a:solidFill>
                  <a:srgbClr val="ffffff"/>
                </a:solidFill>
                <a:latin typeface="Noto Sans CJK KR"/>
                <a:ea typeface="Noto Sans CJK KR"/>
              </a:rPr>
              <a:t>여러 현장에서 본 것을</a:t>
            </a:r>
            <a:endParaRPr b="0" lang="en-US" sz="52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10905840" y="3345840"/>
            <a:ext cx="5203800" cy="965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ko-KR" sz="5250" spc="-1" strike="noStrike">
                <a:solidFill>
                  <a:srgbClr val="ffffff"/>
                </a:solidFill>
                <a:latin typeface="Noto Sans CJK KR"/>
                <a:ea typeface="Noto Sans CJK KR"/>
              </a:rPr>
              <a:t>개발과 현장 양쪽에 씁니다</a:t>
            </a:r>
            <a:endParaRPr b="0" lang="en-US" sz="52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65" name=""/>
          <p:cNvSpPr txBox="1"/>
          <p:nvPr/>
        </p:nvSpPr>
        <p:spPr>
          <a:xfrm>
            <a:off x="10905840" y="6706440"/>
            <a:ext cx="1786680" cy="661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ko-KR" sz="360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현장 경력</a:t>
            </a:r>
            <a:endParaRPr b="0" lang="en-US" sz="3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66" name=""/>
          <p:cNvSpPr txBox="1"/>
          <p:nvPr/>
        </p:nvSpPr>
        <p:spPr>
          <a:xfrm rot="5400000">
            <a:off x="-210240" y="11847240"/>
            <a:ext cx="177804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260" spc="-1" strike="noStrike">
                <a:solidFill>
                  <a:srgbClr val="000000"/>
                </a:solidFill>
                <a:latin typeface="Noto Sans"/>
                <a:ea typeface="Noto Sans"/>
              </a:rPr>
              <a:t>  </a:t>
            </a:r>
            <a:r>
              <a:rPr b="0" lang="en-US" sz="2260" spc="-1" strike="noStrike">
                <a:solidFill>
                  <a:srgbClr val="000000"/>
                </a:solidFill>
                <a:latin typeface="Noto Sans"/>
                <a:ea typeface="Noto Sans"/>
              </a:rPr>
              <a:t>PORTFOLIO</a:t>
            </a:r>
            <a:endParaRPr b="0" lang="en-US" sz="226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67" name=""/>
          <p:cNvSpPr txBox="1"/>
          <p:nvPr/>
        </p:nvSpPr>
        <p:spPr>
          <a:xfrm rot="5400000">
            <a:off x="62640" y="1451520"/>
            <a:ext cx="129456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260" spc="-1" strike="noStrike">
                <a:solidFill>
                  <a:srgbClr val="000000"/>
                </a:solidFill>
                <a:latin typeface="Noto Sans"/>
                <a:ea typeface="Noto Sans"/>
              </a:rPr>
              <a:t>Introduce</a:t>
            </a:r>
            <a:endParaRPr b="0" lang="en-US" sz="226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10858320" y="7454160"/>
            <a:ext cx="12564720" cy="497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ko-KR" sz="270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냉동설비 설계부터 반도체 설비 보전</a:t>
            </a:r>
            <a:r>
              <a:rPr b="0" lang="en-US" sz="2700" spc="-1" strike="noStrike">
                <a:solidFill>
                  <a:srgbClr val="202020"/>
                </a:solidFill>
                <a:latin typeface="Noto Sans"/>
                <a:ea typeface="Noto Sans"/>
              </a:rPr>
              <a:t> </a:t>
            </a:r>
            <a:r>
              <a:rPr b="0" lang="en-US" sz="2700" spc="-1" strike="noStrike">
                <a:solidFill>
                  <a:srgbClr val="202020"/>
                </a:solidFill>
                <a:latin typeface="Noto Sans"/>
                <a:ea typeface="Noto Sans"/>
              </a:rPr>
              <a:t>, NRD </a:t>
            </a:r>
            <a:r>
              <a:rPr b="0" lang="en-US" sz="270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 </a:t>
            </a:r>
            <a:r>
              <a:rPr b="0" lang="ko-KR" sz="270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물류로봇 유지보수</a:t>
            </a:r>
            <a:r>
              <a:rPr b="0" lang="en-US" sz="2700" spc="-1" strike="noStrike">
                <a:solidFill>
                  <a:srgbClr val="202020"/>
                </a:solidFill>
                <a:latin typeface="Noto Sans"/>
                <a:ea typeface="Noto Sans"/>
              </a:rPr>
              <a:t> </a:t>
            </a:r>
            <a:r>
              <a:rPr b="0" lang="en-US" sz="2700" spc="-1" strike="noStrike">
                <a:solidFill>
                  <a:srgbClr val="202020"/>
                </a:solidFill>
                <a:latin typeface="Noto Sans"/>
                <a:ea typeface="Noto Sans"/>
              </a:rPr>
              <a:t>, </a:t>
            </a:r>
            <a:r>
              <a:rPr b="0" lang="en-US" sz="270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 </a:t>
            </a:r>
            <a:r>
              <a:rPr b="0" lang="ko-KR" sz="270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평택 셋업 </a:t>
            </a:r>
            <a:r>
              <a:rPr b="0" lang="en-US" sz="2700" spc="-1" strike="noStrike">
                <a:solidFill>
                  <a:srgbClr val="202020"/>
                </a:solidFill>
                <a:latin typeface="Noto Sans"/>
                <a:ea typeface="Noto Sans"/>
              </a:rPr>
              <a:t> </a:t>
            </a:r>
            <a:r>
              <a:rPr b="0" lang="en-US" sz="2700" spc="-1" strike="noStrike">
                <a:solidFill>
                  <a:srgbClr val="202020"/>
                </a:solidFill>
                <a:latin typeface="Noto Sans"/>
                <a:ea typeface="Noto Sans"/>
              </a:rPr>
              <a:t>PM</a:t>
            </a:r>
            <a:r>
              <a:rPr b="0" lang="en-US" sz="270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 </a:t>
            </a:r>
            <a:r>
              <a:rPr b="0" lang="ko-KR" sz="270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까지 </a:t>
            </a:r>
            <a:endParaRPr b="0" lang="en-US" sz="27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10858320" y="7927560"/>
            <a:ext cx="11608920" cy="497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ko-KR" sz="270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했습니다</a:t>
            </a:r>
            <a:r>
              <a:rPr b="0" lang="en-US" sz="2700" spc="-1" strike="noStrike">
                <a:solidFill>
                  <a:srgbClr val="202020"/>
                </a:solidFill>
                <a:latin typeface="Noto Sans"/>
                <a:ea typeface="Noto Sans"/>
              </a:rPr>
              <a:t> </a:t>
            </a:r>
            <a:r>
              <a:rPr b="0" lang="en-US" sz="2700" spc="-1" strike="noStrike">
                <a:solidFill>
                  <a:srgbClr val="202020"/>
                </a:solidFill>
                <a:latin typeface="Noto Sans"/>
                <a:ea typeface="Noto Sans"/>
              </a:rPr>
              <a:t>. </a:t>
            </a:r>
            <a:r>
              <a:rPr b="0" lang="en-US" sz="270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 </a:t>
            </a:r>
            <a:r>
              <a:rPr b="0" lang="ko-KR" sz="270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같은 설비를 여러 입장에서 보면서 원인을 넓게 보는 눈이 생겼습니다</a:t>
            </a:r>
            <a:r>
              <a:rPr b="0" lang="en-US" sz="2700" spc="-1" strike="noStrike">
                <a:solidFill>
                  <a:srgbClr val="202020"/>
                </a:solidFill>
                <a:latin typeface="Noto Sans"/>
                <a:ea typeface="Noto Sans"/>
              </a:rPr>
              <a:t> </a:t>
            </a:r>
            <a:r>
              <a:rPr b="0" lang="en-US" sz="2700" spc="-1" strike="noStrike">
                <a:solidFill>
                  <a:srgbClr val="202020"/>
                </a:solidFill>
                <a:latin typeface="Noto Sans"/>
                <a:ea typeface="Noto Sans"/>
              </a:rPr>
              <a:t>.</a:t>
            </a:r>
            <a:endParaRPr b="0" lang="en-US" sz="27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10909440" y="9265680"/>
            <a:ext cx="2628000" cy="661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ko-KR" sz="360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개발 프로젝트</a:t>
            </a:r>
            <a:endParaRPr b="0" lang="en-US" sz="3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10858320" y="9978120"/>
            <a:ext cx="12837960" cy="497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ko-KR" sz="270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지금은 공장자동화 팀 프로젝트에서 </a:t>
            </a:r>
            <a:r>
              <a:rPr b="0" lang="en-US" sz="2700" spc="-1" strike="noStrike">
                <a:solidFill>
                  <a:srgbClr val="202020"/>
                </a:solidFill>
                <a:latin typeface="Noto Sans"/>
                <a:ea typeface="Noto Sans"/>
              </a:rPr>
              <a:t> </a:t>
            </a:r>
            <a:r>
              <a:rPr b="0" lang="en-US" sz="2700" spc="-1" strike="noStrike">
                <a:solidFill>
                  <a:srgbClr val="202020"/>
                </a:solidFill>
                <a:latin typeface="Noto Sans"/>
                <a:ea typeface="Noto Sans"/>
              </a:rPr>
              <a:t>AMR 2</a:t>
            </a:r>
            <a:r>
              <a:rPr b="0" lang="en-US" sz="270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 </a:t>
            </a:r>
            <a:r>
              <a:rPr b="0" lang="ko-KR" sz="270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대의 주행과 마커 도킹을 맡고 있습니다</a:t>
            </a:r>
            <a:r>
              <a:rPr b="0" lang="en-US" sz="2700" spc="-1" strike="noStrike">
                <a:solidFill>
                  <a:srgbClr val="202020"/>
                </a:solidFill>
                <a:latin typeface="Noto Sans"/>
                <a:ea typeface="Noto Sans"/>
              </a:rPr>
              <a:t> </a:t>
            </a:r>
            <a:r>
              <a:rPr b="0" lang="en-US" sz="2700" spc="-1" strike="noStrike">
                <a:solidFill>
                  <a:srgbClr val="202020"/>
                </a:solidFill>
                <a:latin typeface="Noto Sans"/>
                <a:ea typeface="Noto Sans"/>
              </a:rPr>
              <a:t>. </a:t>
            </a:r>
            <a:r>
              <a:rPr b="0" lang="en-US" sz="270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 </a:t>
            </a:r>
            <a:r>
              <a:rPr b="0" lang="ko-KR" sz="270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그 </a:t>
            </a:r>
            <a:endParaRPr b="0" lang="en-US" sz="27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10858320" y="10451520"/>
            <a:ext cx="9357480" cy="497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ko-KR" sz="270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전에는 </a:t>
            </a:r>
            <a:r>
              <a:rPr b="0" lang="en-US" sz="2700" spc="-1" strike="noStrike">
                <a:solidFill>
                  <a:srgbClr val="202020"/>
                </a:solidFill>
                <a:latin typeface="Noto Sans"/>
                <a:ea typeface="Noto Sans"/>
              </a:rPr>
              <a:t> </a:t>
            </a:r>
            <a:r>
              <a:rPr b="0" lang="en-US" sz="2700" spc="-1" strike="noStrike">
                <a:solidFill>
                  <a:srgbClr val="202020"/>
                </a:solidFill>
                <a:latin typeface="Noto Sans"/>
                <a:ea typeface="Noto Sans"/>
              </a:rPr>
              <a:t>YOLO </a:t>
            </a:r>
            <a:r>
              <a:rPr b="0" lang="en-US" sz="270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 </a:t>
            </a:r>
            <a:r>
              <a:rPr b="0" lang="ko-KR" sz="270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안전 감지와 </a:t>
            </a:r>
            <a:r>
              <a:rPr b="0" lang="en-US" sz="2700" spc="-1" strike="noStrike">
                <a:solidFill>
                  <a:srgbClr val="202020"/>
                </a:solidFill>
                <a:latin typeface="Noto Sans"/>
                <a:ea typeface="Noto Sans"/>
              </a:rPr>
              <a:t> </a:t>
            </a:r>
            <a:r>
              <a:rPr b="0" lang="en-US" sz="2700" spc="-1" strike="noStrike">
                <a:solidFill>
                  <a:srgbClr val="202020"/>
                </a:solidFill>
                <a:latin typeface="Noto Sans"/>
                <a:ea typeface="Noto Sans"/>
              </a:rPr>
              <a:t>STM32 </a:t>
            </a:r>
            <a:r>
              <a:rPr b="0" lang="en-US" sz="270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 </a:t>
            </a:r>
            <a:r>
              <a:rPr b="0" lang="ko-KR" sz="270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로봇 팔을 만들었습니다</a:t>
            </a:r>
            <a:r>
              <a:rPr b="0" lang="en-US" sz="2700" spc="-1" strike="noStrike">
                <a:solidFill>
                  <a:srgbClr val="202020"/>
                </a:solidFill>
                <a:latin typeface="Noto Sans"/>
                <a:ea typeface="Noto Sans"/>
              </a:rPr>
              <a:t> </a:t>
            </a:r>
            <a:r>
              <a:rPr b="0" lang="en-US" sz="2700" spc="-1" strike="noStrike">
                <a:solidFill>
                  <a:srgbClr val="202020"/>
                </a:solidFill>
                <a:latin typeface="Noto Sans"/>
                <a:ea typeface="Noto Sans"/>
              </a:rPr>
              <a:t>.</a:t>
            </a:r>
            <a:endParaRPr b="0" lang="en-US" sz="27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10909440" y="11513520"/>
            <a:ext cx="1786680" cy="661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ko-KR" sz="360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협업 방식</a:t>
            </a:r>
            <a:endParaRPr b="0" lang="en-US" sz="3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10858320" y="12448080"/>
            <a:ext cx="12969000" cy="454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ko-KR" sz="247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담당 기능의 입출력 조건과 오류 상황을 확인하고 공유합니다</a:t>
            </a:r>
            <a:r>
              <a:rPr b="0" lang="en-US" sz="2470" spc="-1" strike="noStrike">
                <a:solidFill>
                  <a:srgbClr val="202020"/>
                </a:solidFill>
                <a:latin typeface="Noto Sans"/>
                <a:ea typeface="Noto Sans"/>
              </a:rPr>
              <a:t> </a:t>
            </a:r>
            <a:r>
              <a:rPr b="0" lang="en-US" sz="2470" spc="-1" strike="noStrike">
                <a:solidFill>
                  <a:srgbClr val="202020"/>
                </a:solidFill>
                <a:latin typeface="Noto Sans"/>
                <a:ea typeface="Noto Sans"/>
              </a:rPr>
              <a:t>. </a:t>
            </a:r>
            <a:r>
              <a:rPr b="0" lang="en-US" sz="247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 </a:t>
            </a:r>
            <a:r>
              <a:rPr b="0" lang="ko-KR" sz="247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점검 순서와 조치 내용을 기록해 팀의 </a:t>
            </a:r>
            <a:endParaRPr b="0" lang="en-US" sz="247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10858320" y="12880440"/>
            <a:ext cx="3279960" cy="454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ko-KR" sz="247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다음 대응에 활용합니다</a:t>
            </a:r>
            <a:r>
              <a:rPr b="0" lang="en-US" sz="2470" spc="-1" strike="noStrike">
                <a:solidFill>
                  <a:srgbClr val="202020"/>
                </a:solidFill>
                <a:latin typeface="Noto Sans"/>
                <a:ea typeface="Noto Sans"/>
              </a:rPr>
              <a:t> </a:t>
            </a:r>
            <a:r>
              <a:rPr b="0" lang="en-US" sz="2470" spc="-1" strike="noStrike">
                <a:solidFill>
                  <a:srgbClr val="202020"/>
                </a:solidFill>
                <a:latin typeface="Noto Sans"/>
                <a:ea typeface="Noto Sans"/>
              </a:rPr>
              <a:t>.</a:t>
            </a:r>
            <a:endParaRPr b="0" lang="en-US" sz="247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"/>
          <p:cNvSpPr/>
          <p:nvPr/>
        </p:nvSpPr>
        <p:spPr>
          <a:xfrm>
            <a:off x="0" y="0"/>
            <a:ext cx="24383520" cy="13716000"/>
          </a:xfrm>
          <a:custGeom>
            <a:avLst/>
            <a:gdLst/>
            <a:ahLst/>
            <a:rect l="0" t="0" r="r" b="b"/>
            <a:pathLst>
              <a:path w="67732" h="38100">
                <a:moveTo>
                  <a:pt x="0" y="0"/>
                </a:moveTo>
                <a:lnTo>
                  <a:pt x="67732" y="0"/>
                </a:lnTo>
                <a:lnTo>
                  <a:pt x="67732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77" name=""/>
          <p:cNvSpPr/>
          <p:nvPr/>
        </p:nvSpPr>
        <p:spPr>
          <a:xfrm>
            <a:off x="0" y="0"/>
            <a:ext cx="24384240" cy="13716360"/>
          </a:xfrm>
          <a:custGeom>
            <a:avLst/>
            <a:gdLst/>
            <a:ahLst/>
            <a:rect l="0" t="0" r="r" b="b"/>
            <a:pathLst>
              <a:path w="67734" h="38101">
                <a:moveTo>
                  <a:pt x="0" y="0"/>
                </a:moveTo>
                <a:lnTo>
                  <a:pt x="67734" y="0"/>
                </a:lnTo>
                <a:lnTo>
                  <a:pt x="67734" y="38101"/>
                </a:lnTo>
                <a:lnTo>
                  <a:pt x="0" y="3810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Noto Sans CJK KR"/>
            </a:endParaRPr>
          </a:p>
        </p:txBody>
      </p:sp>
      <p:pic>
        <p:nvPicPr>
          <p:cNvPr id="78" name="" descr=""/>
          <p:cNvPicPr/>
          <p:nvPr/>
        </p:nvPicPr>
        <p:blipFill>
          <a:blip r:embed="rId1"/>
          <a:stretch/>
        </p:blipFill>
        <p:spPr>
          <a:xfrm>
            <a:off x="1486080" y="-360"/>
            <a:ext cx="22897080" cy="6031440"/>
          </a:xfrm>
          <a:prstGeom prst="rect">
            <a:avLst/>
          </a:prstGeom>
          <a:ln w="0">
            <a:noFill/>
          </a:ln>
        </p:spPr>
      </p:pic>
      <p:pic>
        <p:nvPicPr>
          <p:cNvPr id="79" name="" descr=""/>
          <p:cNvPicPr/>
          <p:nvPr/>
        </p:nvPicPr>
        <p:blipFill>
          <a:blip r:embed="rId2"/>
          <a:stretch/>
        </p:blipFill>
        <p:spPr>
          <a:xfrm>
            <a:off x="12890520" y="6044760"/>
            <a:ext cx="5701320" cy="7669800"/>
          </a:xfrm>
          <a:prstGeom prst="rect">
            <a:avLst/>
          </a:prstGeom>
          <a:ln w="0">
            <a:noFill/>
          </a:ln>
        </p:spPr>
      </p:pic>
      <p:pic>
        <p:nvPicPr>
          <p:cNvPr id="80" name="" descr=""/>
          <p:cNvPicPr/>
          <p:nvPr/>
        </p:nvPicPr>
        <p:blipFill>
          <a:blip r:embed="rId3"/>
          <a:stretch/>
        </p:blipFill>
        <p:spPr>
          <a:xfrm>
            <a:off x="1486080" y="6044760"/>
            <a:ext cx="5701320" cy="7669800"/>
          </a:xfrm>
          <a:prstGeom prst="rect">
            <a:avLst/>
          </a:prstGeom>
          <a:ln w="0">
            <a:noFill/>
          </a:ln>
        </p:spPr>
      </p:pic>
      <p:pic>
        <p:nvPicPr>
          <p:cNvPr id="81" name="" descr=""/>
          <p:cNvPicPr/>
          <p:nvPr/>
        </p:nvPicPr>
        <p:blipFill>
          <a:blip r:embed="rId4"/>
          <a:stretch/>
        </p:blipFill>
        <p:spPr>
          <a:xfrm>
            <a:off x="1486080" y="8102160"/>
            <a:ext cx="22897080" cy="24480"/>
          </a:xfrm>
          <a:prstGeom prst="rect">
            <a:avLst/>
          </a:prstGeom>
          <a:ln w="0">
            <a:noFill/>
          </a:ln>
        </p:spPr>
      </p:pic>
      <p:pic>
        <p:nvPicPr>
          <p:cNvPr id="82" name="" descr=""/>
          <p:cNvPicPr/>
          <p:nvPr/>
        </p:nvPicPr>
        <p:blipFill>
          <a:blip r:embed="rId5"/>
          <a:stretch/>
        </p:blipFill>
        <p:spPr>
          <a:xfrm>
            <a:off x="7157160" y="5733720"/>
            <a:ext cx="24480" cy="8291880"/>
          </a:xfrm>
          <a:prstGeom prst="rect">
            <a:avLst/>
          </a:prstGeom>
          <a:ln w="0">
            <a:noFill/>
          </a:ln>
        </p:spPr>
      </p:pic>
      <p:pic>
        <p:nvPicPr>
          <p:cNvPr id="83" name="" descr=""/>
          <p:cNvPicPr/>
          <p:nvPr/>
        </p:nvPicPr>
        <p:blipFill>
          <a:blip r:embed="rId6"/>
          <a:stretch/>
        </p:blipFill>
        <p:spPr>
          <a:xfrm>
            <a:off x="2098800" y="7035120"/>
            <a:ext cx="24480" cy="5637600"/>
          </a:xfrm>
          <a:prstGeom prst="rect">
            <a:avLst/>
          </a:prstGeom>
          <a:ln w="0">
            <a:noFill/>
          </a:ln>
        </p:spPr>
      </p:pic>
      <p:pic>
        <p:nvPicPr>
          <p:cNvPr id="84" name="" descr=""/>
          <p:cNvPicPr/>
          <p:nvPr/>
        </p:nvPicPr>
        <p:blipFill>
          <a:blip r:embed="rId7"/>
          <a:stretch/>
        </p:blipFill>
        <p:spPr>
          <a:xfrm>
            <a:off x="12884760" y="5733720"/>
            <a:ext cx="24480" cy="8291880"/>
          </a:xfrm>
          <a:prstGeom prst="rect">
            <a:avLst/>
          </a:prstGeom>
          <a:ln w="0">
            <a:noFill/>
          </a:ln>
        </p:spPr>
      </p:pic>
      <p:pic>
        <p:nvPicPr>
          <p:cNvPr id="85" name="" descr=""/>
          <p:cNvPicPr/>
          <p:nvPr/>
        </p:nvPicPr>
        <p:blipFill>
          <a:blip r:embed="rId8"/>
          <a:stretch/>
        </p:blipFill>
        <p:spPr>
          <a:xfrm>
            <a:off x="18587160" y="5733720"/>
            <a:ext cx="24480" cy="8291880"/>
          </a:xfrm>
          <a:prstGeom prst="rect">
            <a:avLst/>
          </a:prstGeom>
          <a:ln w="0">
            <a:noFill/>
          </a:ln>
        </p:spPr>
      </p:pic>
      <p:sp>
        <p:nvSpPr>
          <p:cNvPr id="86" name=""/>
          <p:cNvSpPr txBox="1"/>
          <p:nvPr/>
        </p:nvSpPr>
        <p:spPr>
          <a:xfrm>
            <a:off x="2485800" y="1299600"/>
            <a:ext cx="3589920" cy="1077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ko-KR" sz="5850" spc="-1" strike="noStrike">
                <a:solidFill>
                  <a:srgbClr val="ffffff"/>
                </a:solidFill>
                <a:latin typeface="Noto Sans CJK KR"/>
                <a:ea typeface="Noto Sans CJK KR"/>
              </a:rPr>
              <a:t>현장 경험과</a:t>
            </a:r>
            <a:endParaRPr b="0" lang="en-US" sz="58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2485800" y="2324880"/>
            <a:ext cx="4443120" cy="1077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ko-KR" sz="5850" spc="-1" strike="noStrike">
                <a:solidFill>
                  <a:srgbClr val="ffffff"/>
                </a:solidFill>
                <a:latin typeface="Noto Sans CJK KR"/>
                <a:ea typeface="Noto Sans CJK KR"/>
              </a:rPr>
              <a:t>개발 학습 이력</a:t>
            </a:r>
            <a:endParaRPr b="0" lang="en-US" sz="58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88" name=""/>
          <p:cNvSpPr txBox="1"/>
          <p:nvPr/>
        </p:nvSpPr>
        <p:spPr>
          <a:xfrm>
            <a:off x="13791960" y="2467080"/>
            <a:ext cx="1014120" cy="516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3359" spc="-1" strike="noStrike">
                <a:solidFill>
                  <a:srgbClr val="ffffff"/>
                </a:solidFill>
                <a:latin typeface="Noto Sans"/>
                <a:ea typeface="Noto Sans"/>
              </a:rPr>
              <a:t>INFO</a:t>
            </a:r>
            <a:endParaRPr b="0" lang="en-US" sz="3359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15658920" y="2548440"/>
            <a:ext cx="1971360" cy="443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890" spc="-1" strike="noStrike">
                <a:solidFill>
                  <a:srgbClr val="ffffff"/>
                </a:solidFill>
                <a:latin typeface="Noto Sans"/>
                <a:ea typeface="Noto Sans"/>
              </a:rPr>
              <a:t>1994.03.09</a:t>
            </a:r>
            <a:endParaRPr b="0" lang="en-US" sz="289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15658920" y="3138840"/>
            <a:ext cx="1689480" cy="532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ko-KR" sz="2890" spc="-1" strike="noStrike">
                <a:solidFill>
                  <a:srgbClr val="ffffff"/>
                </a:solidFill>
                <a:latin typeface="Noto Sans CJK KR"/>
                <a:ea typeface="Noto Sans CJK KR"/>
              </a:rPr>
              <a:t>서울특별시</a:t>
            </a:r>
            <a:endParaRPr b="0" lang="en-US" sz="289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15658920" y="3729240"/>
            <a:ext cx="2768400" cy="443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890" spc="-1" strike="noStrike">
                <a:solidFill>
                  <a:srgbClr val="ffffff"/>
                </a:solidFill>
                <a:latin typeface="Noto Sans"/>
                <a:ea typeface="Noto Sans"/>
              </a:rPr>
              <a:t>010-6554-2989</a:t>
            </a:r>
            <a:endParaRPr b="0" lang="en-US" sz="289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92" name=""/>
          <p:cNvSpPr txBox="1"/>
          <p:nvPr/>
        </p:nvSpPr>
        <p:spPr>
          <a:xfrm>
            <a:off x="15658920" y="4319640"/>
            <a:ext cx="4126320" cy="443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890" spc="-1" strike="noStrike">
                <a:solidFill>
                  <a:srgbClr val="ffffff"/>
                </a:solidFill>
                <a:latin typeface="Noto Sans"/>
                <a:ea typeface="Noto Sans"/>
              </a:rPr>
              <a:t>etland6554@gmail.com</a:t>
            </a:r>
            <a:endParaRPr b="0" lang="en-US" sz="289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93" name=""/>
          <p:cNvSpPr txBox="1"/>
          <p:nvPr/>
        </p:nvSpPr>
        <p:spPr>
          <a:xfrm rot="5400000">
            <a:off x="-210240" y="11847240"/>
            <a:ext cx="177804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260" spc="-1" strike="noStrike">
                <a:solidFill>
                  <a:srgbClr val="000000"/>
                </a:solidFill>
                <a:latin typeface="Noto Sans"/>
                <a:ea typeface="Noto Sans"/>
              </a:rPr>
              <a:t>  </a:t>
            </a:r>
            <a:r>
              <a:rPr b="0" lang="en-US" sz="2260" spc="-1" strike="noStrike">
                <a:solidFill>
                  <a:srgbClr val="000000"/>
                </a:solidFill>
                <a:latin typeface="Noto Sans"/>
                <a:ea typeface="Noto Sans"/>
              </a:rPr>
              <a:t>PORTFOLIO</a:t>
            </a:r>
            <a:endParaRPr b="0" lang="en-US" sz="226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94" name=""/>
          <p:cNvSpPr txBox="1"/>
          <p:nvPr/>
        </p:nvSpPr>
        <p:spPr>
          <a:xfrm rot="5400000">
            <a:off x="250200" y="1263960"/>
            <a:ext cx="91980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260" spc="-1" strike="noStrike">
                <a:solidFill>
                  <a:srgbClr val="000000"/>
                </a:solidFill>
                <a:latin typeface="Noto Sans"/>
                <a:ea typeface="Noto Sans"/>
              </a:rPr>
              <a:t>Career</a:t>
            </a:r>
            <a:endParaRPr b="0" lang="en-US" sz="226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2488680" y="6836040"/>
            <a:ext cx="2526120" cy="516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3359" spc="-1" strike="noStrike">
                <a:solidFill>
                  <a:srgbClr val="000000"/>
                </a:solidFill>
                <a:latin typeface="Noto Sans"/>
                <a:ea typeface="Noto Sans"/>
              </a:rPr>
              <a:t>EDUCATION</a:t>
            </a:r>
            <a:endParaRPr b="0" lang="en-US" sz="3359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2476440" y="9160200"/>
            <a:ext cx="32896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ko-KR" sz="240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기계공학 학사과정 이수 중</a:t>
            </a:r>
            <a:endParaRPr b="0" lang="en-US" sz="2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2476440" y="9580680"/>
            <a:ext cx="334332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400" spc="-1" strike="noStrike">
                <a:solidFill>
                  <a:srgbClr val="202020"/>
                </a:solidFill>
                <a:latin typeface="Noto Sans"/>
                <a:ea typeface="Noto Sans"/>
              </a:rPr>
              <a:t>2027</a:t>
            </a:r>
            <a:r>
              <a:rPr b="0" lang="en-US" sz="240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 </a:t>
            </a:r>
            <a:r>
              <a:rPr b="0" lang="ko-KR" sz="240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년 하반기 취득 예정</a:t>
            </a:r>
            <a:endParaRPr b="0" lang="en-US" sz="2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2476440" y="10451520"/>
            <a:ext cx="2451240" cy="369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400" spc="-1" strike="noStrike">
                <a:solidFill>
                  <a:srgbClr val="202020"/>
                </a:solidFill>
                <a:latin typeface="Noto Sans"/>
                <a:ea typeface="Noto Sans"/>
              </a:rPr>
              <a:t>2013.03–2017.02</a:t>
            </a:r>
            <a:endParaRPr b="0" lang="en-US" sz="2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2476440" y="10872000"/>
            <a:ext cx="24012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ko-KR" sz="240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한국폴리텍</a:t>
            </a:r>
            <a:r>
              <a:rPr b="0" lang="en-US" sz="2400" spc="-1" strike="noStrike">
                <a:solidFill>
                  <a:srgbClr val="202020"/>
                </a:solidFill>
                <a:latin typeface="Noto Sans"/>
                <a:ea typeface="Noto Sans"/>
              </a:rPr>
              <a:t> </a:t>
            </a:r>
            <a:r>
              <a:rPr b="0" lang="en-US" sz="2400" spc="-1" strike="noStrike">
                <a:solidFill>
                  <a:srgbClr val="202020"/>
                </a:solidFill>
                <a:latin typeface="Noto Sans"/>
                <a:ea typeface="Noto Sans"/>
              </a:rPr>
              <a:t>1</a:t>
            </a:r>
            <a:r>
              <a:rPr b="0" lang="en-US" sz="240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 </a:t>
            </a:r>
            <a:r>
              <a:rPr b="0" lang="ko-KR" sz="240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대학</a:t>
            </a:r>
            <a:endParaRPr b="0" lang="en-US" sz="2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2476440" y="11292480"/>
            <a:ext cx="22438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ko-KR" sz="240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컴퓨터응용기계과</a:t>
            </a:r>
            <a:endParaRPr b="0" lang="en-US" sz="2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2476440" y="11712960"/>
            <a:ext cx="1416600" cy="369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400" spc="-1" strike="noStrike">
                <a:solidFill>
                  <a:srgbClr val="202020"/>
                </a:solidFill>
                <a:latin typeface="Noto Sans"/>
                <a:ea typeface="Noto Sans"/>
              </a:rPr>
              <a:t>4.09 / 4.5</a:t>
            </a:r>
            <a:endParaRPr b="0" lang="en-US" sz="2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02" name=""/>
          <p:cNvSpPr txBox="1"/>
          <p:nvPr/>
        </p:nvSpPr>
        <p:spPr>
          <a:xfrm>
            <a:off x="8140320" y="6836040"/>
            <a:ext cx="2611440" cy="516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3359" spc="-1" strike="noStrike">
                <a:solidFill>
                  <a:srgbClr val="000000"/>
                </a:solidFill>
                <a:latin typeface="Noto Sans"/>
                <a:ea typeface="Noto Sans"/>
              </a:rPr>
              <a:t>EXPERIENCE</a:t>
            </a:r>
            <a:endParaRPr b="0" lang="en-US" sz="3359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03" name=""/>
          <p:cNvSpPr txBox="1"/>
          <p:nvPr/>
        </p:nvSpPr>
        <p:spPr>
          <a:xfrm>
            <a:off x="8096040" y="9106200"/>
            <a:ext cx="383328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202020"/>
                </a:solidFill>
                <a:latin typeface="Noto Sans"/>
                <a:ea typeface="Noto Sans"/>
              </a:rPr>
              <a:t>2025.03–2026.03 </a:t>
            </a:r>
            <a:r>
              <a:rPr b="0" lang="en-US" sz="217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 </a:t>
            </a:r>
            <a:r>
              <a:rPr b="0" lang="ko-KR" sz="217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에스앤에스</a:t>
            </a:r>
            <a:endParaRPr b="0" lang="en-US" sz="217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04" name=""/>
          <p:cNvSpPr txBox="1"/>
          <p:nvPr/>
        </p:nvSpPr>
        <p:spPr>
          <a:xfrm>
            <a:off x="8096040" y="9486360"/>
            <a:ext cx="295848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ko-KR" sz="217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평택 셋업</a:t>
            </a:r>
            <a:r>
              <a:rPr b="0" lang="en-US" sz="2170" spc="-1" strike="noStrike">
                <a:solidFill>
                  <a:srgbClr val="202020"/>
                </a:solidFill>
                <a:latin typeface="Noto Sans"/>
                <a:ea typeface="Noto Sans"/>
              </a:rPr>
              <a:t> </a:t>
            </a:r>
            <a:r>
              <a:rPr b="0" lang="en-US" sz="2170" spc="-1" strike="noStrike">
                <a:solidFill>
                  <a:srgbClr val="202020"/>
                </a:solidFill>
                <a:latin typeface="Noto Sans"/>
                <a:ea typeface="Noto Sans"/>
              </a:rPr>
              <a:t>·PM·</a:t>
            </a:r>
            <a:r>
              <a:rPr b="0" lang="en-US" sz="217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 </a:t>
            </a:r>
            <a:r>
              <a:rPr b="0" lang="ko-KR" sz="217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유지보수</a:t>
            </a:r>
            <a:endParaRPr b="0" lang="en-US" sz="217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8096040" y="10316880"/>
            <a:ext cx="417312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202020"/>
                </a:solidFill>
                <a:latin typeface="Noto Sans"/>
                <a:ea typeface="Noto Sans"/>
              </a:rPr>
              <a:t>2023.10–2024.11 </a:t>
            </a:r>
            <a:r>
              <a:rPr b="0" lang="en-US" sz="217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 </a:t>
            </a:r>
            <a:r>
              <a:rPr b="0" lang="ko-KR" sz="217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에스에프시스템</a:t>
            </a:r>
            <a:endParaRPr b="0" lang="en-US" sz="217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8096040" y="10697040"/>
            <a:ext cx="315036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202020"/>
                </a:solidFill>
                <a:latin typeface="Noto Sans"/>
                <a:ea typeface="Noto Sans"/>
              </a:rPr>
              <a:t>NRD </a:t>
            </a:r>
            <a:r>
              <a:rPr b="0" lang="en-US" sz="217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 </a:t>
            </a:r>
            <a:r>
              <a:rPr b="0" lang="ko-KR" sz="217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물류자동화 유지보수</a:t>
            </a:r>
            <a:endParaRPr b="0" lang="en-US" sz="217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8096040" y="11527560"/>
            <a:ext cx="366552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202020"/>
                </a:solidFill>
                <a:latin typeface="Noto Sans"/>
                <a:ea typeface="Noto Sans"/>
              </a:rPr>
              <a:t>2020.01–2021.01 </a:t>
            </a:r>
            <a:r>
              <a:rPr b="0" lang="en-US" sz="217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 </a:t>
            </a:r>
            <a:r>
              <a:rPr b="0" lang="ko-KR" sz="217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동우화인켐</a:t>
            </a:r>
            <a:endParaRPr b="0" lang="en-US" sz="217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8096040" y="11907720"/>
            <a:ext cx="194688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ko-KR" sz="217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설비 운영</a:t>
            </a:r>
            <a:r>
              <a:rPr b="0" lang="en-US" sz="2170" spc="-1" strike="noStrike">
                <a:solidFill>
                  <a:srgbClr val="202020"/>
                </a:solidFill>
                <a:latin typeface="Noto Sans"/>
                <a:ea typeface="Noto Sans"/>
              </a:rPr>
              <a:t> </a:t>
            </a:r>
            <a:r>
              <a:rPr b="0" lang="en-US" sz="2170" spc="-1" strike="noStrike">
                <a:solidFill>
                  <a:srgbClr val="202020"/>
                </a:solidFill>
                <a:latin typeface="Noto Sans"/>
                <a:ea typeface="Noto Sans"/>
              </a:rPr>
              <a:t>·</a:t>
            </a:r>
            <a:r>
              <a:rPr b="0" lang="en-US" sz="217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 </a:t>
            </a:r>
            <a:r>
              <a:rPr b="0" lang="ko-KR" sz="217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보전</a:t>
            </a:r>
            <a:endParaRPr b="0" lang="en-US" sz="217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09" name=""/>
          <p:cNvSpPr txBox="1"/>
          <p:nvPr/>
        </p:nvSpPr>
        <p:spPr>
          <a:xfrm>
            <a:off x="8096040" y="12287880"/>
            <a:ext cx="372492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202020"/>
                </a:solidFill>
                <a:latin typeface="Noto Sans"/>
                <a:ea typeface="Noto Sans"/>
              </a:rPr>
              <a:t>2018.08–2019.03 </a:t>
            </a:r>
            <a:r>
              <a:rPr b="0" lang="en-US" sz="217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 </a:t>
            </a:r>
            <a:r>
              <a:rPr b="0" lang="ko-KR" sz="217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에이씨알텍</a:t>
            </a:r>
            <a:endParaRPr b="0" lang="en-US" sz="217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10" name=""/>
          <p:cNvSpPr txBox="1"/>
          <p:nvPr/>
        </p:nvSpPr>
        <p:spPr>
          <a:xfrm>
            <a:off x="8096040" y="12668040"/>
            <a:ext cx="152316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ko-KR" sz="217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공조냉동설계</a:t>
            </a:r>
            <a:endParaRPr b="0" lang="en-US" sz="217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11" name=""/>
          <p:cNvSpPr txBox="1"/>
          <p:nvPr/>
        </p:nvSpPr>
        <p:spPr>
          <a:xfrm>
            <a:off x="13791960" y="6836040"/>
            <a:ext cx="2035440" cy="516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3359" spc="-1" strike="noStrike">
                <a:solidFill>
                  <a:srgbClr val="000000"/>
                </a:solidFill>
                <a:latin typeface="Noto Sans"/>
                <a:ea typeface="Noto Sans"/>
              </a:rPr>
              <a:t>TRAINING</a:t>
            </a:r>
            <a:endParaRPr b="0" lang="en-US" sz="3359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12" name=""/>
          <p:cNvSpPr txBox="1"/>
          <p:nvPr/>
        </p:nvSpPr>
        <p:spPr>
          <a:xfrm>
            <a:off x="13811040" y="9160200"/>
            <a:ext cx="37454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400" spc="-1" strike="noStrike">
                <a:solidFill>
                  <a:srgbClr val="202020"/>
                </a:solidFill>
                <a:latin typeface="Noto Sans"/>
                <a:ea typeface="Noto Sans"/>
              </a:rPr>
              <a:t>2026.04–2026.11.09 </a:t>
            </a:r>
            <a:r>
              <a:rPr b="0" lang="en-US" sz="240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 </a:t>
            </a:r>
            <a:r>
              <a:rPr b="0" lang="ko-KR" sz="240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예정</a:t>
            </a:r>
            <a:endParaRPr b="0" lang="en-US" sz="2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13" name=""/>
          <p:cNvSpPr txBox="1"/>
          <p:nvPr/>
        </p:nvSpPr>
        <p:spPr>
          <a:xfrm>
            <a:off x="13811040" y="9580680"/>
            <a:ext cx="30506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400" spc="-1" strike="noStrike">
                <a:solidFill>
                  <a:srgbClr val="202020"/>
                </a:solidFill>
                <a:latin typeface="Noto Sans"/>
                <a:ea typeface="Noto Sans"/>
              </a:rPr>
              <a:t>AI</a:t>
            </a:r>
            <a:r>
              <a:rPr b="0" lang="en-US" sz="240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 </a:t>
            </a:r>
            <a:r>
              <a:rPr b="0" lang="ko-KR" sz="240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융합로봇 교육 </a:t>
            </a:r>
            <a:r>
              <a:rPr b="0" lang="en-US" sz="2400" spc="-1" strike="noStrike">
                <a:solidFill>
                  <a:srgbClr val="202020"/>
                </a:solidFill>
                <a:latin typeface="Noto Sans"/>
                <a:ea typeface="Noto Sans"/>
              </a:rPr>
              <a:t> </a:t>
            </a:r>
            <a:r>
              <a:rPr b="0" lang="en-US" sz="2400" spc="-1" strike="noStrike">
                <a:solidFill>
                  <a:srgbClr val="202020"/>
                </a:solidFill>
                <a:latin typeface="Noto Sans"/>
                <a:ea typeface="Noto Sans"/>
              </a:rPr>
              <a:t>3</a:t>
            </a:r>
            <a:r>
              <a:rPr b="0" lang="en-US" sz="240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 </a:t>
            </a:r>
            <a:r>
              <a:rPr b="0" lang="ko-KR" sz="240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기</a:t>
            </a:r>
            <a:endParaRPr b="0" lang="en-US" sz="2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14" name=""/>
          <p:cNvSpPr txBox="1"/>
          <p:nvPr/>
        </p:nvSpPr>
        <p:spPr>
          <a:xfrm>
            <a:off x="13811040" y="10001160"/>
            <a:ext cx="27972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ko-KR" sz="240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현재 교육 과정 이수 중</a:t>
            </a:r>
            <a:endParaRPr b="0" lang="en-US" sz="2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15" name=""/>
          <p:cNvSpPr txBox="1"/>
          <p:nvPr/>
        </p:nvSpPr>
        <p:spPr>
          <a:xfrm>
            <a:off x="13811040" y="10872000"/>
            <a:ext cx="45417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ko-KR" sz="240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최종 프로젝트</a:t>
            </a:r>
            <a:r>
              <a:rPr b="0" lang="en-US" sz="2400" spc="-1" strike="noStrike">
                <a:solidFill>
                  <a:srgbClr val="202020"/>
                </a:solidFill>
                <a:latin typeface="Noto Sans"/>
                <a:ea typeface="Noto Sans"/>
              </a:rPr>
              <a:t> </a:t>
            </a:r>
            <a:r>
              <a:rPr b="0" lang="en-US" sz="2400" spc="-1" strike="noStrike">
                <a:solidFill>
                  <a:srgbClr val="202020"/>
                </a:solidFill>
                <a:latin typeface="Noto Sans"/>
                <a:ea typeface="Noto Sans"/>
              </a:rPr>
              <a:t>: </a:t>
            </a:r>
            <a:r>
              <a:rPr b="0" lang="en-US" sz="240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 </a:t>
            </a:r>
            <a:r>
              <a:rPr b="0" lang="ko-KR" sz="240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공장자동화 </a:t>
            </a:r>
            <a:r>
              <a:rPr b="0" lang="en-US" sz="2400" spc="-1" strike="noStrike">
                <a:solidFill>
                  <a:srgbClr val="202020"/>
                </a:solidFill>
                <a:latin typeface="Noto Sans"/>
                <a:ea typeface="Noto Sans"/>
              </a:rPr>
              <a:t> </a:t>
            </a:r>
            <a:r>
              <a:rPr b="0" lang="en-US" sz="2400" spc="-1" strike="noStrike">
                <a:solidFill>
                  <a:srgbClr val="202020"/>
                </a:solidFill>
                <a:latin typeface="Noto Sans"/>
                <a:ea typeface="Noto Sans"/>
              </a:rPr>
              <a:t>AMR</a:t>
            </a:r>
            <a:endParaRPr b="0" lang="en-US" sz="2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16" name=""/>
          <p:cNvSpPr txBox="1"/>
          <p:nvPr/>
        </p:nvSpPr>
        <p:spPr>
          <a:xfrm>
            <a:off x="13811040" y="11292480"/>
            <a:ext cx="32727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ko-KR" sz="240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비전</a:t>
            </a:r>
            <a:r>
              <a:rPr b="0" lang="en-US" sz="2400" spc="-1" strike="noStrike">
                <a:solidFill>
                  <a:srgbClr val="202020"/>
                </a:solidFill>
                <a:latin typeface="Noto Sans"/>
                <a:ea typeface="Noto Sans"/>
              </a:rPr>
              <a:t> </a:t>
            </a:r>
            <a:r>
              <a:rPr b="0" lang="en-US" sz="2400" spc="-1" strike="noStrike">
                <a:solidFill>
                  <a:srgbClr val="202020"/>
                </a:solidFill>
                <a:latin typeface="Noto Sans"/>
                <a:ea typeface="Noto Sans"/>
              </a:rPr>
              <a:t>·</a:t>
            </a:r>
            <a:r>
              <a:rPr b="0" lang="en-US" sz="240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 </a:t>
            </a:r>
            <a:r>
              <a:rPr b="0" lang="ko-KR" sz="240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임베디드 프로젝트</a:t>
            </a:r>
            <a:endParaRPr b="0" lang="en-US" sz="2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17" name=""/>
          <p:cNvSpPr txBox="1"/>
          <p:nvPr/>
        </p:nvSpPr>
        <p:spPr>
          <a:xfrm>
            <a:off x="13811040" y="11712960"/>
            <a:ext cx="34254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400" spc="-1" strike="noStrike">
                <a:solidFill>
                  <a:srgbClr val="202020"/>
                </a:solidFill>
                <a:latin typeface="Noto Sans"/>
                <a:ea typeface="Noto Sans"/>
              </a:rPr>
              <a:t>PLC </a:t>
            </a:r>
            <a:r>
              <a:rPr b="0" lang="en-US" sz="240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 </a:t>
            </a:r>
            <a:r>
              <a:rPr b="0" lang="ko-KR" sz="240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공장자동화 프로젝트</a:t>
            </a:r>
            <a:endParaRPr b="0" lang="en-US" sz="2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18" name=""/>
          <p:cNvSpPr txBox="1"/>
          <p:nvPr/>
        </p:nvSpPr>
        <p:spPr>
          <a:xfrm>
            <a:off x="19506960" y="6836040"/>
            <a:ext cx="2737800" cy="516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3359" spc="-1" strike="noStrike">
                <a:solidFill>
                  <a:srgbClr val="000000"/>
                </a:solidFill>
                <a:latin typeface="Noto Sans"/>
                <a:ea typeface="Noto Sans"/>
              </a:rPr>
              <a:t>CERTIFICATE</a:t>
            </a:r>
            <a:endParaRPr b="0" lang="en-US" sz="3359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19" name=""/>
          <p:cNvSpPr txBox="1"/>
          <p:nvPr/>
        </p:nvSpPr>
        <p:spPr>
          <a:xfrm>
            <a:off x="19506960" y="9138240"/>
            <a:ext cx="3300120" cy="472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ko-KR" sz="2570" spc="-1" strike="noStrike">
                <a:solidFill>
                  <a:srgbClr val="000000"/>
                </a:solidFill>
                <a:latin typeface="Noto Sans CJK KR"/>
                <a:ea typeface="Noto Sans CJK KR"/>
              </a:rPr>
              <a:t>컴퓨터응용가공산업기사</a:t>
            </a:r>
            <a:endParaRPr b="0" lang="en-US" sz="257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0" name=""/>
          <p:cNvSpPr txBox="1"/>
          <p:nvPr/>
        </p:nvSpPr>
        <p:spPr>
          <a:xfrm>
            <a:off x="19506960" y="9588600"/>
            <a:ext cx="146232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570" spc="-1" strike="noStrike">
                <a:solidFill>
                  <a:srgbClr val="000000"/>
                </a:solidFill>
                <a:latin typeface="Noto Sans"/>
                <a:ea typeface="Noto Sans"/>
              </a:rPr>
              <a:t>(2016.07)</a:t>
            </a:r>
            <a:endParaRPr b="0" lang="en-US" sz="257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1" name=""/>
          <p:cNvSpPr txBox="1"/>
          <p:nvPr/>
        </p:nvSpPr>
        <p:spPr>
          <a:xfrm>
            <a:off x="19506960" y="10489320"/>
            <a:ext cx="274248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570" spc="-1" strike="noStrike">
                <a:solidFill>
                  <a:srgbClr val="000000"/>
                </a:solidFill>
                <a:latin typeface="Noto Sans"/>
                <a:ea typeface="Noto Sans"/>
              </a:rPr>
              <a:t>UG NX · AutoCAD</a:t>
            </a:r>
            <a:endParaRPr b="0" lang="en-US" sz="257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2" name=""/>
          <p:cNvSpPr txBox="1"/>
          <p:nvPr/>
        </p:nvSpPr>
        <p:spPr>
          <a:xfrm>
            <a:off x="19506960" y="10939680"/>
            <a:ext cx="258408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570" spc="-1" strike="noStrike">
                <a:solidFill>
                  <a:srgbClr val="000000"/>
                </a:solidFill>
                <a:latin typeface="Noto Sans"/>
                <a:ea typeface="Noto Sans"/>
              </a:rPr>
              <a:t>PowerMILL CAM</a:t>
            </a:r>
            <a:endParaRPr b="0" lang="en-US" sz="257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3" name=""/>
          <p:cNvSpPr txBox="1"/>
          <p:nvPr/>
        </p:nvSpPr>
        <p:spPr>
          <a:xfrm>
            <a:off x="19506960" y="11390040"/>
            <a:ext cx="2901960" cy="472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ko-KR" sz="2570" spc="-1" strike="noStrike">
                <a:solidFill>
                  <a:srgbClr val="000000"/>
                </a:solidFill>
                <a:latin typeface="Noto Sans CJK KR"/>
                <a:ea typeface="Noto Sans CJK KR"/>
              </a:rPr>
              <a:t>기계설계</a:t>
            </a:r>
            <a:r>
              <a:rPr b="0" lang="en-US" sz="2570" spc="-1" strike="noStrike">
                <a:solidFill>
                  <a:srgbClr val="000000"/>
                </a:solidFill>
                <a:latin typeface="Noto Sans"/>
                <a:ea typeface="Noto Sans"/>
              </a:rPr>
              <a:t> </a:t>
            </a:r>
            <a:r>
              <a:rPr b="0" lang="en-US" sz="2570" spc="-1" strike="noStrike">
                <a:solidFill>
                  <a:srgbClr val="000000"/>
                </a:solidFill>
                <a:latin typeface="Noto Sans"/>
                <a:ea typeface="Noto Sans"/>
              </a:rPr>
              <a:t>·</a:t>
            </a:r>
            <a:r>
              <a:rPr b="0" lang="en-US" sz="2570" spc="-1" strike="noStrike">
                <a:solidFill>
                  <a:srgbClr val="000000"/>
                </a:solidFill>
                <a:latin typeface="Noto Sans CJK KR"/>
                <a:ea typeface="Noto Sans CJK KR"/>
              </a:rPr>
              <a:t> </a:t>
            </a:r>
            <a:r>
              <a:rPr b="0" lang="ko-KR" sz="2570" spc="-1" strike="noStrike">
                <a:solidFill>
                  <a:srgbClr val="000000"/>
                </a:solidFill>
                <a:latin typeface="Noto Sans CJK KR"/>
                <a:ea typeface="Noto Sans CJK KR"/>
              </a:rPr>
              <a:t>가공 기반</a:t>
            </a:r>
            <a:endParaRPr b="0" lang="en-US" sz="257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"/>
          <p:cNvSpPr/>
          <p:nvPr/>
        </p:nvSpPr>
        <p:spPr>
          <a:xfrm>
            <a:off x="0" y="0"/>
            <a:ext cx="24383520" cy="13716000"/>
          </a:xfrm>
          <a:custGeom>
            <a:avLst/>
            <a:gdLst/>
            <a:ahLst/>
            <a:rect l="0" t="0" r="r" b="b"/>
            <a:pathLst>
              <a:path w="67732" h="38100">
                <a:moveTo>
                  <a:pt x="0" y="0"/>
                </a:moveTo>
                <a:lnTo>
                  <a:pt x="67732" y="0"/>
                </a:lnTo>
                <a:lnTo>
                  <a:pt x="67732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5" name=""/>
          <p:cNvSpPr/>
          <p:nvPr/>
        </p:nvSpPr>
        <p:spPr>
          <a:xfrm>
            <a:off x="0" y="0"/>
            <a:ext cx="24384240" cy="13716360"/>
          </a:xfrm>
          <a:custGeom>
            <a:avLst/>
            <a:gdLst/>
            <a:ahLst/>
            <a:rect l="0" t="0" r="r" b="b"/>
            <a:pathLst>
              <a:path w="67734" h="38101">
                <a:moveTo>
                  <a:pt x="0" y="0"/>
                </a:moveTo>
                <a:lnTo>
                  <a:pt x="67734" y="0"/>
                </a:lnTo>
                <a:lnTo>
                  <a:pt x="67734" y="38101"/>
                </a:lnTo>
                <a:lnTo>
                  <a:pt x="0" y="3810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Noto Sans CJK KR"/>
            </a:endParaRPr>
          </a:p>
        </p:txBody>
      </p:sp>
      <p:pic>
        <p:nvPicPr>
          <p:cNvPr id="126" name="" descr=""/>
          <p:cNvPicPr/>
          <p:nvPr/>
        </p:nvPicPr>
        <p:blipFill>
          <a:blip r:embed="rId1"/>
          <a:stretch/>
        </p:blipFill>
        <p:spPr>
          <a:xfrm>
            <a:off x="1486080" y="8965800"/>
            <a:ext cx="11454480" cy="4748760"/>
          </a:xfrm>
          <a:prstGeom prst="rect">
            <a:avLst/>
          </a:prstGeom>
          <a:ln w="0">
            <a:noFill/>
          </a:ln>
        </p:spPr>
      </p:pic>
      <p:pic>
        <p:nvPicPr>
          <p:cNvPr id="127" name="" descr=""/>
          <p:cNvPicPr/>
          <p:nvPr/>
        </p:nvPicPr>
        <p:blipFill>
          <a:blip r:embed="rId2"/>
          <a:stretch/>
        </p:blipFill>
        <p:spPr>
          <a:xfrm>
            <a:off x="12928680" y="4101840"/>
            <a:ext cx="11454480" cy="4862880"/>
          </a:xfrm>
          <a:prstGeom prst="rect">
            <a:avLst/>
          </a:prstGeom>
          <a:ln w="0">
            <a:noFill/>
          </a:ln>
        </p:spPr>
      </p:pic>
      <p:pic>
        <p:nvPicPr>
          <p:cNvPr id="128" name="" descr=""/>
          <p:cNvPicPr/>
          <p:nvPr/>
        </p:nvPicPr>
        <p:blipFill>
          <a:blip r:embed="rId3"/>
          <a:stretch/>
        </p:blipFill>
        <p:spPr>
          <a:xfrm>
            <a:off x="0" y="-360"/>
            <a:ext cx="1485000" cy="13714920"/>
          </a:xfrm>
          <a:prstGeom prst="rect">
            <a:avLst/>
          </a:prstGeom>
          <a:ln w="0">
            <a:noFill/>
          </a:ln>
        </p:spPr>
      </p:pic>
      <p:pic>
        <p:nvPicPr>
          <p:cNvPr id="129" name="" descr=""/>
          <p:cNvPicPr/>
          <p:nvPr/>
        </p:nvPicPr>
        <p:blipFill>
          <a:blip r:embed="rId4"/>
          <a:stretch/>
        </p:blipFill>
        <p:spPr>
          <a:xfrm>
            <a:off x="12928680" y="4101840"/>
            <a:ext cx="24480" cy="10031760"/>
          </a:xfrm>
          <a:prstGeom prst="rect">
            <a:avLst/>
          </a:prstGeom>
          <a:ln w="0">
            <a:noFill/>
          </a:ln>
        </p:spPr>
      </p:pic>
      <p:pic>
        <p:nvPicPr>
          <p:cNvPr id="130" name="" descr=""/>
          <p:cNvPicPr/>
          <p:nvPr/>
        </p:nvPicPr>
        <p:blipFill>
          <a:blip r:embed="rId5"/>
          <a:stretch/>
        </p:blipFill>
        <p:spPr>
          <a:xfrm>
            <a:off x="1486080" y="4101840"/>
            <a:ext cx="22897080" cy="24480"/>
          </a:xfrm>
          <a:prstGeom prst="rect">
            <a:avLst/>
          </a:prstGeom>
          <a:ln w="0">
            <a:noFill/>
          </a:ln>
        </p:spPr>
      </p:pic>
      <p:pic>
        <p:nvPicPr>
          <p:cNvPr id="131" name="" descr=""/>
          <p:cNvPicPr/>
          <p:nvPr/>
        </p:nvPicPr>
        <p:blipFill>
          <a:blip r:embed="rId6"/>
          <a:stretch/>
        </p:blipFill>
        <p:spPr>
          <a:xfrm>
            <a:off x="1486080" y="8965800"/>
            <a:ext cx="22897080" cy="24480"/>
          </a:xfrm>
          <a:prstGeom prst="rect">
            <a:avLst/>
          </a:prstGeom>
          <a:ln w="0">
            <a:noFill/>
          </a:ln>
        </p:spPr>
      </p:pic>
      <p:sp>
        <p:nvSpPr>
          <p:cNvPr id="132" name=""/>
          <p:cNvSpPr txBox="1"/>
          <p:nvPr/>
        </p:nvSpPr>
        <p:spPr>
          <a:xfrm rot="5400000">
            <a:off x="-281160" y="2086200"/>
            <a:ext cx="2007720" cy="31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020" spc="-1" strike="noStrike">
                <a:solidFill>
                  <a:srgbClr val="ffffff"/>
                </a:solidFill>
                <a:latin typeface="Noto Sans"/>
                <a:ea typeface="Noto Sans"/>
              </a:rPr>
              <a:t>Field Experience</a:t>
            </a:r>
            <a:endParaRPr b="0" lang="en-US" sz="202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33" name=""/>
          <p:cNvSpPr txBox="1"/>
          <p:nvPr/>
        </p:nvSpPr>
        <p:spPr>
          <a:xfrm>
            <a:off x="466560" y="12484800"/>
            <a:ext cx="307080" cy="30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ffffff"/>
                </a:solidFill>
                <a:latin typeface="Noto Sans"/>
                <a:ea typeface="Noto Sans"/>
              </a:rPr>
              <a:t>05</a:t>
            </a:r>
            <a:endParaRPr b="0" lang="en-US" sz="19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34" name=""/>
          <p:cNvSpPr txBox="1"/>
          <p:nvPr/>
        </p:nvSpPr>
        <p:spPr>
          <a:xfrm>
            <a:off x="2571840" y="1088640"/>
            <a:ext cx="9981360" cy="1049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ko-KR" sz="570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물류자동화 설비의 반복 오류 대응</a:t>
            </a:r>
            <a:endParaRPr b="0" lang="en-US" sz="57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35" name=""/>
          <p:cNvSpPr txBox="1"/>
          <p:nvPr/>
        </p:nvSpPr>
        <p:spPr>
          <a:xfrm>
            <a:off x="2619000" y="2582640"/>
            <a:ext cx="7646040" cy="51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ko-KR" sz="2780" spc="-1" strike="noStrike">
                <a:solidFill>
                  <a:srgbClr val="555555"/>
                </a:solidFill>
                <a:latin typeface="Noto Sans CJK KR"/>
                <a:ea typeface="Noto Sans CJK KR"/>
              </a:rPr>
              <a:t>에스에프시스템 소속 </a:t>
            </a:r>
            <a:r>
              <a:rPr b="0" lang="en-US" sz="2780" spc="-1" strike="noStrike">
                <a:solidFill>
                  <a:srgbClr val="555555"/>
                </a:solidFill>
                <a:latin typeface="Noto Sans"/>
                <a:ea typeface="Noto Sans"/>
              </a:rPr>
              <a:t> </a:t>
            </a:r>
            <a:r>
              <a:rPr b="0" lang="en-US" sz="2780" spc="-1" strike="noStrike">
                <a:solidFill>
                  <a:srgbClr val="555555"/>
                </a:solidFill>
                <a:latin typeface="Noto Sans"/>
                <a:ea typeface="Noto Sans"/>
              </a:rPr>
              <a:t>/ </a:t>
            </a:r>
            <a:r>
              <a:rPr b="0" lang="en-US" sz="2780" spc="-1" strike="noStrike">
                <a:solidFill>
                  <a:srgbClr val="555555"/>
                </a:solidFill>
                <a:latin typeface="Noto Sans CJK KR"/>
                <a:ea typeface="Noto Sans CJK KR"/>
              </a:rPr>
              <a:t> </a:t>
            </a:r>
            <a:r>
              <a:rPr b="0" lang="ko-KR" sz="2780" spc="-1" strike="noStrike">
                <a:solidFill>
                  <a:srgbClr val="555555"/>
                </a:solidFill>
                <a:latin typeface="Noto Sans CJK KR"/>
                <a:ea typeface="Noto Sans CJK KR"/>
              </a:rPr>
              <a:t>삼성전자 화성 </a:t>
            </a:r>
            <a:r>
              <a:rPr b="0" lang="en-US" sz="2780" spc="-1" strike="noStrike">
                <a:solidFill>
                  <a:srgbClr val="555555"/>
                </a:solidFill>
                <a:latin typeface="Noto Sans"/>
                <a:ea typeface="Noto Sans"/>
              </a:rPr>
              <a:t> </a:t>
            </a:r>
            <a:r>
              <a:rPr b="0" lang="en-US" sz="2780" spc="-1" strike="noStrike">
                <a:solidFill>
                  <a:srgbClr val="555555"/>
                </a:solidFill>
                <a:latin typeface="Noto Sans"/>
                <a:ea typeface="Noto Sans"/>
              </a:rPr>
              <a:t>NRD </a:t>
            </a:r>
            <a:r>
              <a:rPr b="0" lang="en-US" sz="2780" spc="-1" strike="noStrike">
                <a:solidFill>
                  <a:srgbClr val="555555"/>
                </a:solidFill>
                <a:latin typeface="Noto Sans CJK KR"/>
                <a:ea typeface="Noto Sans CJK KR"/>
              </a:rPr>
              <a:t> </a:t>
            </a:r>
            <a:r>
              <a:rPr b="0" lang="ko-KR" sz="2780" spc="-1" strike="noStrike">
                <a:solidFill>
                  <a:srgbClr val="555555"/>
                </a:solidFill>
                <a:latin typeface="Noto Sans CJK KR"/>
                <a:ea typeface="Noto Sans CJK KR"/>
              </a:rPr>
              <a:t>현장</a:t>
            </a:r>
            <a:endParaRPr b="0" lang="en-US" sz="278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36" name=""/>
          <p:cNvSpPr txBox="1"/>
          <p:nvPr/>
        </p:nvSpPr>
        <p:spPr>
          <a:xfrm>
            <a:off x="2619000" y="4966920"/>
            <a:ext cx="5736600" cy="661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ko-KR" sz="360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문제</a:t>
            </a:r>
            <a:r>
              <a:rPr b="1" lang="en-US" sz="3600" spc="-1" strike="noStrike">
                <a:solidFill>
                  <a:srgbClr val="202020"/>
                </a:solidFill>
                <a:latin typeface="Noto Sans"/>
                <a:ea typeface="Noto Sans"/>
              </a:rPr>
              <a:t> </a:t>
            </a:r>
            <a:r>
              <a:rPr b="1" lang="en-US" sz="3600" spc="-1" strike="noStrike">
                <a:solidFill>
                  <a:srgbClr val="202020"/>
                </a:solidFill>
                <a:latin typeface="Noto Sans"/>
                <a:ea typeface="Noto Sans"/>
              </a:rPr>
              <a:t>: </a:t>
            </a:r>
            <a:r>
              <a:rPr b="1" lang="en-US" sz="360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 </a:t>
            </a:r>
            <a:r>
              <a:rPr b="1" lang="ko-KR" sz="360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적재</a:t>
            </a:r>
            <a:r>
              <a:rPr b="1" lang="en-US" sz="3600" spc="-1" strike="noStrike">
                <a:solidFill>
                  <a:srgbClr val="202020"/>
                </a:solidFill>
                <a:latin typeface="Noto Sans"/>
                <a:ea typeface="Noto Sans"/>
              </a:rPr>
              <a:t> </a:t>
            </a:r>
            <a:r>
              <a:rPr b="1" lang="en-US" sz="3600" spc="-1" strike="noStrike">
                <a:solidFill>
                  <a:srgbClr val="202020"/>
                </a:solidFill>
                <a:latin typeface="Noto Sans"/>
                <a:ea typeface="Noto Sans"/>
              </a:rPr>
              <a:t>·</a:t>
            </a:r>
            <a:r>
              <a:rPr b="1" lang="en-US" sz="360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 </a:t>
            </a:r>
            <a:r>
              <a:rPr b="1" lang="ko-KR" sz="360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하역 위치 오류</a:t>
            </a:r>
            <a:endParaRPr b="0" lang="en-US" sz="3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37" name=""/>
          <p:cNvSpPr txBox="1"/>
          <p:nvPr/>
        </p:nvSpPr>
        <p:spPr>
          <a:xfrm>
            <a:off x="2619000" y="5869080"/>
            <a:ext cx="9219240" cy="53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ko-KR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천장 이송장비가 정해진 위치를 제대로 인식하지 못해 캐리어 </a:t>
            </a:r>
            <a:endParaRPr b="0" lang="en-US" sz="293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38" name=""/>
          <p:cNvSpPr txBox="1"/>
          <p:nvPr/>
        </p:nvSpPr>
        <p:spPr>
          <a:xfrm>
            <a:off x="2619000" y="6315840"/>
            <a:ext cx="5398560" cy="53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ko-KR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적재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 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·</a:t>
            </a:r>
            <a:r>
              <a:rPr b="0" lang="en-US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 </a:t>
            </a:r>
            <a:r>
              <a:rPr b="0" lang="ko-KR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하역 오류가 반복됐습니다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 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.</a:t>
            </a:r>
            <a:endParaRPr b="0" lang="en-US" sz="293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39" name=""/>
          <p:cNvSpPr txBox="1"/>
          <p:nvPr/>
        </p:nvSpPr>
        <p:spPr>
          <a:xfrm>
            <a:off x="14382720" y="4966920"/>
            <a:ext cx="5129640" cy="661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ko-KR" sz="360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확인</a:t>
            </a:r>
            <a:r>
              <a:rPr b="1" lang="en-US" sz="3600" spc="-1" strike="noStrike">
                <a:solidFill>
                  <a:srgbClr val="202020"/>
                </a:solidFill>
                <a:latin typeface="Noto Sans"/>
                <a:ea typeface="Noto Sans"/>
              </a:rPr>
              <a:t> </a:t>
            </a:r>
            <a:r>
              <a:rPr b="1" lang="en-US" sz="3600" spc="-1" strike="noStrike">
                <a:solidFill>
                  <a:srgbClr val="202020"/>
                </a:solidFill>
                <a:latin typeface="Noto Sans"/>
                <a:ea typeface="Noto Sans"/>
              </a:rPr>
              <a:t>: </a:t>
            </a:r>
            <a:r>
              <a:rPr b="1" lang="en-US" sz="360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 </a:t>
            </a:r>
            <a:r>
              <a:rPr b="1" lang="ko-KR" sz="360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동작 순서와 위치값</a:t>
            </a:r>
            <a:endParaRPr b="0" lang="en-US" sz="3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40" name=""/>
          <p:cNvSpPr txBox="1"/>
          <p:nvPr/>
        </p:nvSpPr>
        <p:spPr>
          <a:xfrm>
            <a:off x="14382720" y="5869080"/>
            <a:ext cx="7406280" cy="53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ko-KR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매뉴얼에서 위치 보정과 파지부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 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·</a:t>
            </a:r>
            <a:r>
              <a:rPr b="0" lang="en-US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 </a:t>
            </a:r>
            <a:r>
              <a:rPr b="0" lang="ko-KR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승강부 동작을 </a:t>
            </a:r>
            <a:endParaRPr b="0" lang="en-US" sz="293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41" name=""/>
          <p:cNvSpPr txBox="1"/>
          <p:nvPr/>
        </p:nvSpPr>
        <p:spPr>
          <a:xfrm>
            <a:off x="14382720" y="6315840"/>
            <a:ext cx="7851240" cy="53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ko-KR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확인했습니다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 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. </a:t>
            </a:r>
            <a:r>
              <a:rPr b="0" lang="en-US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 </a:t>
            </a:r>
            <a:r>
              <a:rPr b="0" lang="ko-KR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정상 상태와 오류 상태의 위치값을 </a:t>
            </a:r>
            <a:endParaRPr b="0" lang="en-US" sz="293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42" name=""/>
          <p:cNvSpPr txBox="1"/>
          <p:nvPr/>
        </p:nvSpPr>
        <p:spPr>
          <a:xfrm>
            <a:off x="14382720" y="6762600"/>
            <a:ext cx="4568760" cy="53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ko-KR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비교하며 원인을 좁혔습니다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 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.</a:t>
            </a:r>
            <a:endParaRPr b="0" lang="en-US" sz="293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43" name=""/>
          <p:cNvSpPr txBox="1"/>
          <p:nvPr/>
        </p:nvSpPr>
        <p:spPr>
          <a:xfrm>
            <a:off x="2619000" y="9824760"/>
            <a:ext cx="5653800" cy="661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ko-KR" sz="360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조치</a:t>
            </a:r>
            <a:r>
              <a:rPr b="1" lang="en-US" sz="3600" spc="-1" strike="noStrike">
                <a:solidFill>
                  <a:srgbClr val="202020"/>
                </a:solidFill>
                <a:latin typeface="Noto Sans"/>
                <a:ea typeface="Noto Sans"/>
              </a:rPr>
              <a:t> </a:t>
            </a:r>
            <a:r>
              <a:rPr b="1" lang="en-US" sz="3600" spc="-1" strike="noStrike">
                <a:solidFill>
                  <a:srgbClr val="202020"/>
                </a:solidFill>
                <a:latin typeface="Noto Sans"/>
                <a:ea typeface="Noto Sans"/>
              </a:rPr>
              <a:t>: </a:t>
            </a:r>
            <a:r>
              <a:rPr b="1" lang="en-US" sz="360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 </a:t>
            </a:r>
            <a:r>
              <a:rPr b="1" lang="ko-KR" sz="360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위치 보정과 반복 시험</a:t>
            </a:r>
            <a:endParaRPr b="0" lang="en-US" sz="3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44" name=""/>
          <p:cNvSpPr txBox="1"/>
          <p:nvPr/>
        </p:nvSpPr>
        <p:spPr>
          <a:xfrm>
            <a:off x="2619000" y="10726920"/>
            <a:ext cx="8940960" cy="53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ko-KR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자동 위치 보정 기능의 이상을 확인하고 파지부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 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·</a:t>
            </a:r>
            <a:r>
              <a:rPr b="0" lang="en-US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 </a:t>
            </a:r>
            <a:r>
              <a:rPr b="0" lang="ko-KR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승강부를 </a:t>
            </a:r>
            <a:endParaRPr b="0" lang="en-US" sz="293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45" name=""/>
          <p:cNvSpPr txBox="1"/>
          <p:nvPr/>
        </p:nvSpPr>
        <p:spPr>
          <a:xfrm>
            <a:off x="2619000" y="11173680"/>
            <a:ext cx="9386280" cy="53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ko-KR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정상 범위로 교정했습니다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 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. </a:t>
            </a:r>
            <a:r>
              <a:rPr b="0" lang="en-US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 </a:t>
            </a:r>
            <a:r>
              <a:rPr b="0" lang="ko-KR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빈 캐리어로 반복 시험해 동작을 </a:t>
            </a:r>
            <a:endParaRPr b="0" lang="en-US" sz="293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46" name=""/>
          <p:cNvSpPr txBox="1"/>
          <p:nvPr/>
        </p:nvSpPr>
        <p:spPr>
          <a:xfrm>
            <a:off x="2619000" y="11620440"/>
            <a:ext cx="2348280" cy="53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ko-KR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확인했습니다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 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.</a:t>
            </a:r>
            <a:endParaRPr b="0" lang="en-US" sz="293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47" name=""/>
          <p:cNvSpPr txBox="1"/>
          <p:nvPr/>
        </p:nvSpPr>
        <p:spPr>
          <a:xfrm>
            <a:off x="14382720" y="9824760"/>
            <a:ext cx="4288320" cy="661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ko-KR" sz="360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공유</a:t>
            </a:r>
            <a:r>
              <a:rPr b="1" lang="en-US" sz="3600" spc="-1" strike="noStrike">
                <a:solidFill>
                  <a:srgbClr val="202020"/>
                </a:solidFill>
                <a:latin typeface="Noto Sans"/>
                <a:ea typeface="Noto Sans"/>
              </a:rPr>
              <a:t> </a:t>
            </a:r>
            <a:r>
              <a:rPr b="1" lang="en-US" sz="3600" spc="-1" strike="noStrike">
                <a:solidFill>
                  <a:srgbClr val="202020"/>
                </a:solidFill>
                <a:latin typeface="Noto Sans"/>
                <a:ea typeface="Noto Sans"/>
              </a:rPr>
              <a:t>: </a:t>
            </a:r>
            <a:r>
              <a:rPr b="1" lang="en-US" sz="360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 </a:t>
            </a:r>
            <a:r>
              <a:rPr b="1" lang="ko-KR" sz="360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점검 기준 정리</a:t>
            </a:r>
            <a:endParaRPr b="0" lang="en-US" sz="3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48" name=""/>
          <p:cNvSpPr txBox="1"/>
          <p:nvPr/>
        </p:nvSpPr>
        <p:spPr>
          <a:xfrm>
            <a:off x="14382720" y="10726920"/>
            <a:ext cx="7251120" cy="53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ko-KR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확인한 값과 점검 순서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 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, </a:t>
            </a:r>
            <a:r>
              <a:rPr b="0" lang="en-US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 </a:t>
            </a:r>
            <a:r>
              <a:rPr b="0" lang="ko-KR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조정 항목을 동료들과 </a:t>
            </a:r>
            <a:endParaRPr b="0" lang="en-US" sz="293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49" name=""/>
          <p:cNvSpPr txBox="1"/>
          <p:nvPr/>
        </p:nvSpPr>
        <p:spPr>
          <a:xfrm>
            <a:off x="14382720" y="11173680"/>
            <a:ext cx="8701920" cy="53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ko-KR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공유했습니다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 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. </a:t>
            </a:r>
            <a:r>
              <a:rPr b="0" lang="en-US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 </a:t>
            </a:r>
            <a:r>
              <a:rPr b="0" lang="ko-KR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개발에서도 입력과 상태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 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, </a:t>
            </a:r>
            <a:r>
              <a:rPr b="0" lang="en-US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 </a:t>
            </a:r>
            <a:r>
              <a:rPr b="0" lang="ko-KR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동작 조건을 </a:t>
            </a:r>
            <a:endParaRPr b="0" lang="en-US" sz="293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50" name=""/>
          <p:cNvSpPr txBox="1"/>
          <p:nvPr/>
        </p:nvSpPr>
        <p:spPr>
          <a:xfrm>
            <a:off x="14382720" y="11620440"/>
            <a:ext cx="6019560" cy="53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ko-KR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연결해 확인하는 기준으로 삼았습니다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 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.</a:t>
            </a:r>
            <a:endParaRPr b="0" lang="en-US" sz="293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"/>
          <p:cNvSpPr/>
          <p:nvPr/>
        </p:nvSpPr>
        <p:spPr>
          <a:xfrm>
            <a:off x="0" y="0"/>
            <a:ext cx="24383520" cy="13716000"/>
          </a:xfrm>
          <a:custGeom>
            <a:avLst/>
            <a:gdLst/>
            <a:ahLst/>
            <a:rect l="0" t="0" r="r" b="b"/>
            <a:pathLst>
              <a:path w="67732" h="38100">
                <a:moveTo>
                  <a:pt x="0" y="0"/>
                </a:moveTo>
                <a:lnTo>
                  <a:pt x="67732" y="0"/>
                </a:lnTo>
                <a:lnTo>
                  <a:pt x="67732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52" name=""/>
          <p:cNvSpPr/>
          <p:nvPr/>
        </p:nvSpPr>
        <p:spPr>
          <a:xfrm>
            <a:off x="0" y="0"/>
            <a:ext cx="24384240" cy="13716360"/>
          </a:xfrm>
          <a:custGeom>
            <a:avLst/>
            <a:gdLst/>
            <a:ahLst/>
            <a:rect l="0" t="0" r="r" b="b"/>
            <a:pathLst>
              <a:path w="67734" h="38101">
                <a:moveTo>
                  <a:pt x="0" y="0"/>
                </a:moveTo>
                <a:lnTo>
                  <a:pt x="67734" y="0"/>
                </a:lnTo>
                <a:lnTo>
                  <a:pt x="67734" y="38101"/>
                </a:lnTo>
                <a:lnTo>
                  <a:pt x="0" y="3810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Noto Sans CJK KR"/>
            </a:endParaRPr>
          </a:p>
        </p:txBody>
      </p:sp>
      <p:pic>
        <p:nvPicPr>
          <p:cNvPr id="153" name="" descr=""/>
          <p:cNvPicPr/>
          <p:nvPr/>
        </p:nvPicPr>
        <p:blipFill>
          <a:blip r:embed="rId1"/>
          <a:stretch/>
        </p:blipFill>
        <p:spPr>
          <a:xfrm>
            <a:off x="0" y="-360"/>
            <a:ext cx="1485000" cy="13714920"/>
          </a:xfrm>
          <a:prstGeom prst="rect">
            <a:avLst/>
          </a:prstGeom>
          <a:ln w="0">
            <a:noFill/>
          </a:ln>
        </p:spPr>
      </p:pic>
      <p:sp>
        <p:nvSpPr>
          <p:cNvPr id="154" name=""/>
          <p:cNvSpPr txBox="1"/>
          <p:nvPr/>
        </p:nvSpPr>
        <p:spPr>
          <a:xfrm rot="5400000">
            <a:off x="-25920" y="1830960"/>
            <a:ext cx="1497240" cy="31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020" spc="-1" strike="noStrike">
                <a:solidFill>
                  <a:srgbClr val="ffffff"/>
                </a:solidFill>
                <a:latin typeface="Noto Sans"/>
                <a:ea typeface="Noto Sans"/>
              </a:rPr>
              <a:t>Final Project</a:t>
            </a:r>
            <a:endParaRPr b="0" lang="en-US" sz="202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55" name=""/>
          <p:cNvSpPr txBox="1"/>
          <p:nvPr/>
        </p:nvSpPr>
        <p:spPr>
          <a:xfrm>
            <a:off x="466560" y="12484800"/>
            <a:ext cx="309960" cy="30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ffffff"/>
                </a:solidFill>
                <a:latin typeface="Noto Sans"/>
                <a:ea typeface="Noto Sans"/>
              </a:rPr>
              <a:t>06</a:t>
            </a:r>
            <a:endParaRPr b="0" lang="en-US" sz="19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56" name=""/>
          <p:cNvSpPr txBox="1"/>
          <p:nvPr/>
        </p:nvSpPr>
        <p:spPr>
          <a:xfrm>
            <a:off x="2571840" y="1088640"/>
            <a:ext cx="5556600" cy="1049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ko-KR" sz="570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공장자동화 </a:t>
            </a:r>
            <a:r>
              <a:rPr b="1" lang="en-US" sz="5700" spc="-1" strike="noStrike">
                <a:solidFill>
                  <a:srgbClr val="202020"/>
                </a:solidFill>
                <a:latin typeface="Noto Sans"/>
                <a:ea typeface="Noto Sans"/>
              </a:rPr>
              <a:t> </a:t>
            </a:r>
            <a:r>
              <a:rPr b="1" lang="en-US" sz="5700" spc="-1" strike="noStrike">
                <a:solidFill>
                  <a:srgbClr val="202020"/>
                </a:solidFill>
                <a:latin typeface="Noto Sans"/>
                <a:ea typeface="Noto Sans"/>
              </a:rPr>
              <a:t>AMR</a:t>
            </a:r>
            <a:endParaRPr b="0" lang="en-US" sz="5700" spc="-1" strike="noStrike">
              <a:solidFill>
                <a:srgbClr val="000000"/>
              </a:solidFill>
              <a:latin typeface="Noto Sans CJK KR"/>
            </a:endParaRPr>
          </a:p>
        </p:txBody>
      </p:sp>
      <p:pic>
        <p:nvPicPr>
          <p:cNvPr id="157" name="" descr=""/>
          <p:cNvPicPr/>
          <p:nvPr/>
        </p:nvPicPr>
        <p:blipFill>
          <a:blip r:embed="rId2"/>
          <a:stretch/>
        </p:blipFill>
        <p:spPr>
          <a:xfrm>
            <a:off x="2476440" y="4878360"/>
            <a:ext cx="10762200" cy="6053400"/>
          </a:xfrm>
          <a:prstGeom prst="rect">
            <a:avLst/>
          </a:prstGeom>
          <a:ln w="0">
            <a:noFill/>
          </a:ln>
        </p:spPr>
      </p:pic>
      <p:sp>
        <p:nvSpPr>
          <p:cNvPr id="158" name=""/>
          <p:cNvSpPr txBox="1"/>
          <p:nvPr/>
        </p:nvSpPr>
        <p:spPr>
          <a:xfrm>
            <a:off x="2619000" y="2582640"/>
            <a:ext cx="6963480" cy="51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ko-KR" sz="2780" spc="-1" strike="noStrike">
                <a:solidFill>
                  <a:srgbClr val="555555"/>
                </a:solidFill>
                <a:latin typeface="Noto Sans CJK KR"/>
                <a:ea typeface="Noto Sans CJK KR"/>
              </a:rPr>
              <a:t>최종 프로젝트 </a:t>
            </a:r>
            <a:r>
              <a:rPr b="0" lang="en-US" sz="2780" spc="-1" strike="noStrike">
                <a:solidFill>
                  <a:srgbClr val="555555"/>
                </a:solidFill>
                <a:latin typeface="Noto Sans"/>
                <a:ea typeface="Noto Sans"/>
              </a:rPr>
              <a:t> </a:t>
            </a:r>
            <a:r>
              <a:rPr b="0" lang="en-US" sz="2780" spc="-1" strike="noStrike">
                <a:solidFill>
                  <a:srgbClr val="555555"/>
                </a:solidFill>
                <a:latin typeface="Noto Sans"/>
                <a:ea typeface="Noto Sans"/>
              </a:rPr>
              <a:t>/ 2026.09–</a:t>
            </a:r>
            <a:r>
              <a:rPr b="0" lang="en-US" sz="2780" spc="-1" strike="noStrike">
                <a:solidFill>
                  <a:srgbClr val="555555"/>
                </a:solidFill>
                <a:latin typeface="Noto Sans CJK KR"/>
                <a:ea typeface="Noto Sans CJK KR"/>
              </a:rPr>
              <a:t> </a:t>
            </a:r>
            <a:r>
              <a:rPr b="0" lang="ko-KR" sz="2780" spc="-1" strike="noStrike">
                <a:solidFill>
                  <a:srgbClr val="555555"/>
                </a:solidFill>
                <a:latin typeface="Noto Sans CJK KR"/>
                <a:ea typeface="Noto Sans CJK KR"/>
              </a:rPr>
              <a:t>진행 중 </a:t>
            </a:r>
            <a:r>
              <a:rPr b="0" lang="en-US" sz="2780" spc="-1" strike="noStrike">
                <a:solidFill>
                  <a:srgbClr val="555555"/>
                </a:solidFill>
                <a:latin typeface="Noto Sans"/>
                <a:ea typeface="Noto Sans"/>
              </a:rPr>
              <a:t> </a:t>
            </a:r>
            <a:r>
              <a:rPr b="0" lang="en-US" sz="2780" spc="-1" strike="noStrike">
                <a:solidFill>
                  <a:srgbClr val="555555"/>
                </a:solidFill>
                <a:latin typeface="Noto Sans"/>
                <a:ea typeface="Noto Sans"/>
              </a:rPr>
              <a:t>/ 5</a:t>
            </a:r>
            <a:r>
              <a:rPr b="0" lang="en-US" sz="2780" spc="-1" strike="noStrike">
                <a:solidFill>
                  <a:srgbClr val="555555"/>
                </a:solidFill>
                <a:latin typeface="Noto Sans CJK KR"/>
                <a:ea typeface="Noto Sans CJK KR"/>
              </a:rPr>
              <a:t> </a:t>
            </a:r>
            <a:r>
              <a:rPr b="0" lang="ko-KR" sz="2780" spc="-1" strike="noStrike">
                <a:solidFill>
                  <a:srgbClr val="555555"/>
                </a:solidFill>
                <a:latin typeface="Noto Sans CJK KR"/>
                <a:ea typeface="Noto Sans CJK KR"/>
              </a:rPr>
              <a:t>인 팀</a:t>
            </a:r>
            <a:endParaRPr b="0" lang="en-US" sz="278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59" name=""/>
          <p:cNvSpPr txBox="1"/>
          <p:nvPr/>
        </p:nvSpPr>
        <p:spPr>
          <a:xfrm>
            <a:off x="2619000" y="12105720"/>
            <a:ext cx="7971480" cy="426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ko-KR" sz="2320" spc="-1" strike="noStrike">
                <a:solidFill>
                  <a:srgbClr val="555555"/>
                </a:solidFill>
                <a:latin typeface="Noto Sans CJK KR"/>
                <a:ea typeface="Noto Sans CJK KR"/>
              </a:rPr>
              <a:t>실제 공정</a:t>
            </a:r>
            <a:r>
              <a:rPr b="0" lang="en-US" sz="2320" spc="-1" strike="noStrike">
                <a:solidFill>
                  <a:srgbClr val="555555"/>
                </a:solidFill>
                <a:latin typeface="Noto Sans"/>
                <a:ea typeface="Noto Sans"/>
              </a:rPr>
              <a:t> </a:t>
            </a:r>
            <a:r>
              <a:rPr b="0" lang="en-US" sz="2320" spc="-1" strike="noStrike">
                <a:solidFill>
                  <a:srgbClr val="555555"/>
                </a:solidFill>
                <a:latin typeface="Noto Sans"/>
                <a:ea typeface="Noto Sans"/>
              </a:rPr>
              <a:t>: </a:t>
            </a:r>
            <a:r>
              <a:rPr b="0" lang="en-US" sz="2320" spc="-1" strike="noStrike">
                <a:solidFill>
                  <a:srgbClr val="555555"/>
                </a:solidFill>
                <a:latin typeface="Noto Sans CJK KR"/>
                <a:ea typeface="Noto Sans CJK KR"/>
              </a:rPr>
              <a:t> </a:t>
            </a:r>
            <a:r>
              <a:rPr b="0" lang="ko-KR" sz="2320" spc="-1" strike="noStrike">
                <a:solidFill>
                  <a:srgbClr val="555555"/>
                </a:solidFill>
                <a:latin typeface="Noto Sans CJK KR"/>
                <a:ea typeface="Noto Sans CJK KR"/>
              </a:rPr>
              <a:t>자재창고</a:t>
            </a:r>
            <a:r>
              <a:rPr b="0" lang="en-US" sz="2320" spc="-1" strike="noStrike">
                <a:solidFill>
                  <a:srgbClr val="555555"/>
                </a:solidFill>
                <a:latin typeface="Noto Sans"/>
                <a:ea typeface="Noto Sans"/>
              </a:rPr>
              <a:t> </a:t>
            </a:r>
            <a:r>
              <a:rPr b="0" lang="en-US" sz="2320" spc="-1" strike="noStrike">
                <a:solidFill>
                  <a:srgbClr val="555555"/>
                </a:solidFill>
                <a:latin typeface="Noto Sans"/>
                <a:ea typeface="Noto Sans"/>
              </a:rPr>
              <a:t>, </a:t>
            </a:r>
            <a:r>
              <a:rPr b="0" lang="en-US" sz="2320" spc="-1" strike="noStrike">
                <a:solidFill>
                  <a:srgbClr val="555555"/>
                </a:solidFill>
                <a:latin typeface="Noto Sans CJK KR"/>
                <a:ea typeface="Noto Sans CJK KR"/>
              </a:rPr>
              <a:t> </a:t>
            </a:r>
            <a:r>
              <a:rPr b="0" lang="ko-KR" sz="2320" spc="-1" strike="noStrike">
                <a:solidFill>
                  <a:srgbClr val="555555"/>
                </a:solidFill>
                <a:latin typeface="Noto Sans CJK KR"/>
                <a:ea typeface="Noto Sans CJK KR"/>
              </a:rPr>
              <a:t>조립대</a:t>
            </a:r>
            <a:r>
              <a:rPr b="0" lang="en-US" sz="2320" spc="-1" strike="noStrike">
                <a:solidFill>
                  <a:srgbClr val="555555"/>
                </a:solidFill>
                <a:latin typeface="Noto Sans"/>
                <a:ea typeface="Noto Sans"/>
              </a:rPr>
              <a:t> </a:t>
            </a:r>
            <a:r>
              <a:rPr b="0" lang="en-US" sz="2320" spc="-1" strike="noStrike">
                <a:solidFill>
                  <a:srgbClr val="555555"/>
                </a:solidFill>
                <a:latin typeface="Noto Sans"/>
                <a:ea typeface="Noto Sans"/>
              </a:rPr>
              <a:t>, </a:t>
            </a:r>
            <a:r>
              <a:rPr b="0" lang="en-US" sz="2320" spc="-1" strike="noStrike">
                <a:solidFill>
                  <a:srgbClr val="555555"/>
                </a:solidFill>
                <a:latin typeface="Noto Sans CJK KR"/>
                <a:ea typeface="Noto Sans CJK KR"/>
              </a:rPr>
              <a:t> </a:t>
            </a:r>
            <a:r>
              <a:rPr b="0" lang="ko-KR" sz="2320" spc="-1" strike="noStrike">
                <a:solidFill>
                  <a:srgbClr val="555555"/>
                </a:solidFill>
                <a:latin typeface="Noto Sans CJK KR"/>
                <a:ea typeface="Noto Sans CJK KR"/>
              </a:rPr>
              <a:t>완제품 적재대와 </a:t>
            </a:r>
            <a:r>
              <a:rPr b="0" lang="en-US" sz="2320" spc="-1" strike="noStrike">
                <a:solidFill>
                  <a:srgbClr val="555555"/>
                </a:solidFill>
                <a:latin typeface="Noto Sans"/>
                <a:ea typeface="Noto Sans"/>
              </a:rPr>
              <a:t> </a:t>
            </a:r>
            <a:r>
              <a:rPr b="0" lang="en-US" sz="2320" spc="-1" strike="noStrike">
                <a:solidFill>
                  <a:srgbClr val="555555"/>
                </a:solidFill>
                <a:latin typeface="Noto Sans"/>
                <a:ea typeface="Noto Sans"/>
              </a:rPr>
              <a:t>AMR 2</a:t>
            </a:r>
            <a:r>
              <a:rPr b="0" lang="en-US" sz="2320" spc="-1" strike="noStrike">
                <a:solidFill>
                  <a:srgbClr val="555555"/>
                </a:solidFill>
                <a:latin typeface="Noto Sans CJK KR"/>
                <a:ea typeface="Noto Sans CJK KR"/>
              </a:rPr>
              <a:t> </a:t>
            </a:r>
            <a:r>
              <a:rPr b="0" lang="ko-KR" sz="2320" spc="-1" strike="noStrike">
                <a:solidFill>
                  <a:srgbClr val="555555"/>
                </a:solidFill>
                <a:latin typeface="Noto Sans CJK KR"/>
                <a:ea typeface="Noto Sans CJK KR"/>
              </a:rPr>
              <a:t>대</a:t>
            </a:r>
            <a:endParaRPr b="0" lang="en-US" sz="232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60" name=""/>
          <p:cNvSpPr txBox="1"/>
          <p:nvPr/>
        </p:nvSpPr>
        <p:spPr>
          <a:xfrm>
            <a:off x="14287680" y="4205160"/>
            <a:ext cx="1683360" cy="661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ko-KR" sz="360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프로젝트</a:t>
            </a:r>
            <a:endParaRPr b="0" lang="en-US" sz="3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61" name=""/>
          <p:cNvSpPr txBox="1"/>
          <p:nvPr/>
        </p:nvSpPr>
        <p:spPr>
          <a:xfrm>
            <a:off x="14287680" y="5106960"/>
            <a:ext cx="8365680" cy="53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AMR</a:t>
            </a:r>
            <a:r>
              <a:rPr b="0" lang="en-US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 </a:t>
            </a:r>
            <a:r>
              <a:rPr b="0" lang="ko-KR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이 자재창고에서 재료를 싣고 조립대와 적재대로 </a:t>
            </a:r>
            <a:endParaRPr b="0" lang="en-US" sz="293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62" name=""/>
          <p:cNvSpPr txBox="1"/>
          <p:nvPr/>
        </p:nvSpPr>
        <p:spPr>
          <a:xfrm>
            <a:off x="14287680" y="5553720"/>
            <a:ext cx="8276400" cy="53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ko-KR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옮깁니다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 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. </a:t>
            </a:r>
            <a:r>
              <a:rPr b="0" lang="en-US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 </a:t>
            </a:r>
            <a:r>
              <a:rPr b="0" lang="ko-KR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지정 위치까지 주행한 뒤 카메라로 마커를 </a:t>
            </a:r>
            <a:endParaRPr b="0" lang="en-US" sz="293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63" name=""/>
          <p:cNvSpPr txBox="1"/>
          <p:nvPr/>
        </p:nvSpPr>
        <p:spPr>
          <a:xfrm>
            <a:off x="14287680" y="6000480"/>
            <a:ext cx="4680360" cy="53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ko-KR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보고 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 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mm </a:t>
            </a:r>
            <a:r>
              <a:rPr b="0" lang="en-US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 </a:t>
            </a:r>
            <a:r>
              <a:rPr b="0" lang="ko-KR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단위로 붙습니다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 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.</a:t>
            </a:r>
            <a:endParaRPr b="0" lang="en-US" sz="293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64" name=""/>
          <p:cNvSpPr txBox="1"/>
          <p:nvPr/>
        </p:nvSpPr>
        <p:spPr>
          <a:xfrm>
            <a:off x="14287320" y="7110000"/>
            <a:ext cx="1786680" cy="661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ko-KR" sz="360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맡은 부분</a:t>
            </a:r>
            <a:endParaRPr b="0" lang="en-US" sz="3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65" name=""/>
          <p:cNvSpPr txBox="1"/>
          <p:nvPr/>
        </p:nvSpPr>
        <p:spPr>
          <a:xfrm>
            <a:off x="14287320" y="8012160"/>
            <a:ext cx="8731440" cy="53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AMR 2</a:t>
            </a:r>
            <a:r>
              <a:rPr b="0" lang="en-US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 </a:t>
            </a:r>
            <a:r>
              <a:rPr b="0" lang="ko-KR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대의 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 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Nav2 </a:t>
            </a:r>
            <a:r>
              <a:rPr b="0" lang="en-US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 </a:t>
            </a:r>
            <a:r>
              <a:rPr b="0" lang="ko-KR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주행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 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, </a:t>
            </a:r>
            <a:r>
              <a:rPr b="0" lang="en-US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 </a:t>
            </a:r>
            <a:r>
              <a:rPr b="0" lang="ko-KR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마커 도킹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 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, </a:t>
            </a:r>
            <a:r>
              <a:rPr b="0" lang="en-US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 </a:t>
            </a:r>
            <a:r>
              <a:rPr b="0" lang="ko-KR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관제 연동과 </a:t>
            </a:r>
            <a:endParaRPr b="0" lang="en-US" sz="293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66" name=""/>
          <p:cNvSpPr txBox="1"/>
          <p:nvPr/>
        </p:nvSpPr>
        <p:spPr>
          <a:xfrm>
            <a:off x="14287320" y="8458920"/>
            <a:ext cx="1794600" cy="53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ko-KR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부하 줄이기</a:t>
            </a:r>
            <a:endParaRPr b="0" lang="en-US" sz="293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67" name=""/>
          <p:cNvSpPr txBox="1"/>
          <p:nvPr/>
        </p:nvSpPr>
        <p:spPr>
          <a:xfrm>
            <a:off x="14287320" y="8905680"/>
            <a:ext cx="8556120" cy="53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ko-KR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제품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 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·</a:t>
            </a:r>
            <a:r>
              <a:rPr b="0" lang="en-US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 </a:t>
            </a:r>
            <a:r>
              <a:rPr b="0" lang="ko-KR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지그 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 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3D </a:t>
            </a:r>
            <a:r>
              <a:rPr b="0" lang="en-US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 </a:t>
            </a:r>
            <a:r>
              <a:rPr b="0" lang="ko-KR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모델링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 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, </a:t>
            </a:r>
            <a:r>
              <a:rPr b="0" lang="en-US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 </a:t>
            </a:r>
            <a:r>
              <a:rPr b="0" lang="ko-KR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로봇팔 리니어 액추에이터 </a:t>
            </a:r>
            <a:endParaRPr b="0" lang="en-US" sz="293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68" name=""/>
          <p:cNvSpPr txBox="1"/>
          <p:nvPr/>
        </p:nvSpPr>
        <p:spPr>
          <a:xfrm>
            <a:off x="14287320" y="9352440"/>
            <a:ext cx="683640" cy="53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ko-KR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제어</a:t>
            </a:r>
            <a:endParaRPr b="0" lang="en-US" sz="293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69" name=""/>
          <p:cNvSpPr txBox="1"/>
          <p:nvPr/>
        </p:nvSpPr>
        <p:spPr>
          <a:xfrm>
            <a:off x="14287680" y="10869480"/>
            <a:ext cx="4531680" cy="428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780" spc="-1" strike="noStrike">
                <a:solidFill>
                  <a:srgbClr val="202020"/>
                </a:solidFill>
                <a:latin typeface="Noto Sans"/>
                <a:ea typeface="Noto Sans"/>
              </a:rPr>
              <a:t>ROS2 Jazzy · Nav2 · AMCL</a:t>
            </a:r>
            <a:endParaRPr b="0" lang="en-US" sz="278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70" name=""/>
          <p:cNvSpPr txBox="1"/>
          <p:nvPr/>
        </p:nvSpPr>
        <p:spPr>
          <a:xfrm>
            <a:off x="14287680" y="11293200"/>
            <a:ext cx="3112560" cy="428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780" spc="-1" strike="noStrike">
                <a:solidFill>
                  <a:srgbClr val="202020"/>
                </a:solidFill>
                <a:latin typeface="Noto Sans"/>
                <a:ea typeface="Noto Sans"/>
              </a:rPr>
              <a:t>OpenCV · AprilTag</a:t>
            </a:r>
            <a:endParaRPr b="0" lang="en-US" sz="278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71" name=""/>
          <p:cNvSpPr txBox="1"/>
          <p:nvPr/>
        </p:nvSpPr>
        <p:spPr>
          <a:xfrm>
            <a:off x="14287680" y="11716920"/>
            <a:ext cx="4498200" cy="428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780" spc="-1" strike="noStrike">
                <a:solidFill>
                  <a:srgbClr val="202020"/>
                </a:solidFill>
                <a:latin typeface="Noto Sans"/>
                <a:ea typeface="Noto Sans"/>
              </a:rPr>
              <a:t>TurtleBot3 · Raspberry Pi 5</a:t>
            </a:r>
            <a:endParaRPr b="0" lang="en-US" sz="2780" spc="-1" strike="noStrike">
              <a:solidFill>
                <a:srgbClr val="000000"/>
              </a:solidFill>
              <a:latin typeface="Noto Sans CJK KR"/>
            </a:endParaRPr>
          </a:p>
        </p:txBody>
      </p:sp>
      <p:pic>
        <p:nvPicPr>
          <p:cNvPr id="172" name="Picture 171" descr="process2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3800" y="4876800"/>
            <a:ext cx="10782300" cy="6064250"/>
          </a:xfrm>
          <a:prstGeom prst="rect">
            <a:avLst/>
          </a:prstGeom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"/>
          <p:cNvSpPr/>
          <p:nvPr/>
        </p:nvSpPr>
        <p:spPr>
          <a:xfrm>
            <a:off x="0" y="0"/>
            <a:ext cx="24383520" cy="13716000"/>
          </a:xfrm>
          <a:custGeom>
            <a:avLst/>
            <a:gdLst/>
            <a:ahLst/>
            <a:rect l="0" t="0" r="r" b="b"/>
            <a:pathLst>
              <a:path w="67732" h="38100">
                <a:moveTo>
                  <a:pt x="0" y="0"/>
                </a:moveTo>
                <a:lnTo>
                  <a:pt x="67732" y="0"/>
                </a:lnTo>
                <a:lnTo>
                  <a:pt x="67732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73" name=""/>
          <p:cNvSpPr/>
          <p:nvPr/>
        </p:nvSpPr>
        <p:spPr>
          <a:xfrm>
            <a:off x="0" y="0"/>
            <a:ext cx="24384240" cy="13716360"/>
          </a:xfrm>
          <a:custGeom>
            <a:avLst/>
            <a:gdLst/>
            <a:ahLst/>
            <a:rect l="0" t="0" r="r" b="b"/>
            <a:pathLst>
              <a:path w="67734" h="38101">
                <a:moveTo>
                  <a:pt x="0" y="0"/>
                </a:moveTo>
                <a:lnTo>
                  <a:pt x="67734" y="0"/>
                </a:lnTo>
                <a:lnTo>
                  <a:pt x="67734" y="38101"/>
                </a:lnTo>
                <a:lnTo>
                  <a:pt x="0" y="3810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Noto Sans CJK KR"/>
            </a:endParaRPr>
          </a:p>
        </p:txBody>
      </p:sp>
      <p:pic>
        <p:nvPicPr>
          <p:cNvPr id="174" name="" descr=""/>
          <p:cNvPicPr/>
          <p:nvPr/>
        </p:nvPicPr>
        <p:blipFill>
          <a:blip r:embed="rId1"/>
          <a:stretch/>
        </p:blipFill>
        <p:spPr>
          <a:xfrm>
            <a:off x="1486080" y="8965800"/>
            <a:ext cx="11454480" cy="4748760"/>
          </a:xfrm>
          <a:prstGeom prst="rect">
            <a:avLst/>
          </a:prstGeom>
          <a:ln w="0">
            <a:noFill/>
          </a:ln>
        </p:spPr>
      </p:pic>
      <p:pic>
        <p:nvPicPr>
          <p:cNvPr id="175" name="" descr=""/>
          <p:cNvPicPr/>
          <p:nvPr/>
        </p:nvPicPr>
        <p:blipFill>
          <a:blip r:embed="rId2"/>
          <a:stretch/>
        </p:blipFill>
        <p:spPr>
          <a:xfrm>
            <a:off x="12928680" y="4101840"/>
            <a:ext cx="11454480" cy="4862880"/>
          </a:xfrm>
          <a:prstGeom prst="rect">
            <a:avLst/>
          </a:prstGeom>
          <a:ln w="0">
            <a:noFill/>
          </a:ln>
        </p:spPr>
      </p:pic>
      <p:pic>
        <p:nvPicPr>
          <p:cNvPr id="176" name="" descr=""/>
          <p:cNvPicPr/>
          <p:nvPr/>
        </p:nvPicPr>
        <p:blipFill>
          <a:blip r:embed="rId3"/>
          <a:stretch/>
        </p:blipFill>
        <p:spPr>
          <a:xfrm>
            <a:off x="0" y="-360"/>
            <a:ext cx="1485000" cy="13714920"/>
          </a:xfrm>
          <a:prstGeom prst="rect">
            <a:avLst/>
          </a:prstGeom>
          <a:ln w="0">
            <a:noFill/>
          </a:ln>
        </p:spPr>
      </p:pic>
      <p:pic>
        <p:nvPicPr>
          <p:cNvPr id="177" name="" descr=""/>
          <p:cNvPicPr/>
          <p:nvPr/>
        </p:nvPicPr>
        <p:blipFill>
          <a:blip r:embed="rId4"/>
          <a:stretch/>
        </p:blipFill>
        <p:spPr>
          <a:xfrm>
            <a:off x="12928680" y="4101840"/>
            <a:ext cx="24480" cy="10031760"/>
          </a:xfrm>
          <a:prstGeom prst="rect">
            <a:avLst/>
          </a:prstGeom>
          <a:ln w="0">
            <a:noFill/>
          </a:ln>
        </p:spPr>
      </p:pic>
      <p:pic>
        <p:nvPicPr>
          <p:cNvPr id="178" name="" descr=""/>
          <p:cNvPicPr/>
          <p:nvPr/>
        </p:nvPicPr>
        <p:blipFill>
          <a:blip r:embed="rId5"/>
          <a:stretch/>
        </p:blipFill>
        <p:spPr>
          <a:xfrm>
            <a:off x="1486080" y="4101840"/>
            <a:ext cx="22897080" cy="24480"/>
          </a:xfrm>
          <a:prstGeom prst="rect">
            <a:avLst/>
          </a:prstGeom>
          <a:ln w="0">
            <a:noFill/>
          </a:ln>
        </p:spPr>
      </p:pic>
      <p:pic>
        <p:nvPicPr>
          <p:cNvPr id="179" name="" descr=""/>
          <p:cNvPicPr/>
          <p:nvPr/>
        </p:nvPicPr>
        <p:blipFill>
          <a:blip r:embed="rId6"/>
          <a:stretch/>
        </p:blipFill>
        <p:spPr>
          <a:xfrm>
            <a:off x="1486080" y="8965800"/>
            <a:ext cx="22897080" cy="24480"/>
          </a:xfrm>
          <a:prstGeom prst="rect">
            <a:avLst/>
          </a:prstGeom>
          <a:ln w="0">
            <a:noFill/>
          </a:ln>
        </p:spPr>
      </p:pic>
      <p:sp>
        <p:nvSpPr>
          <p:cNvPr id="180" name=""/>
          <p:cNvSpPr txBox="1"/>
          <p:nvPr/>
        </p:nvSpPr>
        <p:spPr>
          <a:xfrm rot="5400000">
            <a:off x="-25920" y="1830960"/>
            <a:ext cx="1497240" cy="31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020" spc="-1" strike="noStrike">
                <a:solidFill>
                  <a:srgbClr val="ffffff"/>
                </a:solidFill>
                <a:latin typeface="Noto Sans"/>
                <a:ea typeface="Noto Sans"/>
              </a:rPr>
              <a:t>Final Project</a:t>
            </a:r>
            <a:endParaRPr b="0" lang="en-US" sz="202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81" name=""/>
          <p:cNvSpPr txBox="1"/>
          <p:nvPr/>
        </p:nvSpPr>
        <p:spPr>
          <a:xfrm>
            <a:off x="466560" y="12484800"/>
            <a:ext cx="298080" cy="30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ffffff"/>
                </a:solidFill>
                <a:latin typeface="Noto Sans"/>
                <a:ea typeface="Noto Sans"/>
              </a:rPr>
              <a:t>07</a:t>
            </a:r>
            <a:endParaRPr b="0" lang="en-US" sz="19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82" name=""/>
          <p:cNvSpPr txBox="1"/>
          <p:nvPr/>
        </p:nvSpPr>
        <p:spPr>
          <a:xfrm>
            <a:off x="2571840" y="1088640"/>
            <a:ext cx="7818840" cy="1049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ko-KR" sz="570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도킹 정밀도와 안정성 개선</a:t>
            </a:r>
            <a:endParaRPr b="0" lang="en-US" sz="57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83" name=""/>
          <p:cNvSpPr txBox="1"/>
          <p:nvPr/>
        </p:nvSpPr>
        <p:spPr>
          <a:xfrm>
            <a:off x="2619000" y="2582640"/>
            <a:ext cx="8436960" cy="51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ko-KR" sz="2780" spc="-1" strike="noStrike">
                <a:solidFill>
                  <a:srgbClr val="555555"/>
                </a:solidFill>
                <a:latin typeface="Noto Sans CJK KR"/>
                <a:ea typeface="Noto Sans CJK KR"/>
              </a:rPr>
              <a:t>직접 재 보고</a:t>
            </a:r>
            <a:r>
              <a:rPr b="0" lang="en-US" sz="2780" spc="-1" strike="noStrike">
                <a:solidFill>
                  <a:srgbClr val="555555"/>
                </a:solidFill>
                <a:latin typeface="Noto Sans"/>
                <a:ea typeface="Noto Sans"/>
              </a:rPr>
              <a:t> </a:t>
            </a:r>
            <a:r>
              <a:rPr b="0" lang="en-US" sz="2780" spc="-1" strike="noStrike">
                <a:solidFill>
                  <a:srgbClr val="555555"/>
                </a:solidFill>
                <a:latin typeface="Noto Sans"/>
                <a:ea typeface="Noto Sans"/>
              </a:rPr>
              <a:t>, </a:t>
            </a:r>
            <a:r>
              <a:rPr b="0" lang="en-US" sz="2780" spc="-1" strike="noStrike">
                <a:solidFill>
                  <a:srgbClr val="555555"/>
                </a:solidFill>
                <a:latin typeface="Noto Sans CJK KR"/>
                <a:ea typeface="Noto Sans CJK KR"/>
              </a:rPr>
              <a:t> </a:t>
            </a:r>
            <a:r>
              <a:rPr b="0" lang="ko-KR" sz="2780" spc="-1" strike="noStrike">
                <a:solidFill>
                  <a:srgbClr val="555555"/>
                </a:solidFill>
                <a:latin typeface="Noto Sans CJK KR"/>
                <a:ea typeface="Noto Sans CJK KR"/>
              </a:rPr>
              <a:t>로그를 확인하고</a:t>
            </a:r>
            <a:r>
              <a:rPr b="0" lang="en-US" sz="2780" spc="-1" strike="noStrike">
                <a:solidFill>
                  <a:srgbClr val="555555"/>
                </a:solidFill>
                <a:latin typeface="Noto Sans"/>
                <a:ea typeface="Noto Sans"/>
              </a:rPr>
              <a:t> </a:t>
            </a:r>
            <a:r>
              <a:rPr b="0" lang="en-US" sz="2780" spc="-1" strike="noStrike">
                <a:solidFill>
                  <a:srgbClr val="555555"/>
                </a:solidFill>
                <a:latin typeface="Noto Sans"/>
                <a:ea typeface="Noto Sans"/>
              </a:rPr>
              <a:t>, </a:t>
            </a:r>
            <a:r>
              <a:rPr b="0" lang="en-US" sz="2780" spc="-1" strike="noStrike">
                <a:solidFill>
                  <a:srgbClr val="555555"/>
                </a:solidFill>
                <a:latin typeface="Noto Sans CJK KR"/>
                <a:ea typeface="Noto Sans CJK KR"/>
              </a:rPr>
              <a:t> </a:t>
            </a:r>
            <a:r>
              <a:rPr b="0" lang="ko-KR" sz="2780" spc="-1" strike="noStrike">
                <a:solidFill>
                  <a:srgbClr val="555555"/>
                </a:solidFill>
                <a:latin typeface="Noto Sans CJK KR"/>
                <a:ea typeface="Noto Sans CJK KR"/>
              </a:rPr>
              <a:t>바꾼 뒤 다시 쟀습니다</a:t>
            </a:r>
            <a:endParaRPr b="0" lang="en-US" sz="278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84" name=""/>
          <p:cNvSpPr txBox="1"/>
          <p:nvPr/>
        </p:nvSpPr>
        <p:spPr>
          <a:xfrm>
            <a:off x="2619000" y="4966920"/>
            <a:ext cx="5275440" cy="661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ko-KR" sz="360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마커 비교</a:t>
            </a:r>
            <a:r>
              <a:rPr b="1" lang="en-US" sz="3600" spc="-1" strike="noStrike">
                <a:solidFill>
                  <a:srgbClr val="202020"/>
                </a:solidFill>
                <a:latin typeface="Noto Sans"/>
                <a:ea typeface="Noto Sans"/>
              </a:rPr>
              <a:t> </a:t>
            </a:r>
            <a:r>
              <a:rPr b="1" lang="en-US" sz="3600" spc="-1" strike="noStrike">
                <a:solidFill>
                  <a:srgbClr val="202020"/>
                </a:solidFill>
                <a:latin typeface="Noto Sans"/>
                <a:ea typeface="Noto Sans"/>
              </a:rPr>
              <a:t>: </a:t>
            </a:r>
            <a:r>
              <a:rPr b="1" lang="en-US" sz="360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 </a:t>
            </a:r>
            <a:r>
              <a:rPr b="1" lang="ko-KR" sz="360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평균 </a:t>
            </a:r>
            <a:r>
              <a:rPr b="1" lang="en-US" sz="3600" spc="-1" strike="noStrike">
                <a:solidFill>
                  <a:srgbClr val="202020"/>
                </a:solidFill>
                <a:latin typeface="Noto Sans"/>
                <a:ea typeface="Noto Sans"/>
              </a:rPr>
              <a:t> </a:t>
            </a:r>
            <a:r>
              <a:rPr b="1" lang="en-US" sz="3600" spc="-1" strike="noStrike">
                <a:solidFill>
                  <a:srgbClr val="202020"/>
                </a:solidFill>
                <a:latin typeface="Noto Sans"/>
                <a:ea typeface="Noto Sans"/>
              </a:rPr>
              <a:t>0.8mm</a:t>
            </a:r>
            <a:endParaRPr b="0" lang="en-US" sz="3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85" name=""/>
          <p:cNvSpPr txBox="1"/>
          <p:nvPr/>
        </p:nvSpPr>
        <p:spPr>
          <a:xfrm>
            <a:off x="2619000" y="5869080"/>
            <a:ext cx="9258480" cy="53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ArUco</a:t>
            </a:r>
            <a:r>
              <a:rPr b="0" lang="en-US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 </a:t>
            </a:r>
            <a:r>
              <a:rPr b="0" lang="ko-KR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와 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 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AprilTag, </a:t>
            </a:r>
            <a:r>
              <a:rPr b="0" lang="en-US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 </a:t>
            </a:r>
            <a:r>
              <a:rPr b="0" lang="ko-KR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마커 수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 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, </a:t>
            </a:r>
            <a:r>
              <a:rPr b="0" lang="en-US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 </a:t>
            </a:r>
            <a:r>
              <a:rPr b="0" lang="ko-KR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허용치를 바꿔 가며 자로 </a:t>
            </a:r>
            <a:endParaRPr b="0" lang="en-US" sz="293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86" name=""/>
          <p:cNvSpPr txBox="1"/>
          <p:nvPr/>
        </p:nvSpPr>
        <p:spPr>
          <a:xfrm>
            <a:off x="2619000" y="6315840"/>
            <a:ext cx="9234360" cy="53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ko-KR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쟀습니다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 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. AprilTag 4</a:t>
            </a:r>
            <a:r>
              <a:rPr b="0" lang="en-US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 </a:t>
            </a:r>
            <a:r>
              <a:rPr b="0" lang="ko-KR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장에 허용 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 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2mm</a:t>
            </a:r>
            <a:r>
              <a:rPr b="0" lang="en-US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 </a:t>
            </a:r>
            <a:r>
              <a:rPr b="0" lang="ko-KR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일 때 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 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5</a:t>
            </a:r>
            <a:r>
              <a:rPr b="0" lang="en-US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 </a:t>
            </a:r>
            <a:r>
              <a:rPr b="0" lang="ko-KR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번 모두 </a:t>
            </a:r>
            <a:endParaRPr b="0" lang="en-US" sz="293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87" name=""/>
          <p:cNvSpPr txBox="1"/>
          <p:nvPr/>
        </p:nvSpPr>
        <p:spPr>
          <a:xfrm>
            <a:off x="2619000" y="6762600"/>
            <a:ext cx="5488200" cy="53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ko-KR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성공했고 평균 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 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0.8mm</a:t>
            </a:r>
            <a:r>
              <a:rPr b="0" lang="en-US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 </a:t>
            </a:r>
            <a:r>
              <a:rPr b="0" lang="ko-KR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였습니다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 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.</a:t>
            </a:r>
            <a:endParaRPr b="0" lang="en-US" sz="293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88" name=""/>
          <p:cNvSpPr txBox="1"/>
          <p:nvPr/>
        </p:nvSpPr>
        <p:spPr>
          <a:xfrm>
            <a:off x="14382720" y="4966920"/>
            <a:ext cx="3676680" cy="661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ko-KR" sz="360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한 대만 밀리던 원인</a:t>
            </a:r>
            <a:endParaRPr b="0" lang="en-US" sz="3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89" name=""/>
          <p:cNvSpPr txBox="1"/>
          <p:nvPr/>
        </p:nvSpPr>
        <p:spPr>
          <a:xfrm>
            <a:off x="14382720" y="5869080"/>
            <a:ext cx="8385120" cy="53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ko-KR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같은 코드인데 버거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 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1</a:t>
            </a:r>
            <a:r>
              <a:rPr b="0" lang="en-US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 </a:t>
            </a:r>
            <a:r>
              <a:rPr b="0" lang="ko-KR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만 한쪽으로 밀렸습니다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 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. </a:t>
            </a:r>
            <a:r>
              <a:rPr b="0" lang="en-US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 </a:t>
            </a:r>
            <a:r>
              <a:rPr b="0" lang="ko-KR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다른 </a:t>
            </a:r>
            <a:endParaRPr b="0" lang="en-US" sz="293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90" name=""/>
          <p:cNvSpPr txBox="1"/>
          <p:nvPr/>
        </p:nvSpPr>
        <p:spPr>
          <a:xfrm>
            <a:off x="14382720" y="6315840"/>
            <a:ext cx="8276760" cy="53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ko-KR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로봇의 카메라 보정값을 쓰고 있어서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 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, </a:t>
            </a:r>
            <a:r>
              <a:rPr b="0" lang="en-US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 </a:t>
            </a:r>
            <a:r>
              <a:rPr b="0" lang="ko-KR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다시 보정하고 </a:t>
            </a:r>
            <a:endParaRPr b="0" lang="en-US" sz="293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91" name=""/>
          <p:cNvSpPr txBox="1"/>
          <p:nvPr/>
        </p:nvSpPr>
        <p:spPr>
          <a:xfrm>
            <a:off x="14382720" y="6762600"/>
            <a:ext cx="8347680" cy="53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ko-KR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장착 위치를 맞춰 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 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2mm</a:t>
            </a:r>
            <a:r>
              <a:rPr b="0" lang="en-US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 </a:t>
            </a:r>
            <a:r>
              <a:rPr b="0" lang="ko-KR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를 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 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0.7mm</a:t>
            </a:r>
            <a:r>
              <a:rPr b="0" lang="en-US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 </a:t>
            </a:r>
            <a:r>
              <a:rPr b="0" lang="ko-KR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로 줄였습니다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 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.</a:t>
            </a:r>
            <a:endParaRPr b="0" lang="en-US" sz="293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92" name=""/>
          <p:cNvSpPr txBox="1"/>
          <p:nvPr/>
        </p:nvSpPr>
        <p:spPr>
          <a:xfrm>
            <a:off x="2619000" y="9824760"/>
            <a:ext cx="4414320" cy="661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ko-KR" sz="360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시뮬레이터로 값 정하기</a:t>
            </a:r>
            <a:endParaRPr b="0" lang="en-US" sz="3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93" name=""/>
          <p:cNvSpPr txBox="1"/>
          <p:nvPr/>
        </p:nvSpPr>
        <p:spPr>
          <a:xfrm>
            <a:off x="2619000" y="10726920"/>
            <a:ext cx="9219240" cy="53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ko-KR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실제 도킹 코드를 그대로 돌리는 시뮬레이터를 만들어 실측과 </a:t>
            </a:r>
            <a:endParaRPr b="0" lang="en-US" sz="293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94" name=""/>
          <p:cNvSpPr txBox="1"/>
          <p:nvPr/>
        </p:nvSpPr>
        <p:spPr>
          <a:xfrm>
            <a:off x="2619000" y="11173680"/>
            <a:ext cx="9803880" cy="53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ko-KR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맞춘 뒤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 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, </a:t>
            </a:r>
            <a:r>
              <a:rPr b="0" lang="en-US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 </a:t>
            </a:r>
            <a:r>
              <a:rPr b="0" lang="ko-KR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값을 하나씩 바꿔 봤습니다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 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. </a:t>
            </a:r>
            <a:r>
              <a:rPr b="0" lang="en-US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 </a:t>
            </a:r>
            <a:r>
              <a:rPr b="0" lang="ko-KR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적용 후 실측 오차는 약 </a:t>
            </a:r>
            <a:endParaRPr b="0" lang="en-US" sz="293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95" name=""/>
          <p:cNvSpPr txBox="1"/>
          <p:nvPr/>
        </p:nvSpPr>
        <p:spPr>
          <a:xfrm>
            <a:off x="2619000" y="11620440"/>
            <a:ext cx="2738160" cy="53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0.3mm</a:t>
            </a:r>
            <a:r>
              <a:rPr b="0" lang="en-US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 </a:t>
            </a:r>
            <a:r>
              <a:rPr b="0" lang="ko-KR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입니다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 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.</a:t>
            </a:r>
            <a:endParaRPr b="0" lang="en-US" sz="293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96" name=""/>
          <p:cNvSpPr txBox="1"/>
          <p:nvPr/>
        </p:nvSpPr>
        <p:spPr>
          <a:xfrm>
            <a:off x="14382720" y="9824760"/>
            <a:ext cx="3152520" cy="661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ko-KR" sz="360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멈춤 원인과 부하</a:t>
            </a:r>
            <a:endParaRPr b="0" lang="en-US" sz="3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97" name=""/>
          <p:cNvSpPr txBox="1"/>
          <p:nvPr/>
        </p:nvSpPr>
        <p:spPr>
          <a:xfrm>
            <a:off x="14382720" y="10726920"/>
            <a:ext cx="8275680" cy="53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ko-KR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주행이 멈춘 원인은 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 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CPU</a:t>
            </a:r>
            <a:r>
              <a:rPr b="0" lang="en-US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 </a:t>
            </a:r>
            <a:r>
              <a:rPr b="0" lang="ko-KR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가 아니라 모터 보드 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 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USB </a:t>
            </a:r>
            <a:endParaRPr b="0" lang="en-US" sz="293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98" name=""/>
          <p:cNvSpPr txBox="1"/>
          <p:nvPr/>
        </p:nvSpPr>
        <p:spPr>
          <a:xfrm>
            <a:off x="14382720" y="11173680"/>
            <a:ext cx="9285840" cy="53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ko-KR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대기였습니다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 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. </a:t>
            </a:r>
            <a:r>
              <a:rPr b="0" lang="en-US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 </a:t>
            </a:r>
            <a:r>
              <a:rPr b="0" lang="ko-KR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쉬는 중 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 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CPU</a:t>
            </a:r>
            <a:r>
              <a:rPr b="0" lang="en-US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 </a:t>
            </a:r>
            <a:r>
              <a:rPr b="0" lang="ko-KR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는 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 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40%</a:t>
            </a:r>
            <a:r>
              <a:rPr b="0" lang="en-US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 </a:t>
            </a:r>
            <a:r>
              <a:rPr b="0" lang="ko-KR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에서 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 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21%</a:t>
            </a:r>
            <a:r>
              <a:rPr b="0" lang="en-US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 </a:t>
            </a:r>
            <a:r>
              <a:rPr b="0" lang="ko-KR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로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 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, </a:t>
            </a:r>
            <a:endParaRPr b="0" lang="en-US" sz="293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99" name=""/>
          <p:cNvSpPr txBox="1"/>
          <p:nvPr/>
        </p:nvSpPr>
        <p:spPr>
          <a:xfrm>
            <a:off x="14382720" y="11620440"/>
            <a:ext cx="5879880" cy="53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ko-KR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불필요한 통신은 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 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86% </a:t>
            </a:r>
            <a:r>
              <a:rPr b="0" lang="en-US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 </a:t>
            </a:r>
            <a:r>
              <a:rPr b="0" lang="ko-KR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줄였습니다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 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.</a:t>
            </a:r>
            <a:endParaRPr b="0" lang="en-US" sz="2930" spc="-1" strike="noStrike">
              <a:solidFill>
                <a:srgbClr val="000000"/>
              </a:solidFill>
              <a:latin typeface="Noto Sans CJK KR"/>
            </a:endParaRPr>
          </a:p>
        </p:txBody>
      </p:sp>
      <p:pic>
        <p:nvPicPr>
          <p:cNvPr id="200" name="Picture 199" descr="dock.gif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050000" y="330200"/>
            <a:ext cx="4064000" cy="3048000"/>
          </a:xfrm>
          <a:prstGeom prst="rect">
            <a:avLst/>
          </a:prstGeom>
        </p:spPr>
      </p:pic>
      <p:pic>
        <p:nvPicPr>
          <p:cNvPr id="201" name="Picture 200" descr="cap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050000" y="3454400"/>
            <a:ext cx="3230217" cy="330200"/>
          </a:xfrm>
          <a:prstGeom prst="rect">
            <a:avLst/>
          </a:prstGeom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"/>
          <p:cNvSpPr/>
          <p:nvPr/>
        </p:nvSpPr>
        <p:spPr>
          <a:xfrm>
            <a:off x="0" y="0"/>
            <a:ext cx="24384240" cy="13716360"/>
          </a:xfrm>
          <a:custGeom>
            <a:avLst/>
            <a:gdLst/>
            <a:ahLst/>
            <a:rect l="0" t="0" r="r" b="b"/>
            <a:pathLst>
              <a:path w="67734" h="38101">
                <a:moveTo>
                  <a:pt x="0" y="0"/>
                </a:moveTo>
                <a:lnTo>
                  <a:pt x="67734" y="0"/>
                </a:lnTo>
                <a:lnTo>
                  <a:pt x="67734" y="38101"/>
                </a:lnTo>
                <a:lnTo>
                  <a:pt x="0" y="3810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01" name=""/>
          <p:cNvSpPr/>
          <p:nvPr/>
        </p:nvSpPr>
        <p:spPr>
          <a:xfrm>
            <a:off x="0" y="0"/>
            <a:ext cx="1473480" cy="13716360"/>
          </a:xfrm>
          <a:custGeom>
            <a:avLst/>
            <a:gdLst/>
            <a:ahLst/>
            <a:rect l="0" t="0" r="r" b="b"/>
            <a:pathLst>
              <a:path w="4093" h="38101">
                <a:moveTo>
                  <a:pt x="0" y="0"/>
                </a:moveTo>
                <a:lnTo>
                  <a:pt x="4093" y="0"/>
                </a:lnTo>
                <a:lnTo>
                  <a:pt x="4093" y="38101"/>
                </a:lnTo>
                <a:lnTo>
                  <a:pt x="0" y="38101"/>
                </a:lnTo>
                <a:lnTo>
                  <a:pt x="0" y="0"/>
                </a:lnTo>
                <a:close/>
              </a:path>
            </a:pathLst>
          </a:custGeom>
          <a:solidFill>
            <a:srgbClr val="1e1e1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202" name=""/>
          <p:cNvSpPr txBox="1"/>
          <p:nvPr/>
        </p:nvSpPr>
        <p:spPr>
          <a:xfrm rot="5400000">
            <a:off x="102240" y="1209240"/>
            <a:ext cx="1265760" cy="314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700" spc="-1" strike="noStrike">
                <a:solidFill>
                  <a:srgbClr val="ffffff"/>
                </a:solidFill>
                <a:latin typeface="Noto Sans CJK KR"/>
                <a:ea typeface="Noto Sans CJK KR"/>
              </a:rPr>
              <a:t>Final Project</a:t>
            </a:r>
            <a:endParaRPr b="0" lang="en-US" sz="17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03" name=""/>
          <p:cNvSpPr txBox="1"/>
          <p:nvPr/>
        </p:nvSpPr>
        <p:spPr>
          <a:xfrm>
            <a:off x="519480" y="12514320"/>
            <a:ext cx="435240" cy="314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700" spc="-1" strike="noStrike">
                <a:solidFill>
                  <a:srgbClr val="ffffff"/>
                </a:solidFill>
                <a:latin typeface="Noto Sans CJK KR"/>
                <a:ea typeface="Noto Sans CJK KR"/>
              </a:rPr>
              <a:t>07-1</a:t>
            </a:r>
            <a:endParaRPr b="0" lang="en-US" sz="17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04" name=""/>
          <p:cNvSpPr txBox="1"/>
          <p:nvPr/>
        </p:nvSpPr>
        <p:spPr>
          <a:xfrm>
            <a:off x="2590920" y="990720"/>
            <a:ext cx="6948360" cy="993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ko-KR" sz="5400" spc="-1" strike="noStrike">
                <a:solidFill>
                  <a:srgbClr val="1a1a1a"/>
                </a:solidFill>
                <a:latin typeface="Noto Sans CJK KR"/>
                <a:ea typeface="Noto Sans CJK KR"/>
              </a:rPr>
              <a:t>로봇팔 상차 </a:t>
            </a:r>
            <a:r>
              <a:rPr b="1" lang="en-US" sz="5400" spc="-1" strike="noStrike">
                <a:solidFill>
                  <a:srgbClr val="1a1a1a"/>
                </a:solidFill>
                <a:latin typeface="Noto Sans CJK KR"/>
                <a:ea typeface="Noto Sans CJK KR"/>
              </a:rPr>
              <a:t>· </a:t>
            </a:r>
            <a:r>
              <a:rPr b="1" lang="ko-KR" sz="5400" spc="-1" strike="noStrike">
                <a:solidFill>
                  <a:srgbClr val="1a1a1a"/>
                </a:solidFill>
                <a:latin typeface="Noto Sans CJK KR"/>
                <a:ea typeface="Noto Sans CJK KR"/>
              </a:rPr>
              <a:t>모방학습</a:t>
            </a:r>
            <a:endParaRPr b="0" lang="en-US" sz="5400" spc="-1" strike="noStrike">
              <a:solidFill>
                <a:srgbClr val="000000"/>
              </a:solidFill>
              <a:latin typeface="Noto Sans CJK KR"/>
            </a:endParaRPr>
          </a:p>
        </p:txBody>
      </p:sp>
      <p:pic>
        <p:nvPicPr>
          <p:cNvPr id="205" name="" descr=""/>
          <p:cNvPicPr/>
          <p:nvPr/>
        </p:nvPicPr>
        <p:blipFill>
          <a:blip r:embed="rId1"/>
          <a:stretch/>
        </p:blipFill>
        <p:spPr>
          <a:xfrm>
            <a:off x="2590920" y="4191120"/>
            <a:ext cx="10921680" cy="4083840"/>
          </a:xfrm>
          <a:prstGeom prst="rect">
            <a:avLst/>
          </a:prstGeom>
          <a:ln w="0">
            <a:noFill/>
          </a:ln>
        </p:spPr>
      </p:pic>
      <p:sp>
        <p:nvSpPr>
          <p:cNvPr id="206" name=""/>
          <p:cNvSpPr txBox="1"/>
          <p:nvPr/>
        </p:nvSpPr>
        <p:spPr>
          <a:xfrm>
            <a:off x="2616120" y="2540160"/>
            <a:ext cx="5775480" cy="459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ko-KR" sz="2500" spc="-1" strike="noStrike">
                <a:solidFill>
                  <a:srgbClr val="555555"/>
                </a:solidFill>
                <a:latin typeface="Noto Sans CJK KR"/>
                <a:ea typeface="Noto Sans CJK KR"/>
              </a:rPr>
              <a:t>최종 프로젝트 </a:t>
            </a:r>
            <a:r>
              <a:rPr b="0" lang="en-US" sz="2500" spc="-1" strike="noStrike">
                <a:solidFill>
                  <a:srgbClr val="555555"/>
                </a:solidFill>
                <a:latin typeface="Noto Sans CJK KR"/>
                <a:ea typeface="Noto Sans CJK KR"/>
              </a:rPr>
              <a:t>/ </a:t>
            </a:r>
            <a:r>
              <a:rPr b="0" lang="ko-KR" sz="2500" spc="-1" strike="noStrike">
                <a:solidFill>
                  <a:srgbClr val="555555"/>
                </a:solidFill>
                <a:latin typeface="Noto Sans CJK KR"/>
                <a:ea typeface="Noto Sans CJK KR"/>
              </a:rPr>
              <a:t>자재창고 로봇팔 </a:t>
            </a:r>
            <a:r>
              <a:rPr b="0" lang="en-US" sz="2500" spc="-1" strike="noStrike">
                <a:solidFill>
                  <a:srgbClr val="555555"/>
                </a:solidFill>
                <a:latin typeface="Noto Sans CJK KR"/>
                <a:ea typeface="Noto Sans CJK KR"/>
              </a:rPr>
              <a:t>/ </a:t>
            </a:r>
            <a:r>
              <a:rPr b="0" lang="ko-KR" sz="2500" spc="-1" strike="noStrike">
                <a:solidFill>
                  <a:srgbClr val="555555"/>
                </a:solidFill>
                <a:latin typeface="Noto Sans CJK KR"/>
                <a:ea typeface="Noto Sans CJK KR"/>
              </a:rPr>
              <a:t>팀 작업</a:t>
            </a:r>
            <a:endParaRPr b="0" lang="en-US" sz="2500" spc="-1" strike="noStrike">
              <a:solidFill>
                <a:srgbClr val="000000"/>
              </a:solidFill>
              <a:latin typeface="Noto Sans CJK KR"/>
            </a:endParaRPr>
          </a:p>
        </p:txBody>
      </p:sp>
      <p:pic>
        <p:nvPicPr>
          <p:cNvPr id="207" name="" descr=""/>
          <p:cNvPicPr/>
          <p:nvPr/>
        </p:nvPicPr>
        <p:blipFill>
          <a:blip r:embed="rId2"/>
          <a:stretch/>
        </p:blipFill>
        <p:spPr>
          <a:xfrm>
            <a:off x="2590920" y="9271080"/>
            <a:ext cx="4317480" cy="3238200"/>
          </a:xfrm>
          <a:prstGeom prst="rect">
            <a:avLst/>
          </a:prstGeom>
          <a:ln w="0">
            <a:noFill/>
          </a:ln>
        </p:spPr>
      </p:pic>
      <p:sp>
        <p:nvSpPr>
          <p:cNvPr id="208" name=""/>
          <p:cNvSpPr txBox="1"/>
          <p:nvPr/>
        </p:nvSpPr>
        <p:spPr>
          <a:xfrm>
            <a:off x="2616120" y="8483760"/>
            <a:ext cx="6459120" cy="369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ko-KR" sz="2000" spc="-1" strike="noStrike">
                <a:solidFill>
                  <a:srgbClr val="555555"/>
                </a:solidFill>
                <a:latin typeface="Noto Sans CJK KR"/>
                <a:ea typeface="Noto Sans CJK KR"/>
              </a:rPr>
              <a:t>학습한 모델로 부품을 집는 장면 </a:t>
            </a:r>
            <a:r>
              <a:rPr b="0" lang="en-US" sz="2000" spc="-1" strike="noStrike">
                <a:solidFill>
                  <a:srgbClr val="555555"/>
                </a:solidFill>
                <a:latin typeface="Noto Sans CJK KR"/>
                <a:ea typeface="Noto Sans CJK KR"/>
              </a:rPr>
              <a:t>: </a:t>
            </a:r>
            <a:r>
              <a:rPr b="0" lang="ko-KR" sz="2000" spc="-1" strike="noStrike">
                <a:solidFill>
                  <a:srgbClr val="555555"/>
                </a:solidFill>
                <a:latin typeface="Noto Sans CJK KR"/>
                <a:ea typeface="Noto Sans CJK KR"/>
              </a:rPr>
              <a:t>상단 카메라 </a:t>
            </a:r>
            <a:r>
              <a:rPr b="0" lang="en-US" sz="2000" spc="-1" strike="noStrike">
                <a:solidFill>
                  <a:srgbClr val="555555"/>
                </a:solidFill>
                <a:latin typeface="Noto Sans CJK KR"/>
                <a:ea typeface="Noto Sans CJK KR"/>
              </a:rPr>
              <a:t>+ </a:t>
            </a:r>
            <a:r>
              <a:rPr b="0" lang="ko-KR" sz="2000" spc="-1" strike="noStrike">
                <a:solidFill>
                  <a:srgbClr val="555555"/>
                </a:solidFill>
                <a:latin typeface="Noto Sans CJK KR"/>
                <a:ea typeface="Noto Sans CJK KR"/>
              </a:rPr>
              <a:t>집게 카메라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09" name=""/>
          <p:cNvSpPr txBox="1"/>
          <p:nvPr/>
        </p:nvSpPr>
        <p:spPr>
          <a:xfrm>
            <a:off x="7302600" y="9785520"/>
            <a:ext cx="2512440" cy="369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ko-KR" sz="2000" spc="-1" strike="noStrike">
                <a:solidFill>
                  <a:srgbClr val="555555"/>
                </a:solidFill>
                <a:latin typeface="Noto Sans CJK KR"/>
                <a:ea typeface="Noto Sans CJK KR"/>
              </a:rPr>
              <a:t>리더 팔을 손으로 움직여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10" name=""/>
          <p:cNvSpPr/>
          <p:nvPr/>
        </p:nvSpPr>
        <p:spPr>
          <a:xfrm>
            <a:off x="14223960" y="9468360"/>
            <a:ext cx="1814760" cy="661680"/>
          </a:xfrm>
          <a:custGeom>
            <a:avLst/>
            <a:gdLst/>
            <a:ahLst/>
            <a:rect l="0" t="0" r="r" b="b"/>
            <a:pathLst>
              <a:path w="5041" h="1838">
                <a:moveTo>
                  <a:pt x="0" y="0"/>
                </a:moveTo>
                <a:lnTo>
                  <a:pt x="5041" y="0"/>
                </a:lnTo>
                <a:lnTo>
                  <a:pt x="5041" y="1838"/>
                </a:lnTo>
                <a:lnTo>
                  <a:pt x="0" y="1838"/>
                </a:lnTo>
                <a:lnTo>
                  <a:pt x="0" y="0"/>
                </a:lnTo>
                <a:close/>
              </a:path>
            </a:pathLst>
          </a:custGeom>
          <a:solidFill>
            <a:srgbClr val="edede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11" name=""/>
          <p:cNvSpPr/>
          <p:nvPr/>
        </p:nvSpPr>
        <p:spPr>
          <a:xfrm>
            <a:off x="16038360" y="9468360"/>
            <a:ext cx="2723760" cy="661680"/>
          </a:xfrm>
          <a:custGeom>
            <a:avLst/>
            <a:gdLst/>
            <a:ahLst/>
            <a:rect l="0" t="0" r="r" b="b"/>
            <a:pathLst>
              <a:path w="7566" h="1838">
                <a:moveTo>
                  <a:pt x="0" y="0"/>
                </a:moveTo>
                <a:lnTo>
                  <a:pt x="7566" y="0"/>
                </a:lnTo>
                <a:lnTo>
                  <a:pt x="7566" y="1838"/>
                </a:lnTo>
                <a:lnTo>
                  <a:pt x="0" y="1838"/>
                </a:lnTo>
                <a:lnTo>
                  <a:pt x="0" y="0"/>
                </a:lnTo>
                <a:close/>
              </a:path>
            </a:pathLst>
          </a:custGeom>
          <a:solidFill>
            <a:srgbClr val="edede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12" name=""/>
          <p:cNvSpPr/>
          <p:nvPr/>
        </p:nvSpPr>
        <p:spPr>
          <a:xfrm>
            <a:off x="18761760" y="9468360"/>
            <a:ext cx="2117520" cy="661680"/>
          </a:xfrm>
          <a:custGeom>
            <a:avLst/>
            <a:gdLst/>
            <a:ahLst/>
            <a:rect l="0" t="0" r="r" b="b"/>
            <a:pathLst>
              <a:path w="5882" h="1838">
                <a:moveTo>
                  <a:pt x="0" y="0"/>
                </a:moveTo>
                <a:lnTo>
                  <a:pt x="5882" y="0"/>
                </a:lnTo>
                <a:lnTo>
                  <a:pt x="5882" y="1838"/>
                </a:lnTo>
                <a:lnTo>
                  <a:pt x="0" y="1838"/>
                </a:lnTo>
                <a:lnTo>
                  <a:pt x="0" y="0"/>
                </a:lnTo>
                <a:close/>
              </a:path>
            </a:pathLst>
          </a:custGeom>
          <a:solidFill>
            <a:srgbClr val="edede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13" name=""/>
          <p:cNvSpPr/>
          <p:nvPr/>
        </p:nvSpPr>
        <p:spPr>
          <a:xfrm>
            <a:off x="20878920" y="9468360"/>
            <a:ext cx="1981080" cy="661680"/>
          </a:xfrm>
          <a:custGeom>
            <a:avLst/>
            <a:gdLst/>
            <a:ahLst/>
            <a:rect l="0" t="0" r="r" b="b"/>
            <a:pathLst>
              <a:path w="5503" h="1838">
                <a:moveTo>
                  <a:pt x="0" y="0"/>
                </a:moveTo>
                <a:lnTo>
                  <a:pt x="5503" y="0"/>
                </a:lnTo>
                <a:lnTo>
                  <a:pt x="5503" y="1838"/>
                </a:lnTo>
                <a:lnTo>
                  <a:pt x="0" y="1838"/>
                </a:lnTo>
                <a:lnTo>
                  <a:pt x="0" y="0"/>
                </a:lnTo>
                <a:close/>
              </a:path>
            </a:pathLst>
          </a:custGeom>
          <a:solidFill>
            <a:srgbClr val="edede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14" name=""/>
          <p:cNvSpPr/>
          <p:nvPr/>
        </p:nvSpPr>
        <p:spPr>
          <a:xfrm>
            <a:off x="14223960" y="10129680"/>
            <a:ext cx="1814400" cy="0"/>
          </a:xfrm>
          <a:prstGeom prst="line">
            <a:avLst/>
          </a:prstGeom>
          <a:ln w="18720">
            <a:solidFill>
              <a:srgbClr val="bbbbbb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360" rIns="9360" tIns="-9360" bIns="-93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15" name=""/>
          <p:cNvSpPr/>
          <p:nvPr/>
        </p:nvSpPr>
        <p:spPr>
          <a:xfrm>
            <a:off x="16038360" y="10129680"/>
            <a:ext cx="2723400" cy="0"/>
          </a:xfrm>
          <a:prstGeom prst="line">
            <a:avLst/>
          </a:prstGeom>
          <a:ln w="18720">
            <a:solidFill>
              <a:srgbClr val="bbbbbb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360" rIns="9360" tIns="-9360" bIns="-93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16" name=""/>
          <p:cNvSpPr/>
          <p:nvPr/>
        </p:nvSpPr>
        <p:spPr>
          <a:xfrm>
            <a:off x="18761760" y="10129680"/>
            <a:ext cx="2117160" cy="0"/>
          </a:xfrm>
          <a:prstGeom prst="line">
            <a:avLst/>
          </a:prstGeom>
          <a:ln w="18720">
            <a:solidFill>
              <a:srgbClr val="bbbbbb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360" rIns="9360" tIns="-9360" bIns="-93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17" name=""/>
          <p:cNvSpPr/>
          <p:nvPr/>
        </p:nvSpPr>
        <p:spPr>
          <a:xfrm>
            <a:off x="20878920" y="10129680"/>
            <a:ext cx="1980720" cy="0"/>
          </a:xfrm>
          <a:prstGeom prst="line">
            <a:avLst/>
          </a:prstGeom>
          <a:ln w="18720">
            <a:solidFill>
              <a:srgbClr val="bbbbbb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360" rIns="9360" tIns="-9360" bIns="-93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18" name=""/>
          <p:cNvSpPr/>
          <p:nvPr/>
        </p:nvSpPr>
        <p:spPr>
          <a:xfrm>
            <a:off x="14223960" y="10800360"/>
            <a:ext cx="1814400" cy="0"/>
          </a:xfrm>
          <a:prstGeom prst="line">
            <a:avLst/>
          </a:prstGeom>
          <a:ln w="18720">
            <a:solidFill>
              <a:srgbClr val="bbbbbb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360" rIns="9360" tIns="-9360" bIns="-93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19" name=""/>
          <p:cNvSpPr/>
          <p:nvPr/>
        </p:nvSpPr>
        <p:spPr>
          <a:xfrm>
            <a:off x="16038360" y="10800360"/>
            <a:ext cx="2723400" cy="0"/>
          </a:xfrm>
          <a:prstGeom prst="line">
            <a:avLst/>
          </a:prstGeom>
          <a:ln w="18720">
            <a:solidFill>
              <a:srgbClr val="bbbbbb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360" rIns="9360" tIns="-9360" bIns="-93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20" name=""/>
          <p:cNvSpPr/>
          <p:nvPr/>
        </p:nvSpPr>
        <p:spPr>
          <a:xfrm>
            <a:off x="18761760" y="10800360"/>
            <a:ext cx="2117160" cy="0"/>
          </a:xfrm>
          <a:prstGeom prst="line">
            <a:avLst/>
          </a:prstGeom>
          <a:ln w="18720">
            <a:solidFill>
              <a:srgbClr val="bbbbbb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360" rIns="9360" tIns="-9360" bIns="-93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21" name=""/>
          <p:cNvSpPr/>
          <p:nvPr/>
        </p:nvSpPr>
        <p:spPr>
          <a:xfrm>
            <a:off x="20878920" y="10800360"/>
            <a:ext cx="1980720" cy="0"/>
          </a:xfrm>
          <a:prstGeom prst="line">
            <a:avLst/>
          </a:prstGeom>
          <a:ln w="18720">
            <a:solidFill>
              <a:srgbClr val="bbbbbb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360" rIns="9360" tIns="-9360" bIns="-93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22" name=""/>
          <p:cNvSpPr/>
          <p:nvPr/>
        </p:nvSpPr>
        <p:spPr>
          <a:xfrm>
            <a:off x="14223960" y="11470680"/>
            <a:ext cx="1814400" cy="0"/>
          </a:xfrm>
          <a:prstGeom prst="line">
            <a:avLst/>
          </a:prstGeom>
          <a:ln w="18720">
            <a:solidFill>
              <a:srgbClr val="bbbbbb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360" rIns="9360" tIns="-9360" bIns="-93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23" name=""/>
          <p:cNvSpPr/>
          <p:nvPr/>
        </p:nvSpPr>
        <p:spPr>
          <a:xfrm>
            <a:off x="16038360" y="11470680"/>
            <a:ext cx="2723400" cy="0"/>
          </a:xfrm>
          <a:prstGeom prst="line">
            <a:avLst/>
          </a:prstGeom>
          <a:ln w="18720">
            <a:solidFill>
              <a:srgbClr val="bbbbbb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360" rIns="9360" tIns="-9360" bIns="-93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24" name=""/>
          <p:cNvSpPr/>
          <p:nvPr/>
        </p:nvSpPr>
        <p:spPr>
          <a:xfrm>
            <a:off x="18761760" y="11470680"/>
            <a:ext cx="2117160" cy="0"/>
          </a:xfrm>
          <a:prstGeom prst="line">
            <a:avLst/>
          </a:prstGeom>
          <a:ln w="18720">
            <a:solidFill>
              <a:srgbClr val="bbbbbb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360" rIns="9360" tIns="-9360" bIns="-93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25" name=""/>
          <p:cNvSpPr/>
          <p:nvPr/>
        </p:nvSpPr>
        <p:spPr>
          <a:xfrm>
            <a:off x="20878920" y="11470680"/>
            <a:ext cx="1980720" cy="0"/>
          </a:xfrm>
          <a:prstGeom prst="line">
            <a:avLst/>
          </a:prstGeom>
          <a:ln w="18720">
            <a:solidFill>
              <a:srgbClr val="bbbbbb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360" rIns="9360" tIns="-9360" bIns="-93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26" name=""/>
          <p:cNvSpPr txBox="1"/>
          <p:nvPr/>
        </p:nvSpPr>
        <p:spPr>
          <a:xfrm>
            <a:off x="7302600" y="10166760"/>
            <a:ext cx="3796920" cy="369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ko-KR" sz="2000" spc="-1" strike="noStrike">
                <a:solidFill>
                  <a:srgbClr val="555555"/>
                </a:solidFill>
                <a:latin typeface="Noto Sans CJK KR"/>
                <a:ea typeface="Noto Sans CJK KR"/>
              </a:rPr>
              <a:t>팔로워 팔 동작을 시연 데이터로 기록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27" name=""/>
          <p:cNvSpPr txBox="1"/>
          <p:nvPr/>
        </p:nvSpPr>
        <p:spPr>
          <a:xfrm>
            <a:off x="14223960" y="4064040"/>
            <a:ext cx="771840" cy="606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ko-KR" sz="3300" spc="-1" strike="noStrike">
                <a:solidFill>
                  <a:srgbClr val="1a1a1a"/>
                </a:solidFill>
                <a:latin typeface="Noto Sans CJK KR"/>
                <a:ea typeface="Noto Sans CJK KR"/>
              </a:rPr>
              <a:t>공정</a:t>
            </a:r>
            <a:endParaRPr b="0" lang="en-US" sz="33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28" name=""/>
          <p:cNvSpPr txBox="1"/>
          <p:nvPr/>
        </p:nvSpPr>
        <p:spPr>
          <a:xfrm>
            <a:off x="14223960" y="4857120"/>
            <a:ext cx="8831520" cy="478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ko-KR" sz="2600" spc="-1" strike="noStrike">
                <a:solidFill>
                  <a:srgbClr val="1a1a1a"/>
                </a:solidFill>
                <a:latin typeface="Noto Sans CJK KR"/>
                <a:ea typeface="Noto Sans CJK KR"/>
              </a:rPr>
              <a:t>자재창고 로봇팔이 제품별 부품 </a:t>
            </a:r>
            <a:r>
              <a:rPr b="0" lang="en-US" sz="2600" spc="-1" strike="noStrike">
                <a:solidFill>
                  <a:srgbClr val="1a1a1a"/>
                </a:solidFill>
                <a:latin typeface="Noto Sans CJK KR"/>
                <a:ea typeface="Noto Sans CJK KR"/>
              </a:rPr>
              <a:t>3</a:t>
            </a:r>
            <a:r>
              <a:rPr b="0" lang="ko-KR" sz="2600" spc="-1" strike="noStrike">
                <a:solidFill>
                  <a:srgbClr val="1a1a1a"/>
                </a:solidFill>
                <a:latin typeface="Noto Sans CJK KR"/>
                <a:ea typeface="Noto Sans CJK KR"/>
              </a:rPr>
              <a:t>개를 집어 </a:t>
            </a:r>
            <a:r>
              <a:rPr b="0" lang="en-US" sz="2600" spc="-1" strike="noStrike">
                <a:solidFill>
                  <a:srgbClr val="1a1a1a"/>
                </a:solidFill>
                <a:latin typeface="Noto Sans CJK KR"/>
                <a:ea typeface="Noto Sans CJK KR"/>
              </a:rPr>
              <a:t>AMR </a:t>
            </a:r>
            <a:r>
              <a:rPr b="0" lang="ko-KR" sz="2600" spc="-1" strike="noStrike">
                <a:solidFill>
                  <a:srgbClr val="1a1a1a"/>
                </a:solidFill>
                <a:latin typeface="Noto Sans CJK KR"/>
                <a:ea typeface="Noto Sans CJK KR"/>
              </a:rPr>
              <a:t>운반판에 올립</a:t>
            </a:r>
            <a:endParaRPr b="0" lang="en-US" sz="2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29" name=""/>
          <p:cNvSpPr txBox="1"/>
          <p:nvPr/>
        </p:nvSpPr>
        <p:spPr>
          <a:xfrm>
            <a:off x="14223960" y="5352480"/>
            <a:ext cx="8669880" cy="478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ko-KR" sz="2600" spc="-1" strike="noStrike">
                <a:solidFill>
                  <a:srgbClr val="1a1a1a"/>
                </a:solidFill>
                <a:latin typeface="Noto Sans CJK KR"/>
                <a:ea typeface="Noto Sans CJK KR"/>
              </a:rPr>
              <a:t>니다</a:t>
            </a:r>
            <a:r>
              <a:rPr b="0" lang="en-US" sz="2600" spc="-1" strike="noStrike">
                <a:solidFill>
                  <a:srgbClr val="1a1a1a"/>
                </a:solidFill>
                <a:latin typeface="Noto Sans CJK KR"/>
                <a:ea typeface="Noto Sans CJK KR"/>
              </a:rPr>
              <a:t>. </a:t>
            </a:r>
            <a:r>
              <a:rPr b="0" lang="ko-KR" sz="2600" spc="-1" strike="noStrike">
                <a:solidFill>
                  <a:srgbClr val="1a1a1a"/>
                </a:solidFill>
                <a:latin typeface="Noto Sans CJK KR"/>
                <a:ea typeface="Noto Sans CJK KR"/>
              </a:rPr>
              <a:t>리더 팔로 시연을 기록하고 </a:t>
            </a:r>
            <a:r>
              <a:rPr b="0" lang="en-US" sz="2600" spc="-1" strike="noStrike">
                <a:solidFill>
                  <a:srgbClr val="1a1a1a"/>
                </a:solidFill>
                <a:latin typeface="Noto Sans CJK KR"/>
                <a:ea typeface="Noto Sans CJK KR"/>
              </a:rPr>
              <a:t>ACT </a:t>
            </a:r>
            <a:r>
              <a:rPr b="0" lang="ko-KR" sz="2600" spc="-1" strike="noStrike">
                <a:solidFill>
                  <a:srgbClr val="1a1a1a"/>
                </a:solidFill>
                <a:latin typeface="Noto Sans CJK KR"/>
                <a:ea typeface="Noto Sans CJK KR"/>
              </a:rPr>
              <a:t>모델로 학습해 실행합니</a:t>
            </a:r>
            <a:endParaRPr b="0" lang="en-US" sz="2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30" name=""/>
          <p:cNvSpPr txBox="1"/>
          <p:nvPr/>
        </p:nvSpPr>
        <p:spPr>
          <a:xfrm>
            <a:off x="14223960" y="5847840"/>
            <a:ext cx="490680" cy="478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ko-KR" sz="2600" spc="-1" strike="noStrike">
                <a:solidFill>
                  <a:srgbClr val="1a1a1a"/>
                </a:solidFill>
                <a:latin typeface="Noto Sans CJK KR"/>
                <a:ea typeface="Noto Sans CJK KR"/>
              </a:rPr>
              <a:t>다</a:t>
            </a:r>
            <a:r>
              <a:rPr b="0" lang="en-US" sz="2600" spc="-1" strike="noStrike">
                <a:solidFill>
                  <a:srgbClr val="1a1a1a"/>
                </a:solidFill>
                <a:latin typeface="Noto Sans CJK KR"/>
                <a:ea typeface="Noto Sans CJK KR"/>
              </a:rPr>
              <a:t>.</a:t>
            </a:r>
            <a:endParaRPr b="0" lang="en-US" sz="2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31" name=""/>
          <p:cNvSpPr txBox="1"/>
          <p:nvPr/>
        </p:nvSpPr>
        <p:spPr>
          <a:xfrm>
            <a:off x="14223960" y="6766200"/>
            <a:ext cx="1637640" cy="606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ko-KR" sz="3300" spc="-1" strike="noStrike">
                <a:solidFill>
                  <a:srgbClr val="1a1a1a"/>
                </a:solidFill>
                <a:latin typeface="Noto Sans CJK KR"/>
                <a:ea typeface="Noto Sans CJK KR"/>
              </a:rPr>
              <a:t>맡은 부분</a:t>
            </a:r>
            <a:endParaRPr b="0" lang="en-US" sz="33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32" name=""/>
          <p:cNvSpPr txBox="1"/>
          <p:nvPr/>
        </p:nvSpPr>
        <p:spPr>
          <a:xfrm>
            <a:off x="14223960" y="7559640"/>
            <a:ext cx="8776800" cy="478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ko-KR" sz="2600" spc="-1" strike="noStrike">
                <a:solidFill>
                  <a:srgbClr val="1a1a1a"/>
                </a:solidFill>
                <a:latin typeface="Noto Sans CJK KR"/>
                <a:ea typeface="Noto Sans CJK KR"/>
              </a:rPr>
              <a:t>리더</a:t>
            </a:r>
            <a:r>
              <a:rPr b="0" lang="en-US" sz="2600" spc="-1" strike="noStrike">
                <a:solidFill>
                  <a:srgbClr val="1a1a1a"/>
                </a:solidFill>
                <a:latin typeface="Noto Sans CJK KR"/>
                <a:ea typeface="Noto Sans CJK KR"/>
              </a:rPr>
              <a:t>·</a:t>
            </a:r>
            <a:r>
              <a:rPr b="0" lang="ko-KR" sz="2600" spc="-1" strike="noStrike">
                <a:solidFill>
                  <a:srgbClr val="1a1a1a"/>
                </a:solidFill>
                <a:latin typeface="Noto Sans CJK KR"/>
                <a:ea typeface="Noto Sans CJK KR"/>
              </a:rPr>
              <a:t>팔로워 시연 데이터 수집에 참여했고</a:t>
            </a:r>
            <a:r>
              <a:rPr b="0" lang="en-US" sz="2600" spc="-1" strike="noStrike">
                <a:solidFill>
                  <a:srgbClr val="1a1a1a"/>
                </a:solidFill>
                <a:latin typeface="Noto Sans CJK KR"/>
                <a:ea typeface="Noto Sans CJK KR"/>
              </a:rPr>
              <a:t>, </a:t>
            </a:r>
            <a:r>
              <a:rPr b="0" lang="ko-KR" sz="2600" spc="-1" strike="noStrike">
                <a:solidFill>
                  <a:srgbClr val="1a1a1a"/>
                </a:solidFill>
                <a:latin typeface="Noto Sans CJK KR"/>
                <a:ea typeface="Noto Sans CJK KR"/>
              </a:rPr>
              <a:t>운반판</a:t>
            </a:r>
            <a:r>
              <a:rPr b="0" lang="en-US" sz="2600" spc="-1" strike="noStrike">
                <a:solidFill>
                  <a:srgbClr val="1a1a1a"/>
                </a:solidFill>
                <a:latin typeface="Noto Sans CJK KR"/>
                <a:ea typeface="Noto Sans CJK KR"/>
              </a:rPr>
              <a:t>·</a:t>
            </a:r>
            <a:r>
              <a:rPr b="0" lang="ko-KR" sz="2600" spc="-1" strike="noStrike">
                <a:solidFill>
                  <a:srgbClr val="1a1a1a"/>
                </a:solidFill>
                <a:latin typeface="Noto Sans CJK KR"/>
                <a:ea typeface="Noto Sans CJK KR"/>
              </a:rPr>
              <a:t>안착 지그</a:t>
            </a:r>
            <a:endParaRPr b="0" lang="en-US" sz="2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33" name=""/>
          <p:cNvSpPr txBox="1"/>
          <p:nvPr/>
        </p:nvSpPr>
        <p:spPr>
          <a:xfrm>
            <a:off x="14223960" y="8055000"/>
            <a:ext cx="8681040" cy="478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600" spc="-1" strike="noStrike">
                <a:solidFill>
                  <a:srgbClr val="1a1a1a"/>
                </a:solidFill>
                <a:latin typeface="Noto Sans CJK KR"/>
                <a:ea typeface="Noto Sans CJK KR"/>
              </a:rPr>
              <a:t>3D </a:t>
            </a:r>
            <a:r>
              <a:rPr b="0" lang="ko-KR" sz="2600" spc="-1" strike="noStrike">
                <a:solidFill>
                  <a:srgbClr val="1a1a1a"/>
                </a:solidFill>
                <a:latin typeface="Noto Sans CJK KR"/>
                <a:ea typeface="Noto Sans CJK KR"/>
              </a:rPr>
              <a:t>모델링과 형상 수정은 혼자 맡았습니다</a:t>
            </a:r>
            <a:r>
              <a:rPr b="0" lang="en-US" sz="2600" spc="-1" strike="noStrike">
                <a:solidFill>
                  <a:srgbClr val="1a1a1a"/>
                </a:solidFill>
                <a:latin typeface="Noto Sans CJK KR"/>
                <a:ea typeface="Noto Sans CJK KR"/>
              </a:rPr>
              <a:t>. </a:t>
            </a:r>
            <a:r>
              <a:rPr b="0" lang="ko-KR" sz="2600" spc="-1" strike="noStrike">
                <a:solidFill>
                  <a:srgbClr val="1a1a1a"/>
                </a:solidFill>
                <a:latin typeface="Noto Sans CJK KR"/>
                <a:ea typeface="Noto Sans CJK KR"/>
              </a:rPr>
              <a:t>모델 학습과 운영은</a:t>
            </a:r>
            <a:endParaRPr b="0" lang="en-US" sz="2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34" name=""/>
          <p:cNvSpPr txBox="1"/>
          <p:nvPr/>
        </p:nvSpPr>
        <p:spPr>
          <a:xfrm>
            <a:off x="14223960" y="8550360"/>
            <a:ext cx="2391120" cy="478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ko-KR" sz="2600" spc="-1" strike="noStrike">
                <a:solidFill>
                  <a:srgbClr val="1a1a1a"/>
                </a:solidFill>
                <a:latin typeface="Noto Sans CJK KR"/>
                <a:ea typeface="Noto Sans CJK KR"/>
              </a:rPr>
              <a:t>팀원 담당입니다</a:t>
            </a:r>
            <a:r>
              <a:rPr b="0" lang="en-US" sz="2600" spc="-1" strike="noStrike">
                <a:solidFill>
                  <a:srgbClr val="1a1a1a"/>
                </a:solidFill>
                <a:latin typeface="Noto Sans CJK KR"/>
                <a:ea typeface="Noto Sans CJK KR"/>
              </a:rPr>
              <a:t>.</a:t>
            </a:r>
            <a:endParaRPr b="0" lang="en-US" sz="2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35" name=""/>
          <p:cNvSpPr txBox="1"/>
          <p:nvPr/>
        </p:nvSpPr>
        <p:spPr>
          <a:xfrm>
            <a:off x="14351040" y="9582840"/>
            <a:ext cx="538560" cy="424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ko-KR" sz="2300" spc="-1" strike="noStrike">
                <a:solidFill>
                  <a:srgbClr val="1a1a1a"/>
                </a:solidFill>
                <a:latin typeface="Noto Sans CJK KR"/>
                <a:ea typeface="Noto Sans CJK KR"/>
              </a:rPr>
              <a:t>모델</a:t>
            </a:r>
            <a:endParaRPr b="0" lang="en-US" sz="23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36" name=""/>
          <p:cNvSpPr txBox="1"/>
          <p:nvPr/>
        </p:nvSpPr>
        <p:spPr>
          <a:xfrm>
            <a:off x="16695360" y="9582840"/>
            <a:ext cx="1411920" cy="424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ko-KR" sz="2300" spc="-1" strike="noStrike">
                <a:solidFill>
                  <a:srgbClr val="1a1a1a"/>
                </a:solidFill>
                <a:latin typeface="Noto Sans CJK KR"/>
                <a:ea typeface="Noto Sans CJK KR"/>
              </a:rPr>
              <a:t>시연 데이터</a:t>
            </a:r>
            <a:endParaRPr b="0" lang="en-US" sz="23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37" name=""/>
          <p:cNvSpPr txBox="1"/>
          <p:nvPr/>
        </p:nvSpPr>
        <p:spPr>
          <a:xfrm>
            <a:off x="19551960" y="9582840"/>
            <a:ext cx="538560" cy="424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ko-KR" sz="2300" spc="-1" strike="noStrike">
                <a:solidFill>
                  <a:srgbClr val="1a1a1a"/>
                </a:solidFill>
                <a:latin typeface="Noto Sans CJK KR"/>
                <a:ea typeface="Noto Sans CJK KR"/>
              </a:rPr>
              <a:t>학습</a:t>
            </a:r>
            <a:endParaRPr b="0" lang="en-US" sz="23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38" name=""/>
          <p:cNvSpPr txBox="1"/>
          <p:nvPr/>
        </p:nvSpPr>
        <p:spPr>
          <a:xfrm>
            <a:off x="21299040" y="9582840"/>
            <a:ext cx="1143720" cy="424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ko-KR" sz="2300" spc="-1" strike="noStrike">
                <a:solidFill>
                  <a:srgbClr val="1a1a1a"/>
                </a:solidFill>
                <a:latin typeface="Noto Sans CJK KR"/>
                <a:ea typeface="Noto Sans CJK KR"/>
              </a:rPr>
              <a:t>실물 운반</a:t>
            </a:r>
            <a:endParaRPr b="0" lang="en-US" sz="23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39" name=""/>
          <p:cNvSpPr txBox="1"/>
          <p:nvPr/>
        </p:nvSpPr>
        <p:spPr>
          <a:xfrm>
            <a:off x="14351040" y="10253520"/>
            <a:ext cx="1095480" cy="424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300" spc="-1" strike="noStrike">
                <a:solidFill>
                  <a:srgbClr val="1a1a1a"/>
                </a:solidFill>
                <a:latin typeface="Noto Sans CJK KR"/>
                <a:ea typeface="Noto Sans CJK KR"/>
              </a:rPr>
              <a:t>A · </a:t>
            </a:r>
            <a:r>
              <a:rPr b="0" lang="ko-KR" sz="2300" spc="-1" strike="noStrike">
                <a:solidFill>
                  <a:srgbClr val="1a1a1a"/>
                </a:solidFill>
                <a:latin typeface="Noto Sans CJK KR"/>
                <a:ea typeface="Noto Sans CJK KR"/>
              </a:rPr>
              <a:t>보라</a:t>
            </a:r>
            <a:endParaRPr b="0" lang="en-US" sz="23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40" name=""/>
          <p:cNvSpPr txBox="1"/>
          <p:nvPr/>
        </p:nvSpPr>
        <p:spPr>
          <a:xfrm>
            <a:off x="16649280" y="10253520"/>
            <a:ext cx="1587960" cy="424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300" spc="-1" strike="noStrike">
                <a:solidFill>
                  <a:srgbClr val="1a1a1a"/>
                </a:solidFill>
                <a:latin typeface="Noto Sans CJK KR"/>
                <a:ea typeface="Noto Sans CJK KR"/>
              </a:rPr>
              <a:t>60 → 230</a:t>
            </a:r>
            <a:r>
              <a:rPr b="0" lang="ko-KR" sz="2300" spc="-1" strike="noStrike">
                <a:solidFill>
                  <a:srgbClr val="1a1a1a"/>
                </a:solidFill>
                <a:latin typeface="Noto Sans CJK KR"/>
                <a:ea typeface="Noto Sans CJK KR"/>
              </a:rPr>
              <a:t>개</a:t>
            </a:r>
            <a:endParaRPr b="0" lang="en-US" sz="23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41" name=""/>
          <p:cNvSpPr txBox="1"/>
          <p:nvPr/>
        </p:nvSpPr>
        <p:spPr>
          <a:xfrm>
            <a:off x="19202040" y="10253520"/>
            <a:ext cx="1418040" cy="424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300" spc="-1" strike="noStrike">
                <a:solidFill>
                  <a:srgbClr val="1a1a1a"/>
                </a:solidFill>
                <a:latin typeface="Noto Sans CJK KR"/>
                <a:ea typeface="Noto Sans CJK KR"/>
              </a:rPr>
              <a:t>15</a:t>
            </a:r>
            <a:r>
              <a:rPr b="0" lang="ko-KR" sz="2300" spc="-1" strike="noStrike">
                <a:solidFill>
                  <a:srgbClr val="1a1a1a"/>
                </a:solidFill>
                <a:latin typeface="Noto Sans CJK KR"/>
                <a:ea typeface="Noto Sans CJK KR"/>
              </a:rPr>
              <a:t>만 </a:t>
            </a:r>
            <a:r>
              <a:rPr b="0" lang="en-US" sz="2300" spc="-1" strike="noStrike">
                <a:solidFill>
                  <a:srgbClr val="1a1a1a"/>
                </a:solidFill>
                <a:latin typeface="Noto Sans CJK KR"/>
                <a:ea typeface="Noto Sans CJK KR"/>
              </a:rPr>
              <a:t>step</a:t>
            </a:r>
            <a:endParaRPr b="0" lang="en-US" sz="23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42" name=""/>
          <p:cNvSpPr txBox="1"/>
          <p:nvPr/>
        </p:nvSpPr>
        <p:spPr>
          <a:xfrm>
            <a:off x="21369240" y="10253520"/>
            <a:ext cx="1085040" cy="424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300" spc="-1" strike="noStrike">
                <a:solidFill>
                  <a:srgbClr val="1a1a1a"/>
                </a:solidFill>
                <a:latin typeface="Noto Sans CJK KR"/>
                <a:ea typeface="Noto Sans CJK KR"/>
              </a:rPr>
              <a:t>8 / 10</a:t>
            </a:r>
            <a:r>
              <a:rPr b="0" lang="ko-KR" sz="2300" spc="-1" strike="noStrike">
                <a:solidFill>
                  <a:srgbClr val="1a1a1a"/>
                </a:solidFill>
                <a:latin typeface="Noto Sans CJK KR"/>
                <a:ea typeface="Noto Sans CJK KR"/>
              </a:rPr>
              <a:t>회</a:t>
            </a:r>
            <a:endParaRPr b="0" lang="en-US" sz="23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43" name=""/>
          <p:cNvSpPr txBox="1"/>
          <p:nvPr/>
        </p:nvSpPr>
        <p:spPr>
          <a:xfrm>
            <a:off x="14351040" y="10924200"/>
            <a:ext cx="1109160" cy="424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300" spc="-1" strike="noStrike">
                <a:solidFill>
                  <a:srgbClr val="1a1a1a"/>
                </a:solidFill>
                <a:latin typeface="Noto Sans CJK KR"/>
                <a:ea typeface="Noto Sans CJK KR"/>
              </a:rPr>
              <a:t>B · </a:t>
            </a:r>
            <a:r>
              <a:rPr b="0" lang="ko-KR" sz="2300" spc="-1" strike="noStrike">
                <a:solidFill>
                  <a:srgbClr val="1a1a1a"/>
                </a:solidFill>
                <a:latin typeface="Noto Sans CJK KR"/>
                <a:ea typeface="Noto Sans CJK KR"/>
              </a:rPr>
              <a:t>주황</a:t>
            </a:r>
            <a:endParaRPr b="0" lang="en-US" sz="23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44" name=""/>
          <p:cNvSpPr txBox="1"/>
          <p:nvPr/>
        </p:nvSpPr>
        <p:spPr>
          <a:xfrm>
            <a:off x="16567920" y="10924200"/>
            <a:ext cx="1751040" cy="424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300" spc="-1" strike="noStrike">
                <a:solidFill>
                  <a:srgbClr val="1a1a1a"/>
                </a:solidFill>
                <a:latin typeface="Noto Sans CJK KR"/>
                <a:ea typeface="Noto Sans CJK KR"/>
              </a:rPr>
              <a:t>100 → 260</a:t>
            </a:r>
            <a:r>
              <a:rPr b="0" lang="ko-KR" sz="2300" spc="-1" strike="noStrike">
                <a:solidFill>
                  <a:srgbClr val="1a1a1a"/>
                </a:solidFill>
                <a:latin typeface="Noto Sans CJK KR"/>
                <a:ea typeface="Noto Sans CJK KR"/>
              </a:rPr>
              <a:t>개</a:t>
            </a:r>
            <a:endParaRPr b="0" lang="en-US" sz="23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45" name=""/>
          <p:cNvSpPr txBox="1"/>
          <p:nvPr/>
        </p:nvSpPr>
        <p:spPr>
          <a:xfrm>
            <a:off x="19202040" y="10924200"/>
            <a:ext cx="1418040" cy="424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300" spc="-1" strike="noStrike">
                <a:solidFill>
                  <a:srgbClr val="1a1a1a"/>
                </a:solidFill>
                <a:latin typeface="Noto Sans CJK KR"/>
                <a:ea typeface="Noto Sans CJK KR"/>
              </a:rPr>
              <a:t>25</a:t>
            </a:r>
            <a:r>
              <a:rPr b="0" lang="ko-KR" sz="2300" spc="-1" strike="noStrike">
                <a:solidFill>
                  <a:srgbClr val="1a1a1a"/>
                </a:solidFill>
                <a:latin typeface="Noto Sans CJK KR"/>
                <a:ea typeface="Noto Sans CJK KR"/>
              </a:rPr>
              <a:t>만 </a:t>
            </a:r>
            <a:r>
              <a:rPr b="0" lang="en-US" sz="2300" spc="-1" strike="noStrike">
                <a:solidFill>
                  <a:srgbClr val="1a1a1a"/>
                </a:solidFill>
                <a:latin typeface="Noto Sans CJK KR"/>
                <a:ea typeface="Noto Sans CJK KR"/>
              </a:rPr>
              <a:t>step</a:t>
            </a:r>
            <a:endParaRPr b="0" lang="en-US" sz="23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46" name=""/>
          <p:cNvSpPr txBox="1"/>
          <p:nvPr/>
        </p:nvSpPr>
        <p:spPr>
          <a:xfrm>
            <a:off x="21369240" y="10924200"/>
            <a:ext cx="1085040" cy="424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300" spc="-1" strike="noStrike">
                <a:solidFill>
                  <a:srgbClr val="1a1a1a"/>
                </a:solidFill>
                <a:latin typeface="Noto Sans CJK KR"/>
                <a:ea typeface="Noto Sans CJK KR"/>
              </a:rPr>
              <a:t>9 / 10</a:t>
            </a:r>
            <a:r>
              <a:rPr b="0" lang="ko-KR" sz="2300" spc="-1" strike="noStrike">
                <a:solidFill>
                  <a:srgbClr val="1a1a1a"/>
                </a:solidFill>
                <a:latin typeface="Noto Sans CJK KR"/>
                <a:ea typeface="Noto Sans CJK KR"/>
              </a:rPr>
              <a:t>회</a:t>
            </a:r>
            <a:endParaRPr b="0" lang="en-US" sz="23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47" name=""/>
          <p:cNvSpPr txBox="1"/>
          <p:nvPr/>
        </p:nvSpPr>
        <p:spPr>
          <a:xfrm>
            <a:off x="14223960" y="11920320"/>
            <a:ext cx="57218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400" spc="-1" strike="noStrike">
                <a:solidFill>
                  <a:srgbClr val="333333"/>
                </a:solidFill>
                <a:latin typeface="Noto Sans CJK KR"/>
                <a:ea typeface="Noto Sans CJK KR"/>
              </a:rPr>
              <a:t>SO-101 · LeRobot ACT · RealSense D435</a:t>
            </a:r>
            <a:endParaRPr b="0" lang="en-US" sz="2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48" name=""/>
          <p:cNvSpPr txBox="1"/>
          <p:nvPr/>
        </p:nvSpPr>
        <p:spPr>
          <a:xfrm>
            <a:off x="14223960" y="12377520"/>
            <a:ext cx="59940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400" spc="-1" strike="noStrike">
                <a:solidFill>
                  <a:srgbClr val="333333"/>
                </a:solidFill>
                <a:latin typeface="Noto Sans CJK KR"/>
                <a:ea typeface="Noto Sans CJK KR"/>
              </a:rPr>
              <a:t>ROS2 Action </a:t>
            </a:r>
            <a:r>
              <a:rPr b="0" lang="ko-KR" sz="2400" spc="-1" strike="noStrike">
                <a:solidFill>
                  <a:srgbClr val="333333"/>
                </a:solidFill>
                <a:latin typeface="Noto Sans CJK KR"/>
                <a:ea typeface="Noto Sans CJK KR"/>
              </a:rPr>
              <a:t>관제 연동 </a:t>
            </a:r>
            <a:r>
              <a:rPr b="0" lang="en-US" sz="2400" spc="-1" strike="noStrike">
                <a:solidFill>
                  <a:srgbClr val="333333"/>
                </a:solidFill>
                <a:latin typeface="Noto Sans CJK KR"/>
                <a:ea typeface="Noto Sans CJK KR"/>
              </a:rPr>
              <a:t>· MuJoCo </a:t>
            </a:r>
            <a:r>
              <a:rPr b="0" lang="ko-KR" sz="2400" spc="-1" strike="noStrike">
                <a:solidFill>
                  <a:srgbClr val="333333"/>
                </a:solidFill>
                <a:latin typeface="Noto Sans CJK KR"/>
                <a:ea typeface="Noto Sans CJK KR"/>
              </a:rPr>
              <a:t>자세 확인</a:t>
            </a:r>
            <a:endParaRPr b="0" lang="en-US" sz="2400" spc="-1" strike="noStrike">
              <a:solidFill>
                <a:srgbClr val="000000"/>
              </a:solidFill>
              <a:latin typeface="Noto Sans CJK KR"/>
            </a:endParaRPr>
          </a:p>
        </p:txBody>
      </p:sp>
      <p:pic>
        <p:nvPicPr>
          <p:cNvPr id="249" name="Picture 248" descr="arm2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0800" y="4191000"/>
            <a:ext cx="10922000" cy="4084277"/>
          </a:xfrm>
          <a:prstGeom prst="rect">
            <a:avLst/>
          </a:prstGeom>
        </p:spPr>
      </p:pic>
      <p:pic>
        <p:nvPicPr>
          <p:cNvPr id="250" name="Picture 249" descr="teleop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90800" y="9271000"/>
            <a:ext cx="4318000" cy="3238500"/>
          </a:xfrm>
          <a:prstGeom prst="rect">
            <a:avLst/>
          </a:prstGeom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"/>
          <p:cNvSpPr/>
          <p:nvPr/>
        </p:nvSpPr>
        <p:spPr>
          <a:xfrm>
            <a:off x="0" y="0"/>
            <a:ext cx="24384240" cy="13716360"/>
          </a:xfrm>
          <a:custGeom>
            <a:avLst/>
            <a:gdLst/>
            <a:ahLst/>
            <a:rect l="0" t="0" r="r" b="b"/>
            <a:pathLst>
              <a:path w="67734" h="38101">
                <a:moveTo>
                  <a:pt x="0" y="0"/>
                </a:moveTo>
                <a:lnTo>
                  <a:pt x="67734" y="0"/>
                </a:lnTo>
                <a:lnTo>
                  <a:pt x="67734" y="38101"/>
                </a:lnTo>
                <a:lnTo>
                  <a:pt x="0" y="3810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50" name=""/>
          <p:cNvSpPr/>
          <p:nvPr/>
        </p:nvSpPr>
        <p:spPr>
          <a:xfrm>
            <a:off x="0" y="0"/>
            <a:ext cx="1473480" cy="13716360"/>
          </a:xfrm>
          <a:custGeom>
            <a:avLst/>
            <a:gdLst/>
            <a:ahLst/>
            <a:rect l="0" t="0" r="r" b="b"/>
            <a:pathLst>
              <a:path w="4093" h="38101">
                <a:moveTo>
                  <a:pt x="0" y="0"/>
                </a:moveTo>
                <a:lnTo>
                  <a:pt x="4093" y="0"/>
                </a:lnTo>
                <a:lnTo>
                  <a:pt x="4093" y="38101"/>
                </a:lnTo>
                <a:lnTo>
                  <a:pt x="0" y="38101"/>
                </a:lnTo>
                <a:lnTo>
                  <a:pt x="0" y="0"/>
                </a:lnTo>
                <a:close/>
              </a:path>
            </a:pathLst>
          </a:custGeom>
          <a:solidFill>
            <a:srgbClr val="1e1e1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251" name=""/>
          <p:cNvSpPr txBox="1"/>
          <p:nvPr/>
        </p:nvSpPr>
        <p:spPr>
          <a:xfrm rot="5400000">
            <a:off x="102240" y="1209240"/>
            <a:ext cx="1265760" cy="314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700" spc="-1" strike="noStrike">
                <a:solidFill>
                  <a:srgbClr val="ffffff"/>
                </a:solidFill>
                <a:latin typeface="Noto Sans CJK KR"/>
                <a:ea typeface="Noto Sans CJK KR"/>
              </a:rPr>
              <a:t>Final Project</a:t>
            </a:r>
            <a:endParaRPr b="0" lang="en-US" sz="17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52" name=""/>
          <p:cNvSpPr txBox="1"/>
          <p:nvPr/>
        </p:nvSpPr>
        <p:spPr>
          <a:xfrm>
            <a:off x="519480" y="12514320"/>
            <a:ext cx="435240" cy="314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700" spc="-1" strike="noStrike">
                <a:solidFill>
                  <a:srgbClr val="ffffff"/>
                </a:solidFill>
                <a:latin typeface="Noto Sans CJK KR"/>
                <a:ea typeface="Noto Sans CJK KR"/>
              </a:rPr>
              <a:t>07-2</a:t>
            </a:r>
            <a:endParaRPr b="0" lang="en-US" sz="17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53" name=""/>
          <p:cNvSpPr txBox="1"/>
          <p:nvPr/>
        </p:nvSpPr>
        <p:spPr>
          <a:xfrm>
            <a:off x="2590920" y="990720"/>
            <a:ext cx="6145560" cy="993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ko-KR" sz="5400" spc="-1" strike="noStrike">
                <a:solidFill>
                  <a:srgbClr val="1a1a1a"/>
                </a:solidFill>
                <a:latin typeface="Noto Sans CJK KR"/>
                <a:ea typeface="Noto Sans CJK KR"/>
              </a:rPr>
              <a:t>안착 실패를 줄인 방법</a:t>
            </a:r>
            <a:endParaRPr b="0" lang="en-US" sz="5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54" name=""/>
          <p:cNvSpPr/>
          <p:nvPr/>
        </p:nvSpPr>
        <p:spPr>
          <a:xfrm>
            <a:off x="1473120" y="4254480"/>
            <a:ext cx="11455560" cy="4731120"/>
          </a:xfrm>
          <a:custGeom>
            <a:avLst/>
            <a:gdLst/>
            <a:ahLst/>
            <a:rect l="0" t="0" r="r" b="b"/>
            <a:pathLst>
              <a:path w="31821" h="13142">
                <a:moveTo>
                  <a:pt x="0" y="52"/>
                </a:moveTo>
                <a:lnTo>
                  <a:pt x="31821" y="52"/>
                </a:lnTo>
                <a:lnTo>
                  <a:pt x="31821" y="13142"/>
                </a:lnTo>
                <a:lnTo>
                  <a:pt x="0" y="13142"/>
                </a:lnTo>
                <a:lnTo>
                  <a:pt x="0" y="52"/>
                </a:lnTo>
                <a:moveTo>
                  <a:pt x="0" y="0"/>
                </a:moveTo>
                <a:lnTo>
                  <a:pt x="31821" y="0"/>
                </a:lnTo>
                <a:lnTo>
                  <a:pt x="31821" y="13142"/>
                </a:lnTo>
                <a:lnTo>
                  <a:pt x="0" y="13142"/>
                </a:lnTo>
                <a:lnTo>
                  <a:pt x="0" y="0"/>
                </a:lnTo>
                <a:close/>
              </a:path>
            </a:pathLst>
          </a:custGeom>
          <a:solidFill>
            <a:srgbClr val="99999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255" name=""/>
          <p:cNvSpPr txBox="1"/>
          <p:nvPr/>
        </p:nvSpPr>
        <p:spPr>
          <a:xfrm>
            <a:off x="2616120" y="2540160"/>
            <a:ext cx="5604480" cy="459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ko-KR" sz="2500" spc="-1" strike="noStrike">
                <a:solidFill>
                  <a:srgbClr val="555555"/>
                </a:solidFill>
                <a:latin typeface="Noto Sans CJK KR"/>
                <a:ea typeface="Noto Sans CJK KR"/>
              </a:rPr>
              <a:t>지그 모양과 시연 데이터를 같이 바꿨습니다</a:t>
            </a:r>
            <a:endParaRPr b="0" lang="en-US" sz="25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56" name=""/>
          <p:cNvSpPr txBox="1"/>
          <p:nvPr/>
        </p:nvSpPr>
        <p:spPr>
          <a:xfrm>
            <a:off x="2590920" y="4857840"/>
            <a:ext cx="4132800" cy="606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ko-KR" sz="3300" spc="-1" strike="noStrike">
                <a:solidFill>
                  <a:srgbClr val="1a1a1a"/>
                </a:solidFill>
                <a:latin typeface="Noto Sans CJK KR"/>
                <a:ea typeface="Noto Sans CJK KR"/>
              </a:rPr>
              <a:t>문제 </a:t>
            </a:r>
            <a:r>
              <a:rPr b="1" lang="en-US" sz="3300" spc="-1" strike="noStrike">
                <a:solidFill>
                  <a:srgbClr val="1a1a1a"/>
                </a:solidFill>
                <a:latin typeface="Noto Sans CJK KR"/>
                <a:ea typeface="Noto Sans CJK KR"/>
              </a:rPr>
              <a:t>: </a:t>
            </a:r>
            <a:r>
              <a:rPr b="1" lang="ko-KR" sz="3300" spc="-1" strike="noStrike">
                <a:solidFill>
                  <a:srgbClr val="1a1a1a"/>
                </a:solidFill>
                <a:latin typeface="Noto Sans CJK KR"/>
                <a:ea typeface="Noto Sans CJK KR"/>
              </a:rPr>
              <a:t>기울어짐과 걸림</a:t>
            </a:r>
            <a:endParaRPr b="0" lang="en-US" sz="33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57" name=""/>
          <p:cNvSpPr txBox="1"/>
          <p:nvPr/>
        </p:nvSpPr>
        <p:spPr>
          <a:xfrm>
            <a:off x="2590920" y="5709240"/>
            <a:ext cx="5241600" cy="459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ko-KR" sz="2500" spc="-1" strike="noStrike">
                <a:solidFill>
                  <a:srgbClr val="1a1a1a"/>
                </a:solidFill>
                <a:latin typeface="Noto Sans CJK KR"/>
                <a:ea typeface="Noto Sans CJK KR"/>
              </a:rPr>
              <a:t>부품이 운반판 지그에 비스듬히 놓이거나</a:t>
            </a:r>
            <a:endParaRPr b="0" lang="en-US" sz="2500" spc="-1" strike="noStrike">
              <a:solidFill>
                <a:srgbClr val="000000"/>
              </a:solidFill>
              <a:latin typeface="Noto Sans CJK KR"/>
            </a:endParaRPr>
          </a:p>
        </p:txBody>
      </p:sp>
      <p:pic>
        <p:nvPicPr>
          <p:cNvPr id="258" name="" descr=""/>
          <p:cNvPicPr/>
          <p:nvPr/>
        </p:nvPicPr>
        <p:blipFill>
          <a:blip r:embed="rId1"/>
          <a:stretch/>
        </p:blipFill>
        <p:spPr>
          <a:xfrm>
            <a:off x="9307440" y="4654440"/>
            <a:ext cx="2858760" cy="3809520"/>
          </a:xfrm>
          <a:prstGeom prst="rect">
            <a:avLst/>
          </a:prstGeom>
          <a:ln w="0">
            <a:noFill/>
          </a:ln>
        </p:spPr>
      </p:pic>
      <p:sp>
        <p:nvSpPr>
          <p:cNvPr id="259" name=""/>
          <p:cNvSpPr/>
          <p:nvPr/>
        </p:nvSpPr>
        <p:spPr>
          <a:xfrm>
            <a:off x="12928320" y="4254480"/>
            <a:ext cx="11455920" cy="4731120"/>
          </a:xfrm>
          <a:custGeom>
            <a:avLst/>
            <a:gdLst/>
            <a:ahLst/>
            <a:rect l="0" t="0" r="r" b="b"/>
            <a:pathLst>
              <a:path w="31822" h="13142">
                <a:moveTo>
                  <a:pt x="0" y="0"/>
                </a:moveTo>
                <a:lnTo>
                  <a:pt x="31822" y="0"/>
                </a:lnTo>
                <a:lnTo>
                  <a:pt x="31822" y="13142"/>
                </a:lnTo>
                <a:lnTo>
                  <a:pt x="0" y="13142"/>
                </a:lnTo>
                <a:lnTo>
                  <a:pt x="0" y="0"/>
                </a:lnTo>
                <a:close/>
              </a:path>
            </a:pathLst>
          </a:custGeom>
          <a:solidFill>
            <a:srgbClr val="edede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60" name=""/>
          <p:cNvSpPr/>
          <p:nvPr/>
        </p:nvSpPr>
        <p:spPr>
          <a:xfrm>
            <a:off x="12928320" y="4254480"/>
            <a:ext cx="11455920" cy="4731120"/>
          </a:xfrm>
          <a:custGeom>
            <a:avLst/>
            <a:gdLst/>
            <a:ahLst/>
            <a:rect l="0" t="0" r="r" b="b"/>
            <a:pathLst>
              <a:path w="31822" h="13142">
                <a:moveTo>
                  <a:pt x="53" y="52"/>
                </a:moveTo>
                <a:lnTo>
                  <a:pt x="31822" y="52"/>
                </a:lnTo>
                <a:lnTo>
                  <a:pt x="31822" y="13142"/>
                </a:lnTo>
                <a:lnTo>
                  <a:pt x="53" y="13142"/>
                </a:lnTo>
                <a:lnTo>
                  <a:pt x="53" y="52"/>
                </a:lnTo>
                <a:moveTo>
                  <a:pt x="0" y="0"/>
                </a:moveTo>
                <a:lnTo>
                  <a:pt x="31822" y="0"/>
                </a:lnTo>
                <a:lnTo>
                  <a:pt x="31822" y="13142"/>
                </a:lnTo>
                <a:lnTo>
                  <a:pt x="0" y="13142"/>
                </a:lnTo>
                <a:lnTo>
                  <a:pt x="0" y="0"/>
                </a:lnTo>
                <a:close/>
              </a:path>
            </a:pathLst>
          </a:custGeom>
          <a:solidFill>
            <a:srgbClr val="99999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261" name=""/>
          <p:cNvSpPr/>
          <p:nvPr/>
        </p:nvSpPr>
        <p:spPr>
          <a:xfrm>
            <a:off x="12928320" y="4254480"/>
            <a:ext cx="11455920" cy="4731120"/>
          </a:xfrm>
          <a:custGeom>
            <a:avLst/>
            <a:gdLst/>
            <a:ahLst/>
            <a:rect l="0" t="0" r="r" b="b"/>
            <a:pathLst>
              <a:path w="31822" h="13142">
                <a:moveTo>
                  <a:pt x="53" y="52"/>
                </a:moveTo>
                <a:lnTo>
                  <a:pt x="31822" y="52"/>
                </a:lnTo>
                <a:lnTo>
                  <a:pt x="31822" y="13142"/>
                </a:lnTo>
                <a:lnTo>
                  <a:pt x="53" y="13142"/>
                </a:lnTo>
                <a:lnTo>
                  <a:pt x="53" y="52"/>
                </a:lnTo>
                <a:moveTo>
                  <a:pt x="0" y="0"/>
                </a:moveTo>
                <a:lnTo>
                  <a:pt x="31822" y="0"/>
                </a:lnTo>
                <a:lnTo>
                  <a:pt x="31822" y="13142"/>
                </a:lnTo>
                <a:lnTo>
                  <a:pt x="0" y="13142"/>
                </a:lnTo>
                <a:lnTo>
                  <a:pt x="0" y="0"/>
                </a:lnTo>
                <a:close/>
              </a:path>
            </a:pathLst>
          </a:custGeom>
          <a:solidFill>
            <a:srgbClr val="99999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262" name=""/>
          <p:cNvSpPr txBox="1"/>
          <p:nvPr/>
        </p:nvSpPr>
        <p:spPr>
          <a:xfrm>
            <a:off x="2590920" y="6201360"/>
            <a:ext cx="4766040" cy="459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ko-KR" sz="2500" spc="-1" strike="noStrike">
                <a:solidFill>
                  <a:srgbClr val="1a1a1a"/>
                </a:solidFill>
                <a:latin typeface="Noto Sans CJK KR"/>
                <a:ea typeface="Noto Sans CJK KR"/>
              </a:rPr>
              <a:t>모서리에 걸려 안착에 실패했습니다</a:t>
            </a:r>
            <a:r>
              <a:rPr b="0" lang="en-US" sz="2500" spc="-1" strike="noStrike">
                <a:solidFill>
                  <a:srgbClr val="1a1a1a"/>
                </a:solidFill>
                <a:latin typeface="Noto Sans CJK KR"/>
                <a:ea typeface="Noto Sans CJK KR"/>
              </a:rPr>
              <a:t>.</a:t>
            </a:r>
            <a:endParaRPr b="0" lang="en-US" sz="25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63" name=""/>
          <p:cNvSpPr txBox="1"/>
          <p:nvPr/>
        </p:nvSpPr>
        <p:spPr>
          <a:xfrm>
            <a:off x="14166720" y="4857840"/>
            <a:ext cx="4914000" cy="606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ko-KR" sz="3300" spc="-1" strike="noStrike">
                <a:solidFill>
                  <a:srgbClr val="1a1a1a"/>
                </a:solidFill>
                <a:latin typeface="Noto Sans CJK KR"/>
                <a:ea typeface="Noto Sans CJK KR"/>
              </a:rPr>
              <a:t>지그 모양 수정 </a:t>
            </a:r>
            <a:r>
              <a:rPr b="1" lang="en-US" sz="3300" spc="-1" strike="noStrike">
                <a:solidFill>
                  <a:srgbClr val="1a1a1a"/>
                </a:solidFill>
                <a:latin typeface="Noto Sans CJK KR"/>
                <a:ea typeface="Noto Sans CJK KR"/>
              </a:rPr>
              <a:t>(</a:t>
            </a:r>
            <a:r>
              <a:rPr b="1" lang="ko-KR" sz="3300" spc="-1" strike="noStrike">
                <a:solidFill>
                  <a:srgbClr val="1a1a1a"/>
                </a:solidFill>
                <a:latin typeface="Noto Sans CJK KR"/>
                <a:ea typeface="Noto Sans CJK KR"/>
              </a:rPr>
              <a:t>직접 설계</a:t>
            </a:r>
            <a:r>
              <a:rPr b="1" lang="en-US" sz="3300" spc="-1" strike="noStrike">
                <a:solidFill>
                  <a:srgbClr val="1a1a1a"/>
                </a:solidFill>
                <a:latin typeface="Noto Sans CJK KR"/>
                <a:ea typeface="Noto Sans CJK KR"/>
              </a:rPr>
              <a:t>)</a:t>
            </a:r>
            <a:endParaRPr b="0" lang="en-US" sz="33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64" name=""/>
          <p:cNvSpPr txBox="1"/>
          <p:nvPr/>
        </p:nvSpPr>
        <p:spPr>
          <a:xfrm>
            <a:off x="14166720" y="5706720"/>
            <a:ext cx="1977480" cy="385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ko-KR" sz="2100" spc="-1" strike="noStrike">
                <a:solidFill>
                  <a:srgbClr val="555555"/>
                </a:solidFill>
                <a:latin typeface="Noto Sans CJK KR"/>
                <a:ea typeface="Noto Sans CJK KR"/>
              </a:rPr>
              <a:t>수정 전 → 수정 후</a:t>
            </a:r>
            <a:endParaRPr b="0" lang="en-US" sz="2100" spc="-1" strike="noStrike">
              <a:solidFill>
                <a:srgbClr val="000000"/>
              </a:solidFill>
              <a:latin typeface="Noto Sans CJK KR"/>
            </a:endParaRPr>
          </a:p>
        </p:txBody>
      </p:sp>
      <p:pic>
        <p:nvPicPr>
          <p:cNvPr id="265" name="" descr=""/>
          <p:cNvPicPr/>
          <p:nvPr/>
        </p:nvPicPr>
        <p:blipFill>
          <a:blip r:embed="rId2"/>
          <a:stretch/>
        </p:blipFill>
        <p:spPr>
          <a:xfrm>
            <a:off x="14166720" y="6877080"/>
            <a:ext cx="4374720" cy="1333080"/>
          </a:xfrm>
          <a:prstGeom prst="rect">
            <a:avLst/>
          </a:prstGeom>
          <a:ln w="0">
            <a:noFill/>
          </a:ln>
        </p:spPr>
      </p:pic>
      <p:sp>
        <p:nvSpPr>
          <p:cNvPr id="266" name=""/>
          <p:cNvSpPr txBox="1"/>
          <p:nvPr/>
        </p:nvSpPr>
        <p:spPr>
          <a:xfrm>
            <a:off x="14166720" y="6369120"/>
            <a:ext cx="775800" cy="385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ko-KR" sz="2100" spc="-1" strike="noStrike">
                <a:solidFill>
                  <a:srgbClr val="555555"/>
                </a:solidFill>
                <a:latin typeface="Noto Sans CJK KR"/>
                <a:ea typeface="Noto Sans CJK KR"/>
              </a:rPr>
              <a:t>지그 </a:t>
            </a:r>
            <a:r>
              <a:rPr b="0" lang="en-US" sz="2100" spc="-1" strike="noStrike">
                <a:solidFill>
                  <a:srgbClr val="555555"/>
                </a:solidFill>
                <a:latin typeface="Noto Sans CJK KR"/>
                <a:ea typeface="Noto Sans CJK KR"/>
              </a:rPr>
              <a:t>1</a:t>
            </a:r>
            <a:endParaRPr b="0" lang="en-US" sz="2100" spc="-1" strike="noStrike">
              <a:solidFill>
                <a:srgbClr val="000000"/>
              </a:solidFill>
              <a:latin typeface="Noto Sans CJK KR"/>
            </a:endParaRPr>
          </a:p>
        </p:txBody>
      </p:sp>
      <p:pic>
        <p:nvPicPr>
          <p:cNvPr id="267" name="" descr=""/>
          <p:cNvPicPr/>
          <p:nvPr/>
        </p:nvPicPr>
        <p:blipFill>
          <a:blip r:embed="rId3"/>
          <a:stretch/>
        </p:blipFill>
        <p:spPr>
          <a:xfrm>
            <a:off x="18980280" y="6877080"/>
            <a:ext cx="4667040" cy="1333080"/>
          </a:xfrm>
          <a:prstGeom prst="rect">
            <a:avLst/>
          </a:prstGeom>
          <a:ln w="0">
            <a:noFill/>
          </a:ln>
        </p:spPr>
      </p:pic>
      <p:sp>
        <p:nvSpPr>
          <p:cNvPr id="268" name=""/>
          <p:cNvSpPr/>
          <p:nvPr/>
        </p:nvSpPr>
        <p:spPr>
          <a:xfrm>
            <a:off x="1473120" y="8985240"/>
            <a:ext cx="11455560" cy="4731120"/>
          </a:xfrm>
          <a:custGeom>
            <a:avLst/>
            <a:gdLst/>
            <a:ahLst/>
            <a:rect l="0" t="0" r="r" b="b"/>
            <a:pathLst>
              <a:path w="31821" h="13142">
                <a:moveTo>
                  <a:pt x="0" y="0"/>
                </a:moveTo>
                <a:lnTo>
                  <a:pt x="31821" y="0"/>
                </a:lnTo>
                <a:lnTo>
                  <a:pt x="31821" y="13142"/>
                </a:lnTo>
                <a:lnTo>
                  <a:pt x="0" y="13142"/>
                </a:lnTo>
                <a:lnTo>
                  <a:pt x="0" y="0"/>
                </a:lnTo>
                <a:close/>
              </a:path>
            </a:pathLst>
          </a:custGeom>
          <a:solidFill>
            <a:srgbClr val="edede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69" name=""/>
          <p:cNvSpPr/>
          <p:nvPr/>
        </p:nvSpPr>
        <p:spPr>
          <a:xfrm>
            <a:off x="1473120" y="8985240"/>
            <a:ext cx="11455560" cy="4731120"/>
          </a:xfrm>
          <a:custGeom>
            <a:avLst/>
            <a:gdLst/>
            <a:ahLst/>
            <a:rect l="0" t="0" r="r" b="b"/>
            <a:pathLst>
              <a:path w="31821" h="13142">
                <a:moveTo>
                  <a:pt x="0" y="52"/>
                </a:moveTo>
                <a:lnTo>
                  <a:pt x="31821" y="52"/>
                </a:lnTo>
                <a:lnTo>
                  <a:pt x="31821" y="13142"/>
                </a:lnTo>
                <a:lnTo>
                  <a:pt x="0" y="13142"/>
                </a:lnTo>
                <a:lnTo>
                  <a:pt x="0" y="52"/>
                </a:lnTo>
                <a:moveTo>
                  <a:pt x="0" y="0"/>
                </a:moveTo>
                <a:lnTo>
                  <a:pt x="31821" y="0"/>
                </a:lnTo>
                <a:lnTo>
                  <a:pt x="31821" y="13142"/>
                </a:lnTo>
                <a:lnTo>
                  <a:pt x="0" y="13142"/>
                </a:lnTo>
                <a:lnTo>
                  <a:pt x="0" y="0"/>
                </a:lnTo>
                <a:close/>
              </a:path>
            </a:pathLst>
          </a:custGeom>
          <a:solidFill>
            <a:srgbClr val="99999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270" name=""/>
          <p:cNvSpPr txBox="1"/>
          <p:nvPr/>
        </p:nvSpPr>
        <p:spPr>
          <a:xfrm>
            <a:off x="18980280" y="6369120"/>
            <a:ext cx="775800" cy="385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ko-KR" sz="2100" spc="-1" strike="noStrike">
                <a:solidFill>
                  <a:srgbClr val="555555"/>
                </a:solidFill>
                <a:latin typeface="Noto Sans CJK KR"/>
                <a:ea typeface="Noto Sans CJK KR"/>
              </a:rPr>
              <a:t>지그 </a:t>
            </a:r>
            <a:r>
              <a:rPr b="0" lang="en-US" sz="2100" spc="-1" strike="noStrike">
                <a:solidFill>
                  <a:srgbClr val="555555"/>
                </a:solidFill>
                <a:latin typeface="Noto Sans CJK KR"/>
                <a:ea typeface="Noto Sans CJK KR"/>
              </a:rPr>
              <a:t>2</a:t>
            </a:r>
            <a:endParaRPr b="0" lang="en-US" sz="2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71" name=""/>
          <p:cNvSpPr txBox="1"/>
          <p:nvPr/>
        </p:nvSpPr>
        <p:spPr>
          <a:xfrm>
            <a:off x="2590920" y="9588600"/>
            <a:ext cx="5007240" cy="606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ko-KR" sz="3300" spc="-1" strike="noStrike">
                <a:solidFill>
                  <a:srgbClr val="1a1a1a"/>
                </a:solidFill>
                <a:latin typeface="Noto Sans CJK KR"/>
                <a:ea typeface="Noto Sans CJK KR"/>
              </a:rPr>
              <a:t>시연 위치를 넓혀 데이터 추가</a:t>
            </a:r>
            <a:endParaRPr b="0" lang="en-US" sz="33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72" name=""/>
          <p:cNvSpPr txBox="1"/>
          <p:nvPr/>
        </p:nvSpPr>
        <p:spPr>
          <a:xfrm>
            <a:off x="2590920" y="10440000"/>
            <a:ext cx="5472000" cy="459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500" spc="-1" strike="noStrike">
                <a:solidFill>
                  <a:srgbClr val="1a1a1a"/>
                </a:solidFill>
                <a:latin typeface="Noto Sans CJK KR"/>
                <a:ea typeface="Noto Sans CJK KR"/>
              </a:rPr>
              <a:t>AMR</a:t>
            </a:r>
            <a:r>
              <a:rPr b="0" lang="ko-KR" sz="2500" spc="-1" strike="noStrike">
                <a:solidFill>
                  <a:srgbClr val="1a1a1a"/>
                </a:solidFill>
                <a:latin typeface="Noto Sans CJK KR"/>
                <a:ea typeface="Noto Sans CJK KR"/>
              </a:rPr>
              <a:t>이 멈추는 위치가 조금씩 달라도 집고</a:t>
            </a:r>
            <a:endParaRPr b="0" lang="en-US" sz="25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73" name=""/>
          <p:cNvSpPr txBox="1"/>
          <p:nvPr/>
        </p:nvSpPr>
        <p:spPr>
          <a:xfrm>
            <a:off x="2590920" y="10932120"/>
            <a:ext cx="5432400" cy="459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ko-KR" sz="2500" spc="-1" strike="noStrike">
                <a:solidFill>
                  <a:srgbClr val="1a1a1a"/>
                </a:solidFill>
                <a:latin typeface="Noto Sans CJK KR"/>
                <a:ea typeface="Noto Sans CJK KR"/>
              </a:rPr>
              <a:t>놓을 수 있도록</a:t>
            </a:r>
            <a:r>
              <a:rPr b="0" lang="en-US" sz="2500" spc="-1" strike="noStrike">
                <a:solidFill>
                  <a:srgbClr val="1a1a1a"/>
                </a:solidFill>
                <a:latin typeface="Noto Sans CJK KR"/>
                <a:ea typeface="Noto Sans CJK KR"/>
              </a:rPr>
              <a:t>, </a:t>
            </a:r>
            <a:r>
              <a:rPr b="0" lang="ko-KR" sz="2500" spc="-1" strike="noStrike">
                <a:solidFill>
                  <a:srgbClr val="1a1a1a"/>
                </a:solidFill>
                <a:latin typeface="Noto Sans CJK KR"/>
                <a:ea typeface="Noto Sans CJK KR"/>
              </a:rPr>
              <a:t>도킹 위치를 바꿔 가며 시</a:t>
            </a:r>
            <a:endParaRPr b="0" lang="en-US" sz="25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74" name=""/>
          <p:cNvSpPr txBox="1"/>
          <p:nvPr/>
        </p:nvSpPr>
        <p:spPr>
          <a:xfrm>
            <a:off x="2590920" y="11424240"/>
            <a:ext cx="2945160" cy="459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ko-KR" sz="2500" spc="-1" strike="noStrike">
                <a:solidFill>
                  <a:srgbClr val="1a1a1a"/>
                </a:solidFill>
                <a:latin typeface="Noto Sans CJK KR"/>
                <a:ea typeface="Noto Sans CJK KR"/>
              </a:rPr>
              <a:t>연을 다시 모았습니다</a:t>
            </a:r>
            <a:r>
              <a:rPr b="0" lang="en-US" sz="2500" spc="-1" strike="noStrike">
                <a:solidFill>
                  <a:srgbClr val="1a1a1a"/>
                </a:solidFill>
                <a:latin typeface="Noto Sans CJK KR"/>
                <a:ea typeface="Noto Sans CJK KR"/>
              </a:rPr>
              <a:t>.</a:t>
            </a:r>
            <a:endParaRPr b="0" lang="en-US" sz="25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75" name=""/>
          <p:cNvSpPr/>
          <p:nvPr/>
        </p:nvSpPr>
        <p:spPr>
          <a:xfrm>
            <a:off x="12928320" y="8985240"/>
            <a:ext cx="11455920" cy="4731120"/>
          </a:xfrm>
          <a:custGeom>
            <a:avLst/>
            <a:gdLst/>
            <a:ahLst/>
            <a:rect l="0" t="0" r="r" b="b"/>
            <a:pathLst>
              <a:path w="31822" h="13142">
                <a:moveTo>
                  <a:pt x="53" y="52"/>
                </a:moveTo>
                <a:lnTo>
                  <a:pt x="31822" y="52"/>
                </a:lnTo>
                <a:lnTo>
                  <a:pt x="31822" y="13142"/>
                </a:lnTo>
                <a:lnTo>
                  <a:pt x="53" y="13142"/>
                </a:lnTo>
                <a:lnTo>
                  <a:pt x="53" y="52"/>
                </a:lnTo>
                <a:moveTo>
                  <a:pt x="0" y="0"/>
                </a:moveTo>
                <a:lnTo>
                  <a:pt x="31822" y="0"/>
                </a:lnTo>
                <a:lnTo>
                  <a:pt x="31822" y="13142"/>
                </a:lnTo>
                <a:lnTo>
                  <a:pt x="0" y="13142"/>
                </a:lnTo>
                <a:lnTo>
                  <a:pt x="0" y="0"/>
                </a:lnTo>
                <a:close/>
              </a:path>
            </a:pathLst>
          </a:custGeom>
          <a:solidFill>
            <a:srgbClr val="99999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276" name=""/>
          <p:cNvSpPr/>
          <p:nvPr/>
        </p:nvSpPr>
        <p:spPr>
          <a:xfrm>
            <a:off x="12928320" y="8985240"/>
            <a:ext cx="11455920" cy="4731120"/>
          </a:xfrm>
          <a:custGeom>
            <a:avLst/>
            <a:gdLst/>
            <a:ahLst/>
            <a:rect l="0" t="0" r="r" b="b"/>
            <a:pathLst>
              <a:path w="31822" h="13142">
                <a:moveTo>
                  <a:pt x="53" y="52"/>
                </a:moveTo>
                <a:lnTo>
                  <a:pt x="31822" y="52"/>
                </a:lnTo>
                <a:lnTo>
                  <a:pt x="31822" y="13142"/>
                </a:lnTo>
                <a:lnTo>
                  <a:pt x="53" y="13142"/>
                </a:lnTo>
                <a:lnTo>
                  <a:pt x="53" y="52"/>
                </a:lnTo>
                <a:moveTo>
                  <a:pt x="0" y="0"/>
                </a:moveTo>
                <a:lnTo>
                  <a:pt x="31822" y="0"/>
                </a:lnTo>
                <a:lnTo>
                  <a:pt x="31822" y="13142"/>
                </a:lnTo>
                <a:lnTo>
                  <a:pt x="0" y="13142"/>
                </a:lnTo>
                <a:lnTo>
                  <a:pt x="0" y="0"/>
                </a:lnTo>
                <a:close/>
              </a:path>
            </a:pathLst>
          </a:custGeom>
          <a:solidFill>
            <a:srgbClr val="99999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277" name=""/>
          <p:cNvSpPr txBox="1"/>
          <p:nvPr/>
        </p:nvSpPr>
        <p:spPr>
          <a:xfrm>
            <a:off x="2590920" y="12170520"/>
            <a:ext cx="4873320" cy="459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500" spc="-1" strike="noStrike">
                <a:solidFill>
                  <a:srgbClr val="1a1a1a"/>
                </a:solidFill>
                <a:latin typeface="Noto Sans CJK KR"/>
                <a:ea typeface="Noto Sans CJK KR"/>
              </a:rPr>
              <a:t>A 60 → 230</a:t>
            </a:r>
            <a:r>
              <a:rPr b="1" lang="ko-KR" sz="2500" spc="-1" strike="noStrike">
                <a:solidFill>
                  <a:srgbClr val="1a1a1a"/>
                </a:solidFill>
                <a:latin typeface="Noto Sans CJK KR"/>
                <a:ea typeface="Noto Sans CJK KR"/>
              </a:rPr>
              <a:t>개  </a:t>
            </a:r>
            <a:r>
              <a:rPr b="1" lang="en-US" sz="2500" spc="-1" strike="noStrike">
                <a:solidFill>
                  <a:srgbClr val="1a1a1a"/>
                </a:solidFill>
                <a:latin typeface="Noto Sans CJK KR"/>
                <a:ea typeface="Noto Sans CJK KR"/>
              </a:rPr>
              <a:t>·  B 100 → 260</a:t>
            </a:r>
            <a:r>
              <a:rPr b="1" lang="ko-KR" sz="2500" spc="-1" strike="noStrike">
                <a:solidFill>
                  <a:srgbClr val="1a1a1a"/>
                </a:solidFill>
                <a:latin typeface="Noto Sans CJK KR"/>
                <a:ea typeface="Noto Sans CJK KR"/>
              </a:rPr>
              <a:t>개</a:t>
            </a:r>
            <a:endParaRPr b="0" lang="en-US" sz="25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78" name=""/>
          <p:cNvSpPr txBox="1"/>
          <p:nvPr/>
        </p:nvSpPr>
        <p:spPr>
          <a:xfrm>
            <a:off x="14166720" y="9588600"/>
            <a:ext cx="2888640" cy="606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ko-KR" sz="3300" spc="-1" strike="noStrike">
                <a:solidFill>
                  <a:srgbClr val="1a1a1a"/>
                </a:solidFill>
                <a:latin typeface="Noto Sans CJK KR"/>
                <a:ea typeface="Noto Sans CJK KR"/>
              </a:rPr>
              <a:t>학습과 실물 확인</a:t>
            </a:r>
            <a:endParaRPr b="0" lang="en-US" sz="33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79" name=""/>
          <p:cNvSpPr txBox="1"/>
          <p:nvPr/>
        </p:nvSpPr>
        <p:spPr>
          <a:xfrm>
            <a:off x="14166720" y="10440000"/>
            <a:ext cx="4042440" cy="459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ko-KR" sz="2500" spc="-1" strike="noStrike">
                <a:solidFill>
                  <a:srgbClr val="1a1a1a"/>
                </a:solidFill>
                <a:latin typeface="Noto Sans CJK KR"/>
                <a:ea typeface="Noto Sans CJK KR"/>
              </a:rPr>
              <a:t>학습 </a:t>
            </a:r>
            <a:r>
              <a:rPr b="0" lang="en-US" sz="2500" spc="-1" strike="noStrike">
                <a:solidFill>
                  <a:srgbClr val="1a1a1a"/>
                </a:solidFill>
                <a:latin typeface="Noto Sans CJK KR"/>
                <a:ea typeface="Noto Sans CJK KR"/>
              </a:rPr>
              <a:t>Loss</a:t>
            </a:r>
            <a:r>
              <a:rPr b="0" lang="ko-KR" sz="2500" spc="-1" strike="noStrike">
                <a:solidFill>
                  <a:srgbClr val="1a1a1a"/>
                </a:solidFill>
                <a:latin typeface="Noto Sans CJK KR"/>
                <a:ea typeface="Noto Sans CJK KR"/>
              </a:rPr>
              <a:t>가 안정된 뒤 실물로</a:t>
            </a:r>
            <a:endParaRPr b="0" lang="en-US" sz="25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80" name=""/>
          <p:cNvSpPr txBox="1"/>
          <p:nvPr/>
        </p:nvSpPr>
        <p:spPr>
          <a:xfrm>
            <a:off x="14166720" y="10932120"/>
            <a:ext cx="3024360" cy="459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500" spc="-1" strike="noStrike">
                <a:solidFill>
                  <a:srgbClr val="1a1a1a"/>
                </a:solidFill>
                <a:latin typeface="Noto Sans CJK KR"/>
                <a:ea typeface="Noto Sans CJK KR"/>
              </a:rPr>
              <a:t>10</a:t>
            </a:r>
            <a:r>
              <a:rPr b="0" lang="ko-KR" sz="2500" spc="-1" strike="noStrike">
                <a:solidFill>
                  <a:srgbClr val="1a1a1a"/>
                </a:solidFill>
                <a:latin typeface="Noto Sans CJK KR"/>
                <a:ea typeface="Noto Sans CJK KR"/>
              </a:rPr>
              <a:t>회씩 운반했습니다</a:t>
            </a:r>
            <a:r>
              <a:rPr b="0" lang="en-US" sz="2500" spc="-1" strike="noStrike">
                <a:solidFill>
                  <a:srgbClr val="1a1a1a"/>
                </a:solidFill>
                <a:latin typeface="Noto Sans CJK KR"/>
                <a:ea typeface="Noto Sans CJK KR"/>
              </a:rPr>
              <a:t>.</a:t>
            </a:r>
            <a:endParaRPr b="0" lang="en-US" sz="2500" spc="-1" strike="noStrike">
              <a:solidFill>
                <a:srgbClr val="000000"/>
              </a:solidFill>
              <a:latin typeface="Noto Sans CJK KR"/>
            </a:endParaRPr>
          </a:p>
        </p:txBody>
      </p:sp>
      <p:pic>
        <p:nvPicPr>
          <p:cNvPr id="281" name="" descr=""/>
          <p:cNvPicPr/>
          <p:nvPr/>
        </p:nvPicPr>
        <p:blipFill>
          <a:blip r:embed="rId4"/>
          <a:stretch/>
        </p:blipFill>
        <p:spPr>
          <a:xfrm>
            <a:off x="18793800" y="9360000"/>
            <a:ext cx="4700520" cy="3809520"/>
          </a:xfrm>
          <a:prstGeom prst="rect">
            <a:avLst/>
          </a:prstGeom>
          <a:ln w="0">
            <a:noFill/>
          </a:ln>
        </p:spPr>
      </p:pic>
      <p:sp>
        <p:nvSpPr>
          <p:cNvPr id="282" name=""/>
          <p:cNvSpPr txBox="1"/>
          <p:nvPr/>
        </p:nvSpPr>
        <p:spPr>
          <a:xfrm>
            <a:off x="14166720" y="11424240"/>
            <a:ext cx="2779200" cy="459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500" spc="-1" strike="noStrike">
                <a:solidFill>
                  <a:srgbClr val="1a1a1a"/>
                </a:solidFill>
                <a:latin typeface="Noto Sans CJK KR"/>
                <a:ea typeface="Noto Sans CJK KR"/>
              </a:rPr>
              <a:t>A 8</a:t>
            </a:r>
            <a:r>
              <a:rPr b="1" lang="ko-KR" sz="2500" spc="-1" strike="noStrike">
                <a:solidFill>
                  <a:srgbClr val="1a1a1a"/>
                </a:solidFill>
                <a:latin typeface="Noto Sans CJK KR"/>
                <a:ea typeface="Noto Sans CJK KR"/>
              </a:rPr>
              <a:t>회 </a:t>
            </a:r>
            <a:r>
              <a:rPr b="1" lang="en-US" sz="2500" spc="-1" strike="noStrike">
                <a:solidFill>
                  <a:srgbClr val="1a1a1a"/>
                </a:solidFill>
                <a:latin typeface="Noto Sans CJK KR"/>
                <a:ea typeface="Noto Sans CJK KR"/>
              </a:rPr>
              <a:t>· B 9</a:t>
            </a:r>
            <a:r>
              <a:rPr b="1" lang="ko-KR" sz="2500" spc="-1" strike="noStrike">
                <a:solidFill>
                  <a:srgbClr val="1a1a1a"/>
                </a:solidFill>
                <a:latin typeface="Noto Sans CJK KR"/>
                <a:ea typeface="Noto Sans CJK KR"/>
              </a:rPr>
              <a:t>회 성공</a:t>
            </a:r>
            <a:endParaRPr b="0" lang="en-US" sz="25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"/>
          <p:cNvSpPr/>
          <p:nvPr/>
        </p:nvSpPr>
        <p:spPr>
          <a:xfrm>
            <a:off x="0" y="0"/>
            <a:ext cx="24383520" cy="13716000"/>
          </a:xfrm>
          <a:custGeom>
            <a:avLst/>
            <a:gdLst/>
            <a:ahLst/>
            <a:rect l="0" t="0" r="r" b="b"/>
            <a:pathLst>
              <a:path w="67732" h="38100">
                <a:moveTo>
                  <a:pt x="0" y="0"/>
                </a:moveTo>
                <a:lnTo>
                  <a:pt x="67732" y="0"/>
                </a:lnTo>
                <a:lnTo>
                  <a:pt x="67732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84" name=""/>
          <p:cNvSpPr/>
          <p:nvPr/>
        </p:nvSpPr>
        <p:spPr>
          <a:xfrm>
            <a:off x="0" y="0"/>
            <a:ext cx="24384240" cy="13716360"/>
          </a:xfrm>
          <a:custGeom>
            <a:avLst/>
            <a:gdLst/>
            <a:ahLst/>
            <a:rect l="0" t="0" r="r" b="b"/>
            <a:pathLst>
              <a:path w="67734" h="38101">
                <a:moveTo>
                  <a:pt x="0" y="0"/>
                </a:moveTo>
                <a:lnTo>
                  <a:pt x="67734" y="0"/>
                </a:lnTo>
                <a:lnTo>
                  <a:pt x="67734" y="38101"/>
                </a:lnTo>
                <a:lnTo>
                  <a:pt x="0" y="3810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Noto Sans CJK KR"/>
            </a:endParaRPr>
          </a:p>
        </p:txBody>
      </p:sp>
      <p:pic>
        <p:nvPicPr>
          <p:cNvPr id="285" name="" descr=""/>
          <p:cNvPicPr/>
          <p:nvPr/>
        </p:nvPicPr>
        <p:blipFill>
          <a:blip r:embed="rId1"/>
          <a:stretch/>
        </p:blipFill>
        <p:spPr>
          <a:xfrm>
            <a:off x="1168560" y="10782000"/>
            <a:ext cx="15962760" cy="2932560"/>
          </a:xfrm>
          <a:prstGeom prst="rect">
            <a:avLst/>
          </a:prstGeom>
          <a:ln w="0">
            <a:noFill/>
          </a:ln>
        </p:spPr>
      </p:pic>
      <p:pic>
        <p:nvPicPr>
          <p:cNvPr id="286" name="" descr=""/>
          <p:cNvPicPr/>
          <p:nvPr/>
        </p:nvPicPr>
        <p:blipFill>
          <a:blip r:embed="rId2"/>
          <a:stretch/>
        </p:blipFill>
        <p:spPr>
          <a:xfrm>
            <a:off x="1473120" y="4939920"/>
            <a:ext cx="15658200" cy="2932560"/>
          </a:xfrm>
          <a:prstGeom prst="rect">
            <a:avLst/>
          </a:prstGeom>
          <a:ln w="0">
            <a:noFill/>
          </a:ln>
        </p:spPr>
      </p:pic>
      <p:pic>
        <p:nvPicPr>
          <p:cNvPr id="287" name="" descr=""/>
          <p:cNvPicPr/>
          <p:nvPr/>
        </p:nvPicPr>
        <p:blipFill>
          <a:blip r:embed="rId3"/>
          <a:stretch/>
        </p:blipFill>
        <p:spPr>
          <a:xfrm>
            <a:off x="1168560" y="4965480"/>
            <a:ext cx="23214600" cy="24480"/>
          </a:xfrm>
          <a:prstGeom prst="rect">
            <a:avLst/>
          </a:prstGeom>
          <a:ln w="0">
            <a:noFill/>
          </a:ln>
        </p:spPr>
      </p:pic>
      <p:pic>
        <p:nvPicPr>
          <p:cNvPr id="288" name="" descr=""/>
          <p:cNvPicPr/>
          <p:nvPr/>
        </p:nvPicPr>
        <p:blipFill>
          <a:blip r:embed="rId4"/>
          <a:stretch/>
        </p:blipFill>
        <p:spPr>
          <a:xfrm>
            <a:off x="0" y="-360"/>
            <a:ext cx="1485000" cy="13714920"/>
          </a:xfrm>
          <a:prstGeom prst="rect">
            <a:avLst/>
          </a:prstGeom>
          <a:ln w="0">
            <a:noFill/>
          </a:ln>
        </p:spPr>
      </p:pic>
      <p:pic>
        <p:nvPicPr>
          <p:cNvPr id="289" name="" descr=""/>
          <p:cNvPicPr/>
          <p:nvPr/>
        </p:nvPicPr>
        <p:blipFill>
          <a:blip r:embed="rId5"/>
          <a:stretch/>
        </p:blipFill>
        <p:spPr>
          <a:xfrm>
            <a:off x="863640" y="7873560"/>
            <a:ext cx="16267680" cy="24480"/>
          </a:xfrm>
          <a:prstGeom prst="rect">
            <a:avLst/>
          </a:prstGeom>
          <a:ln w="0">
            <a:noFill/>
          </a:ln>
        </p:spPr>
      </p:pic>
      <p:pic>
        <p:nvPicPr>
          <p:cNvPr id="290" name="" descr=""/>
          <p:cNvPicPr/>
          <p:nvPr/>
        </p:nvPicPr>
        <p:blipFill>
          <a:blip r:embed="rId6"/>
          <a:stretch/>
        </p:blipFill>
        <p:spPr>
          <a:xfrm>
            <a:off x="749160" y="10782000"/>
            <a:ext cx="16356600" cy="24480"/>
          </a:xfrm>
          <a:prstGeom prst="rect">
            <a:avLst/>
          </a:prstGeom>
          <a:ln w="0">
            <a:noFill/>
          </a:ln>
        </p:spPr>
      </p:pic>
      <p:pic>
        <p:nvPicPr>
          <p:cNvPr id="291" name="" descr=""/>
          <p:cNvPicPr/>
          <p:nvPr/>
        </p:nvPicPr>
        <p:blipFill>
          <a:blip r:embed="rId7"/>
          <a:stretch/>
        </p:blipFill>
        <p:spPr>
          <a:xfrm>
            <a:off x="17094600" y="-89640"/>
            <a:ext cx="24480" cy="14375160"/>
          </a:xfrm>
          <a:prstGeom prst="rect">
            <a:avLst/>
          </a:prstGeom>
          <a:ln w="0">
            <a:noFill/>
          </a:ln>
        </p:spPr>
      </p:pic>
      <p:sp>
        <p:nvSpPr>
          <p:cNvPr id="292" name=""/>
          <p:cNvSpPr txBox="1"/>
          <p:nvPr/>
        </p:nvSpPr>
        <p:spPr>
          <a:xfrm rot="5400000">
            <a:off x="409680" y="1395000"/>
            <a:ext cx="625680" cy="31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020" spc="-1" strike="noStrike">
                <a:solidFill>
                  <a:srgbClr val="ffffff"/>
                </a:solidFill>
                <a:latin typeface="Noto Sans"/>
                <a:ea typeface="Noto Sans"/>
              </a:rPr>
              <a:t>Skills</a:t>
            </a:r>
            <a:endParaRPr b="0" lang="en-US" sz="202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93" name=""/>
          <p:cNvSpPr txBox="1"/>
          <p:nvPr/>
        </p:nvSpPr>
        <p:spPr>
          <a:xfrm>
            <a:off x="466560" y="12484800"/>
            <a:ext cx="309960" cy="30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ffffff"/>
                </a:solidFill>
                <a:latin typeface="Noto Sans"/>
                <a:ea typeface="Noto Sans"/>
              </a:rPr>
              <a:t>08</a:t>
            </a:r>
            <a:endParaRPr b="0" lang="en-US" sz="19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94" name=""/>
          <p:cNvSpPr txBox="1"/>
          <p:nvPr/>
        </p:nvSpPr>
        <p:spPr>
          <a:xfrm>
            <a:off x="2571840" y="1088640"/>
            <a:ext cx="7152840" cy="1049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ko-KR" sz="570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구현 경험으로 보는 기술</a:t>
            </a:r>
            <a:endParaRPr b="0" lang="en-US" sz="57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95" name=""/>
          <p:cNvSpPr txBox="1"/>
          <p:nvPr/>
        </p:nvSpPr>
        <p:spPr>
          <a:xfrm>
            <a:off x="2619000" y="2582640"/>
            <a:ext cx="6250680" cy="51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ko-KR" sz="2780" spc="-1" strike="noStrike">
                <a:solidFill>
                  <a:srgbClr val="555555"/>
                </a:solidFill>
                <a:latin typeface="Noto Sans CJK KR"/>
                <a:ea typeface="Noto Sans CJK KR"/>
              </a:rPr>
              <a:t>프로젝트에서 직접 써 본 기술만 적었습니다</a:t>
            </a:r>
            <a:endParaRPr b="0" lang="en-US" sz="278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96" name=""/>
          <p:cNvSpPr txBox="1"/>
          <p:nvPr/>
        </p:nvSpPr>
        <p:spPr>
          <a:xfrm>
            <a:off x="2619360" y="5442840"/>
            <a:ext cx="2513880" cy="634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ko-KR" sz="345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임베디드 제어</a:t>
            </a:r>
            <a:endParaRPr b="0" lang="en-US" sz="34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97" name=""/>
          <p:cNvSpPr txBox="1"/>
          <p:nvPr/>
        </p:nvSpPr>
        <p:spPr>
          <a:xfrm>
            <a:off x="2619000" y="6258600"/>
            <a:ext cx="295272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550" spc="-1" strike="noStrike">
                <a:solidFill>
                  <a:srgbClr val="202020"/>
                </a:solidFill>
                <a:latin typeface="Noto Sans"/>
                <a:ea typeface="Noto Sans"/>
              </a:rPr>
              <a:t>STM32 · FreeRTOS</a:t>
            </a:r>
            <a:endParaRPr b="0" lang="en-US" sz="25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98" name=""/>
          <p:cNvSpPr txBox="1"/>
          <p:nvPr/>
        </p:nvSpPr>
        <p:spPr>
          <a:xfrm>
            <a:off x="2619000" y="6819480"/>
            <a:ext cx="5695560" cy="41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250" spc="-1" strike="noStrike">
                <a:solidFill>
                  <a:srgbClr val="555555"/>
                </a:solidFill>
                <a:latin typeface="Noto Sans"/>
                <a:ea typeface="Noto Sans"/>
              </a:rPr>
              <a:t>UI</a:t>
            </a:r>
            <a:r>
              <a:rPr b="0" lang="en-US" sz="2250" spc="-1" strike="noStrike">
                <a:solidFill>
                  <a:srgbClr val="555555"/>
                </a:solidFill>
                <a:latin typeface="Noto Sans CJK KR"/>
                <a:ea typeface="Noto Sans CJK KR"/>
              </a:rPr>
              <a:t> </a:t>
            </a:r>
            <a:r>
              <a:rPr b="0" lang="ko-KR" sz="2250" spc="-1" strike="noStrike">
                <a:solidFill>
                  <a:srgbClr val="555555"/>
                </a:solidFill>
                <a:latin typeface="Noto Sans CJK KR"/>
                <a:ea typeface="Noto Sans CJK KR"/>
              </a:rPr>
              <a:t>와 티칭 로직</a:t>
            </a:r>
            <a:r>
              <a:rPr b="0" lang="en-US" sz="2250" spc="-1" strike="noStrike">
                <a:solidFill>
                  <a:srgbClr val="555555"/>
                </a:solidFill>
                <a:latin typeface="Noto Sans"/>
                <a:ea typeface="Noto Sans"/>
              </a:rPr>
              <a:t> </a:t>
            </a:r>
            <a:r>
              <a:rPr b="0" lang="en-US" sz="2250" spc="-1" strike="noStrike">
                <a:solidFill>
                  <a:srgbClr val="555555"/>
                </a:solidFill>
                <a:latin typeface="Noto Sans"/>
                <a:ea typeface="Noto Sans"/>
              </a:rPr>
              <a:t>, UART·Bluetooth </a:t>
            </a:r>
            <a:r>
              <a:rPr b="0" lang="en-US" sz="2250" spc="-1" strike="noStrike">
                <a:solidFill>
                  <a:srgbClr val="555555"/>
                </a:solidFill>
                <a:latin typeface="Noto Sans CJK KR"/>
                <a:ea typeface="Noto Sans CJK KR"/>
              </a:rPr>
              <a:t> </a:t>
            </a:r>
            <a:r>
              <a:rPr b="0" lang="ko-KR" sz="2250" spc="-1" strike="noStrike">
                <a:solidFill>
                  <a:srgbClr val="555555"/>
                </a:solidFill>
                <a:latin typeface="Noto Sans CJK KR"/>
                <a:ea typeface="Noto Sans CJK KR"/>
              </a:rPr>
              <a:t>장치 연동</a:t>
            </a:r>
            <a:endParaRPr b="0" lang="en-US" sz="22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99" name=""/>
          <p:cNvSpPr txBox="1"/>
          <p:nvPr/>
        </p:nvSpPr>
        <p:spPr>
          <a:xfrm>
            <a:off x="10287000" y="5442840"/>
            <a:ext cx="1709280" cy="634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ko-KR" sz="345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로봇 주행</a:t>
            </a:r>
            <a:endParaRPr b="0" lang="en-US" sz="34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00" name=""/>
          <p:cNvSpPr txBox="1"/>
          <p:nvPr/>
        </p:nvSpPr>
        <p:spPr>
          <a:xfrm>
            <a:off x="10286640" y="6258600"/>
            <a:ext cx="316008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550" spc="-1" strike="noStrike">
                <a:solidFill>
                  <a:srgbClr val="202020"/>
                </a:solidFill>
                <a:latin typeface="Noto Sans"/>
                <a:ea typeface="Noto Sans"/>
              </a:rPr>
              <a:t>ROS2 · Nav2 · AMCL</a:t>
            </a:r>
            <a:endParaRPr b="0" lang="en-US" sz="25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01" name=""/>
          <p:cNvSpPr txBox="1"/>
          <p:nvPr/>
        </p:nvSpPr>
        <p:spPr>
          <a:xfrm>
            <a:off x="10286640" y="6819480"/>
            <a:ext cx="5049360" cy="41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250" spc="-1" strike="noStrike">
                <a:solidFill>
                  <a:srgbClr val="555555"/>
                </a:solidFill>
                <a:latin typeface="Noto Sans"/>
                <a:ea typeface="Noto Sans"/>
              </a:rPr>
              <a:t>AMR 2</a:t>
            </a:r>
            <a:r>
              <a:rPr b="0" lang="en-US" sz="2250" spc="-1" strike="noStrike">
                <a:solidFill>
                  <a:srgbClr val="555555"/>
                </a:solidFill>
                <a:latin typeface="Noto Sans CJK KR"/>
                <a:ea typeface="Noto Sans CJK KR"/>
              </a:rPr>
              <a:t> </a:t>
            </a:r>
            <a:r>
              <a:rPr b="0" lang="ko-KR" sz="2250" spc="-1" strike="noStrike">
                <a:solidFill>
                  <a:srgbClr val="555555"/>
                </a:solidFill>
                <a:latin typeface="Noto Sans CJK KR"/>
                <a:ea typeface="Noto Sans CJK KR"/>
              </a:rPr>
              <a:t>대 주행</a:t>
            </a:r>
            <a:r>
              <a:rPr b="0" lang="en-US" sz="2250" spc="-1" strike="noStrike">
                <a:solidFill>
                  <a:srgbClr val="555555"/>
                </a:solidFill>
                <a:latin typeface="Noto Sans"/>
                <a:ea typeface="Noto Sans"/>
              </a:rPr>
              <a:t> </a:t>
            </a:r>
            <a:r>
              <a:rPr b="0" lang="en-US" sz="2250" spc="-1" strike="noStrike">
                <a:solidFill>
                  <a:srgbClr val="555555"/>
                </a:solidFill>
                <a:latin typeface="Noto Sans"/>
                <a:ea typeface="Noto Sans"/>
              </a:rPr>
              <a:t>, </a:t>
            </a:r>
            <a:r>
              <a:rPr b="0" lang="en-US" sz="2250" spc="-1" strike="noStrike">
                <a:solidFill>
                  <a:srgbClr val="555555"/>
                </a:solidFill>
                <a:latin typeface="Noto Sans CJK KR"/>
                <a:ea typeface="Noto Sans CJK KR"/>
              </a:rPr>
              <a:t> </a:t>
            </a:r>
            <a:r>
              <a:rPr b="0" lang="ko-KR" sz="2250" spc="-1" strike="noStrike">
                <a:solidFill>
                  <a:srgbClr val="555555"/>
                </a:solidFill>
                <a:latin typeface="Noto Sans CJK KR"/>
                <a:ea typeface="Noto Sans CJK KR"/>
              </a:rPr>
              <a:t>마커 도킹</a:t>
            </a:r>
            <a:r>
              <a:rPr b="0" lang="en-US" sz="2250" spc="-1" strike="noStrike">
                <a:solidFill>
                  <a:srgbClr val="555555"/>
                </a:solidFill>
                <a:latin typeface="Noto Sans"/>
                <a:ea typeface="Noto Sans"/>
              </a:rPr>
              <a:t> </a:t>
            </a:r>
            <a:r>
              <a:rPr b="0" lang="en-US" sz="2250" spc="-1" strike="noStrike">
                <a:solidFill>
                  <a:srgbClr val="555555"/>
                </a:solidFill>
                <a:latin typeface="Noto Sans"/>
                <a:ea typeface="Noto Sans"/>
              </a:rPr>
              <a:t>, </a:t>
            </a:r>
            <a:r>
              <a:rPr b="0" lang="en-US" sz="2250" spc="-1" strike="noStrike">
                <a:solidFill>
                  <a:srgbClr val="555555"/>
                </a:solidFill>
                <a:latin typeface="Noto Sans CJK KR"/>
                <a:ea typeface="Noto Sans CJK KR"/>
              </a:rPr>
              <a:t> </a:t>
            </a:r>
            <a:r>
              <a:rPr b="0" lang="ko-KR" sz="2250" spc="-1" strike="noStrike">
                <a:solidFill>
                  <a:srgbClr val="555555"/>
                </a:solidFill>
                <a:latin typeface="Noto Sans CJK KR"/>
                <a:ea typeface="Noto Sans CJK KR"/>
              </a:rPr>
              <a:t>관제 연동</a:t>
            </a:r>
            <a:endParaRPr b="0" lang="en-US" sz="22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02" name=""/>
          <p:cNvSpPr txBox="1"/>
          <p:nvPr/>
        </p:nvSpPr>
        <p:spPr>
          <a:xfrm>
            <a:off x="2619360" y="8348040"/>
            <a:ext cx="2590560" cy="634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ko-KR" sz="345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비전</a:t>
            </a:r>
            <a:r>
              <a:rPr b="1" lang="en-US" sz="3450" spc="-1" strike="noStrike">
                <a:solidFill>
                  <a:srgbClr val="202020"/>
                </a:solidFill>
                <a:latin typeface="Noto Sans"/>
                <a:ea typeface="Noto Sans"/>
              </a:rPr>
              <a:t> </a:t>
            </a:r>
            <a:r>
              <a:rPr b="1" lang="en-US" sz="3450" spc="-1" strike="noStrike">
                <a:solidFill>
                  <a:srgbClr val="202020"/>
                </a:solidFill>
                <a:latin typeface="Noto Sans"/>
                <a:ea typeface="Noto Sans"/>
              </a:rPr>
              <a:t>·</a:t>
            </a:r>
            <a:r>
              <a:rPr b="1" lang="en-US" sz="345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 </a:t>
            </a:r>
            <a:r>
              <a:rPr b="1" lang="ko-KR" sz="345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딥러닝</a:t>
            </a:r>
            <a:endParaRPr b="0" lang="en-US" sz="34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03" name=""/>
          <p:cNvSpPr txBox="1"/>
          <p:nvPr/>
        </p:nvSpPr>
        <p:spPr>
          <a:xfrm>
            <a:off x="2619000" y="9163440"/>
            <a:ext cx="292068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550" spc="-1" strike="noStrike">
                <a:solidFill>
                  <a:srgbClr val="202020"/>
                </a:solidFill>
                <a:latin typeface="Noto Sans"/>
                <a:ea typeface="Noto Sans"/>
              </a:rPr>
              <a:t>YOLO11n · OpenCV</a:t>
            </a:r>
            <a:endParaRPr b="0" lang="en-US" sz="25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04" name=""/>
          <p:cNvSpPr txBox="1"/>
          <p:nvPr/>
        </p:nvSpPr>
        <p:spPr>
          <a:xfrm>
            <a:off x="2619000" y="9724680"/>
            <a:ext cx="4643280" cy="41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250" spc="-1" strike="noStrike">
                <a:solidFill>
                  <a:srgbClr val="555555"/>
                </a:solidFill>
                <a:latin typeface="Noto Sans"/>
                <a:ea typeface="Noto Sans"/>
              </a:rPr>
              <a:t>PPE </a:t>
            </a:r>
            <a:r>
              <a:rPr b="0" lang="en-US" sz="2250" spc="-1" strike="noStrike">
                <a:solidFill>
                  <a:srgbClr val="555555"/>
                </a:solidFill>
                <a:latin typeface="Noto Sans CJK KR"/>
                <a:ea typeface="Noto Sans CJK KR"/>
              </a:rPr>
              <a:t> </a:t>
            </a:r>
            <a:r>
              <a:rPr b="0" lang="ko-KR" sz="2250" spc="-1" strike="noStrike">
                <a:solidFill>
                  <a:srgbClr val="555555"/>
                </a:solidFill>
                <a:latin typeface="Noto Sans CJK KR"/>
                <a:ea typeface="Noto Sans CJK KR"/>
              </a:rPr>
              <a:t>탐지 모델 학습</a:t>
            </a:r>
            <a:r>
              <a:rPr b="0" lang="en-US" sz="2250" spc="-1" strike="noStrike">
                <a:solidFill>
                  <a:srgbClr val="555555"/>
                </a:solidFill>
                <a:latin typeface="Noto Sans"/>
                <a:ea typeface="Noto Sans"/>
              </a:rPr>
              <a:t> </a:t>
            </a:r>
            <a:r>
              <a:rPr b="0" lang="en-US" sz="2250" spc="-1" strike="noStrike">
                <a:solidFill>
                  <a:srgbClr val="555555"/>
                </a:solidFill>
                <a:latin typeface="Noto Sans"/>
                <a:ea typeface="Noto Sans"/>
              </a:rPr>
              <a:t>, </a:t>
            </a:r>
            <a:r>
              <a:rPr b="0" lang="en-US" sz="2250" spc="-1" strike="noStrike">
                <a:solidFill>
                  <a:srgbClr val="555555"/>
                </a:solidFill>
                <a:latin typeface="Noto Sans CJK KR"/>
                <a:ea typeface="Noto Sans CJK KR"/>
              </a:rPr>
              <a:t> </a:t>
            </a:r>
            <a:r>
              <a:rPr b="0" lang="ko-KR" sz="2250" spc="-1" strike="noStrike">
                <a:solidFill>
                  <a:srgbClr val="555555"/>
                </a:solidFill>
                <a:latin typeface="Noto Sans CJK KR"/>
                <a:ea typeface="Noto Sans CJK KR"/>
              </a:rPr>
              <a:t>마커 자세 추정</a:t>
            </a:r>
            <a:endParaRPr b="0" lang="en-US" sz="22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05" name=""/>
          <p:cNvSpPr txBox="1"/>
          <p:nvPr/>
        </p:nvSpPr>
        <p:spPr>
          <a:xfrm>
            <a:off x="10287000" y="8348040"/>
            <a:ext cx="1709280" cy="634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ko-KR" sz="345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장치 구동</a:t>
            </a:r>
            <a:endParaRPr b="0" lang="en-US" sz="34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06" name=""/>
          <p:cNvSpPr txBox="1"/>
          <p:nvPr/>
        </p:nvSpPr>
        <p:spPr>
          <a:xfrm>
            <a:off x="10286640" y="9163440"/>
            <a:ext cx="359280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550" spc="-1" strike="noStrike">
                <a:solidFill>
                  <a:srgbClr val="202020"/>
                </a:solidFill>
                <a:latin typeface="Noto Sans"/>
                <a:ea typeface="Noto Sans"/>
              </a:rPr>
              <a:t>Raspberry Pi 5 · Python</a:t>
            </a:r>
            <a:endParaRPr b="0" lang="en-US" sz="25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07" name=""/>
          <p:cNvSpPr txBox="1"/>
          <p:nvPr/>
        </p:nvSpPr>
        <p:spPr>
          <a:xfrm>
            <a:off x="10286640" y="9724680"/>
            <a:ext cx="4102920" cy="41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250" spc="-1" strike="noStrike">
                <a:solidFill>
                  <a:srgbClr val="555555"/>
                </a:solidFill>
                <a:latin typeface="Noto Sans"/>
                <a:ea typeface="Noto Sans"/>
              </a:rPr>
              <a:t>IR </a:t>
            </a:r>
            <a:r>
              <a:rPr b="0" lang="en-US" sz="2250" spc="-1" strike="noStrike">
                <a:solidFill>
                  <a:srgbClr val="555555"/>
                </a:solidFill>
                <a:latin typeface="Noto Sans CJK KR"/>
                <a:ea typeface="Noto Sans CJK KR"/>
              </a:rPr>
              <a:t> </a:t>
            </a:r>
            <a:r>
              <a:rPr b="0" lang="ko-KR" sz="2250" spc="-1" strike="noStrike">
                <a:solidFill>
                  <a:srgbClr val="555555"/>
                </a:solidFill>
                <a:latin typeface="Noto Sans CJK KR"/>
                <a:ea typeface="Noto Sans CJK KR"/>
              </a:rPr>
              <a:t>트리거</a:t>
            </a:r>
            <a:r>
              <a:rPr b="0" lang="en-US" sz="2250" spc="-1" strike="noStrike">
                <a:solidFill>
                  <a:srgbClr val="555555"/>
                </a:solidFill>
                <a:latin typeface="Noto Sans"/>
                <a:ea typeface="Noto Sans"/>
              </a:rPr>
              <a:t> </a:t>
            </a:r>
            <a:r>
              <a:rPr b="0" lang="en-US" sz="2250" spc="-1" strike="noStrike">
                <a:solidFill>
                  <a:srgbClr val="555555"/>
                </a:solidFill>
                <a:latin typeface="Noto Sans"/>
                <a:ea typeface="Noto Sans"/>
              </a:rPr>
              <a:t>, </a:t>
            </a:r>
            <a:r>
              <a:rPr b="0" lang="en-US" sz="2250" spc="-1" strike="noStrike">
                <a:solidFill>
                  <a:srgbClr val="555555"/>
                </a:solidFill>
                <a:latin typeface="Noto Sans CJK KR"/>
                <a:ea typeface="Noto Sans CJK KR"/>
              </a:rPr>
              <a:t> </a:t>
            </a:r>
            <a:r>
              <a:rPr b="0" lang="ko-KR" sz="2250" spc="-1" strike="noStrike">
                <a:solidFill>
                  <a:srgbClr val="555555"/>
                </a:solidFill>
                <a:latin typeface="Noto Sans CJK KR"/>
                <a:ea typeface="Noto Sans CJK KR"/>
              </a:rPr>
              <a:t>카메라</a:t>
            </a:r>
            <a:r>
              <a:rPr b="0" lang="en-US" sz="2250" spc="-1" strike="noStrike">
                <a:solidFill>
                  <a:srgbClr val="555555"/>
                </a:solidFill>
                <a:latin typeface="Noto Sans"/>
                <a:ea typeface="Noto Sans"/>
              </a:rPr>
              <a:t> </a:t>
            </a:r>
            <a:r>
              <a:rPr b="0" lang="en-US" sz="2250" spc="-1" strike="noStrike">
                <a:solidFill>
                  <a:srgbClr val="555555"/>
                </a:solidFill>
                <a:latin typeface="Noto Sans"/>
                <a:ea typeface="Noto Sans"/>
              </a:rPr>
              <a:t>, </a:t>
            </a:r>
            <a:r>
              <a:rPr b="0" lang="en-US" sz="2250" spc="-1" strike="noStrike">
                <a:solidFill>
                  <a:srgbClr val="555555"/>
                </a:solidFill>
                <a:latin typeface="Noto Sans CJK KR"/>
                <a:ea typeface="Noto Sans CJK KR"/>
              </a:rPr>
              <a:t> </a:t>
            </a:r>
            <a:r>
              <a:rPr b="0" lang="ko-KR" sz="2250" spc="-1" strike="noStrike">
                <a:solidFill>
                  <a:srgbClr val="555555"/>
                </a:solidFill>
                <a:latin typeface="Noto Sans CJK KR"/>
                <a:ea typeface="Noto Sans CJK KR"/>
              </a:rPr>
              <a:t>음성 경고</a:t>
            </a:r>
            <a:endParaRPr b="0" lang="en-US" sz="22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08" name=""/>
          <p:cNvSpPr txBox="1"/>
          <p:nvPr/>
        </p:nvSpPr>
        <p:spPr>
          <a:xfrm>
            <a:off x="2619360" y="11253240"/>
            <a:ext cx="2590560" cy="634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ko-KR" sz="345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자동화</a:t>
            </a:r>
            <a:r>
              <a:rPr b="1" lang="en-US" sz="3450" spc="-1" strike="noStrike">
                <a:solidFill>
                  <a:srgbClr val="202020"/>
                </a:solidFill>
                <a:latin typeface="Noto Sans"/>
                <a:ea typeface="Noto Sans"/>
              </a:rPr>
              <a:t> </a:t>
            </a:r>
            <a:r>
              <a:rPr b="1" lang="en-US" sz="3450" spc="-1" strike="noStrike">
                <a:solidFill>
                  <a:srgbClr val="202020"/>
                </a:solidFill>
                <a:latin typeface="Noto Sans"/>
                <a:ea typeface="Noto Sans"/>
              </a:rPr>
              <a:t>·</a:t>
            </a:r>
            <a:r>
              <a:rPr b="1" lang="en-US" sz="345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 </a:t>
            </a:r>
            <a:r>
              <a:rPr b="1" lang="ko-KR" sz="345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설계</a:t>
            </a:r>
            <a:endParaRPr b="0" lang="en-US" sz="34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09" name=""/>
          <p:cNvSpPr txBox="1"/>
          <p:nvPr/>
        </p:nvSpPr>
        <p:spPr>
          <a:xfrm>
            <a:off x="2619000" y="12068640"/>
            <a:ext cx="413388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550" spc="-1" strike="noStrike">
                <a:solidFill>
                  <a:srgbClr val="202020"/>
                </a:solidFill>
                <a:latin typeface="Noto Sans"/>
                <a:ea typeface="Noto Sans"/>
              </a:rPr>
              <a:t>GX Works2 · GT Designer3</a:t>
            </a:r>
            <a:endParaRPr b="0" lang="en-US" sz="25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10" name=""/>
          <p:cNvSpPr txBox="1"/>
          <p:nvPr/>
        </p:nvSpPr>
        <p:spPr>
          <a:xfrm>
            <a:off x="2619000" y="12457440"/>
            <a:ext cx="473112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550" spc="-1" strike="noStrike">
                <a:solidFill>
                  <a:srgbClr val="202020"/>
                </a:solidFill>
                <a:latin typeface="Noto Sans"/>
                <a:ea typeface="Noto Sans"/>
              </a:rPr>
              <a:t>AutoCAD · UG NX · PowerMILL</a:t>
            </a:r>
            <a:endParaRPr b="0" lang="en-US" sz="25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11" name=""/>
          <p:cNvSpPr txBox="1"/>
          <p:nvPr/>
        </p:nvSpPr>
        <p:spPr>
          <a:xfrm>
            <a:off x="2619000" y="13010760"/>
            <a:ext cx="5040360" cy="41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250" spc="-1" strike="noStrike">
                <a:solidFill>
                  <a:srgbClr val="555555"/>
                </a:solidFill>
                <a:latin typeface="Noto Sans"/>
                <a:ea typeface="Noto Sans"/>
              </a:rPr>
              <a:t>PLC </a:t>
            </a:r>
            <a:r>
              <a:rPr b="0" lang="en-US" sz="2250" spc="-1" strike="noStrike">
                <a:solidFill>
                  <a:srgbClr val="555555"/>
                </a:solidFill>
                <a:latin typeface="Noto Sans CJK KR"/>
                <a:ea typeface="Noto Sans CJK KR"/>
              </a:rPr>
              <a:t> </a:t>
            </a:r>
            <a:r>
              <a:rPr b="0" lang="ko-KR" sz="2250" spc="-1" strike="noStrike">
                <a:solidFill>
                  <a:srgbClr val="555555"/>
                </a:solidFill>
                <a:latin typeface="Noto Sans CJK KR"/>
                <a:ea typeface="Noto Sans CJK KR"/>
              </a:rPr>
              <a:t>시퀀스</a:t>
            </a:r>
            <a:r>
              <a:rPr b="0" lang="en-US" sz="2250" spc="-1" strike="noStrike">
                <a:solidFill>
                  <a:srgbClr val="555555"/>
                </a:solidFill>
                <a:latin typeface="Noto Sans"/>
                <a:ea typeface="Noto Sans"/>
              </a:rPr>
              <a:t> </a:t>
            </a:r>
            <a:r>
              <a:rPr b="0" lang="en-US" sz="2250" spc="-1" strike="noStrike">
                <a:solidFill>
                  <a:srgbClr val="555555"/>
                </a:solidFill>
                <a:latin typeface="Noto Sans"/>
                <a:ea typeface="Noto Sans"/>
              </a:rPr>
              <a:t>·</a:t>
            </a:r>
            <a:r>
              <a:rPr b="0" lang="en-US" sz="2250" spc="-1" strike="noStrike">
                <a:solidFill>
                  <a:srgbClr val="555555"/>
                </a:solidFill>
                <a:latin typeface="Noto Sans CJK KR"/>
                <a:ea typeface="Noto Sans CJK KR"/>
              </a:rPr>
              <a:t> </a:t>
            </a:r>
            <a:r>
              <a:rPr b="0" lang="ko-KR" sz="2250" spc="-1" strike="noStrike">
                <a:solidFill>
                  <a:srgbClr val="555555"/>
                </a:solidFill>
                <a:latin typeface="Noto Sans CJK KR"/>
                <a:ea typeface="Noto Sans CJK KR"/>
              </a:rPr>
              <a:t>티칭 </a:t>
            </a:r>
            <a:r>
              <a:rPr b="0" lang="en-US" sz="2250" spc="-1" strike="noStrike">
                <a:solidFill>
                  <a:srgbClr val="555555"/>
                </a:solidFill>
                <a:latin typeface="Noto Sans"/>
                <a:ea typeface="Noto Sans"/>
              </a:rPr>
              <a:t> </a:t>
            </a:r>
            <a:r>
              <a:rPr b="0" lang="en-US" sz="2250" spc="-1" strike="noStrike">
                <a:solidFill>
                  <a:srgbClr val="555555"/>
                </a:solidFill>
                <a:latin typeface="Noto Sans"/>
                <a:ea typeface="Noto Sans"/>
              </a:rPr>
              <a:t>/ </a:t>
            </a:r>
            <a:r>
              <a:rPr b="0" lang="en-US" sz="2250" spc="-1" strike="noStrike">
                <a:solidFill>
                  <a:srgbClr val="555555"/>
                </a:solidFill>
                <a:latin typeface="Noto Sans CJK KR"/>
                <a:ea typeface="Noto Sans CJK KR"/>
              </a:rPr>
              <a:t> </a:t>
            </a:r>
            <a:r>
              <a:rPr b="0" lang="ko-KR" sz="2250" spc="-1" strike="noStrike">
                <a:solidFill>
                  <a:srgbClr val="555555"/>
                </a:solidFill>
                <a:latin typeface="Noto Sans CJK KR"/>
                <a:ea typeface="Noto Sans CJK KR"/>
              </a:rPr>
              <a:t>설계</a:t>
            </a:r>
            <a:r>
              <a:rPr b="0" lang="en-US" sz="2250" spc="-1" strike="noStrike">
                <a:solidFill>
                  <a:srgbClr val="555555"/>
                </a:solidFill>
                <a:latin typeface="Noto Sans"/>
                <a:ea typeface="Noto Sans"/>
              </a:rPr>
              <a:t> </a:t>
            </a:r>
            <a:r>
              <a:rPr b="0" lang="en-US" sz="2250" spc="-1" strike="noStrike">
                <a:solidFill>
                  <a:srgbClr val="555555"/>
                </a:solidFill>
                <a:latin typeface="Noto Sans"/>
                <a:ea typeface="Noto Sans"/>
              </a:rPr>
              <a:t>·</a:t>
            </a:r>
            <a:r>
              <a:rPr b="0" lang="en-US" sz="2250" spc="-1" strike="noStrike">
                <a:solidFill>
                  <a:srgbClr val="555555"/>
                </a:solidFill>
                <a:latin typeface="Noto Sans CJK KR"/>
                <a:ea typeface="Noto Sans CJK KR"/>
              </a:rPr>
              <a:t> </a:t>
            </a:r>
            <a:r>
              <a:rPr b="0" lang="ko-KR" sz="2250" spc="-1" strike="noStrike">
                <a:solidFill>
                  <a:srgbClr val="555555"/>
                </a:solidFill>
                <a:latin typeface="Noto Sans CJK KR"/>
                <a:ea typeface="Noto Sans CJK KR"/>
              </a:rPr>
              <a:t>가공 기반</a:t>
            </a:r>
            <a:endParaRPr b="0" lang="en-US" sz="22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12" name=""/>
          <p:cNvSpPr txBox="1"/>
          <p:nvPr/>
        </p:nvSpPr>
        <p:spPr>
          <a:xfrm>
            <a:off x="10287000" y="11253240"/>
            <a:ext cx="2012400" cy="634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ko-KR" sz="345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프로그래밍</a:t>
            </a:r>
            <a:endParaRPr b="0" lang="en-US" sz="34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13" name=""/>
          <p:cNvSpPr txBox="1"/>
          <p:nvPr/>
        </p:nvSpPr>
        <p:spPr>
          <a:xfrm>
            <a:off x="10286640" y="12068640"/>
            <a:ext cx="311580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550" spc="-1" strike="noStrike">
                <a:solidFill>
                  <a:srgbClr val="202020"/>
                </a:solidFill>
                <a:latin typeface="Noto Sans"/>
                <a:ea typeface="Noto Sans"/>
              </a:rPr>
              <a:t>Python · C++ · Linux</a:t>
            </a:r>
            <a:endParaRPr b="0" lang="en-US" sz="25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14" name=""/>
          <p:cNvSpPr txBox="1"/>
          <p:nvPr/>
        </p:nvSpPr>
        <p:spPr>
          <a:xfrm>
            <a:off x="10286640" y="12629520"/>
            <a:ext cx="4075560" cy="41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ko-KR" sz="2250" spc="-1" strike="noStrike">
                <a:solidFill>
                  <a:srgbClr val="555555"/>
                </a:solidFill>
                <a:latin typeface="Noto Sans CJK KR"/>
                <a:ea typeface="Noto Sans CJK KR"/>
              </a:rPr>
              <a:t>로그 분석 도구</a:t>
            </a:r>
            <a:r>
              <a:rPr b="0" lang="en-US" sz="2250" spc="-1" strike="noStrike">
                <a:solidFill>
                  <a:srgbClr val="555555"/>
                </a:solidFill>
                <a:latin typeface="Noto Sans"/>
                <a:ea typeface="Noto Sans"/>
              </a:rPr>
              <a:t> </a:t>
            </a:r>
            <a:r>
              <a:rPr b="0" lang="en-US" sz="2250" spc="-1" strike="noStrike">
                <a:solidFill>
                  <a:srgbClr val="555555"/>
                </a:solidFill>
                <a:latin typeface="Noto Sans"/>
                <a:ea typeface="Noto Sans"/>
              </a:rPr>
              <a:t>, </a:t>
            </a:r>
            <a:r>
              <a:rPr b="0" lang="en-US" sz="2250" spc="-1" strike="noStrike">
                <a:solidFill>
                  <a:srgbClr val="555555"/>
                </a:solidFill>
                <a:latin typeface="Noto Sans CJK KR"/>
                <a:ea typeface="Noto Sans CJK KR"/>
              </a:rPr>
              <a:t> </a:t>
            </a:r>
            <a:r>
              <a:rPr b="0" lang="ko-KR" sz="2250" spc="-1" strike="noStrike">
                <a:solidFill>
                  <a:srgbClr val="555555"/>
                </a:solidFill>
                <a:latin typeface="Noto Sans CJK KR"/>
                <a:ea typeface="Noto Sans CJK KR"/>
              </a:rPr>
              <a:t>시뮬레이터 작성</a:t>
            </a:r>
            <a:endParaRPr b="0" lang="en-US" sz="22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15" name=""/>
          <p:cNvSpPr txBox="1"/>
          <p:nvPr/>
        </p:nvSpPr>
        <p:spPr>
          <a:xfrm>
            <a:off x="17907120" y="5300280"/>
            <a:ext cx="1786680" cy="661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ko-KR" sz="360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개발 초점</a:t>
            </a:r>
            <a:endParaRPr b="0" lang="en-US" sz="3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16" name=""/>
          <p:cNvSpPr txBox="1"/>
          <p:nvPr/>
        </p:nvSpPr>
        <p:spPr>
          <a:xfrm>
            <a:off x="17907120" y="6488640"/>
            <a:ext cx="2975400" cy="552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ko-KR" sz="300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만들고 끝내지 않고</a:t>
            </a:r>
            <a:endParaRPr b="0" lang="en-US" sz="3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17" name=""/>
          <p:cNvSpPr txBox="1"/>
          <p:nvPr/>
        </p:nvSpPr>
        <p:spPr>
          <a:xfrm>
            <a:off x="17907120" y="6945840"/>
            <a:ext cx="2890080" cy="552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ko-KR" sz="300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현장에서 점검하고</a:t>
            </a:r>
            <a:endParaRPr b="0" lang="en-US" sz="3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18" name=""/>
          <p:cNvSpPr txBox="1"/>
          <p:nvPr/>
        </p:nvSpPr>
        <p:spPr>
          <a:xfrm>
            <a:off x="17907120" y="7403040"/>
            <a:ext cx="2539800" cy="552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ko-KR" sz="300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고치는 사람까지</a:t>
            </a:r>
            <a:endParaRPr b="0" lang="en-US" sz="3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19" name=""/>
          <p:cNvSpPr txBox="1"/>
          <p:nvPr/>
        </p:nvSpPr>
        <p:spPr>
          <a:xfrm>
            <a:off x="17907120" y="7860240"/>
            <a:ext cx="3546000" cy="552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ko-KR" sz="300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생각하며 개발합니다</a:t>
            </a:r>
            <a:r>
              <a:rPr b="0" lang="en-US" sz="3000" spc="-1" strike="noStrike">
                <a:solidFill>
                  <a:srgbClr val="202020"/>
                </a:solidFill>
                <a:latin typeface="Noto Sans"/>
                <a:ea typeface="Noto Sans"/>
              </a:rPr>
              <a:t> </a:t>
            </a:r>
            <a:r>
              <a:rPr b="0" lang="en-US" sz="3000" spc="-1" strike="noStrike">
                <a:solidFill>
                  <a:srgbClr val="202020"/>
                </a:solidFill>
                <a:latin typeface="Noto Sans"/>
                <a:ea typeface="Noto Sans"/>
              </a:rPr>
              <a:t>.</a:t>
            </a:r>
            <a:endParaRPr b="0" lang="en-US" sz="30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"/>
          <p:cNvSpPr/>
          <p:nvPr/>
        </p:nvSpPr>
        <p:spPr>
          <a:xfrm>
            <a:off x="0" y="0"/>
            <a:ext cx="24383520" cy="13716000"/>
          </a:xfrm>
          <a:custGeom>
            <a:avLst/>
            <a:gdLst/>
            <a:ahLst/>
            <a:rect l="0" t="0" r="r" b="b"/>
            <a:pathLst>
              <a:path w="67732" h="38100">
                <a:moveTo>
                  <a:pt x="0" y="0"/>
                </a:moveTo>
                <a:lnTo>
                  <a:pt x="67732" y="0"/>
                </a:lnTo>
                <a:lnTo>
                  <a:pt x="67732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21" name=""/>
          <p:cNvSpPr/>
          <p:nvPr/>
        </p:nvSpPr>
        <p:spPr>
          <a:xfrm>
            <a:off x="0" y="0"/>
            <a:ext cx="24384240" cy="13716360"/>
          </a:xfrm>
          <a:custGeom>
            <a:avLst/>
            <a:gdLst/>
            <a:ahLst/>
            <a:rect l="0" t="0" r="r" b="b"/>
            <a:pathLst>
              <a:path w="67734" h="38101">
                <a:moveTo>
                  <a:pt x="0" y="0"/>
                </a:moveTo>
                <a:lnTo>
                  <a:pt x="67734" y="0"/>
                </a:lnTo>
                <a:lnTo>
                  <a:pt x="67734" y="38101"/>
                </a:lnTo>
                <a:lnTo>
                  <a:pt x="0" y="3810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Noto Sans CJK KR"/>
            </a:endParaRPr>
          </a:p>
        </p:txBody>
      </p:sp>
      <p:pic>
        <p:nvPicPr>
          <p:cNvPr id="322" name="" descr=""/>
          <p:cNvPicPr/>
          <p:nvPr/>
        </p:nvPicPr>
        <p:blipFill>
          <a:blip r:embed="rId1"/>
          <a:stretch/>
        </p:blipFill>
        <p:spPr>
          <a:xfrm>
            <a:off x="0" y="-360"/>
            <a:ext cx="1485000" cy="13714920"/>
          </a:xfrm>
          <a:prstGeom prst="rect">
            <a:avLst/>
          </a:prstGeom>
          <a:ln w="0">
            <a:noFill/>
          </a:ln>
        </p:spPr>
      </p:pic>
      <p:sp>
        <p:nvSpPr>
          <p:cNvPr id="323" name=""/>
          <p:cNvSpPr txBox="1"/>
          <p:nvPr/>
        </p:nvSpPr>
        <p:spPr>
          <a:xfrm rot="5400000">
            <a:off x="227520" y="1577160"/>
            <a:ext cx="989640" cy="31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020" spc="-1" strike="noStrike">
                <a:solidFill>
                  <a:srgbClr val="ffffff"/>
                </a:solidFill>
                <a:latin typeface="Noto Sans"/>
                <a:ea typeface="Noto Sans"/>
              </a:rPr>
              <a:t>Projects</a:t>
            </a:r>
            <a:endParaRPr b="0" lang="en-US" sz="202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24" name=""/>
          <p:cNvSpPr txBox="1"/>
          <p:nvPr/>
        </p:nvSpPr>
        <p:spPr>
          <a:xfrm>
            <a:off x="466560" y="12484800"/>
            <a:ext cx="309960" cy="30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ffffff"/>
                </a:solidFill>
                <a:latin typeface="Noto Sans"/>
                <a:ea typeface="Noto Sans"/>
              </a:rPr>
              <a:t>09</a:t>
            </a:r>
            <a:endParaRPr b="0" lang="en-US" sz="19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25" name=""/>
          <p:cNvSpPr txBox="1"/>
          <p:nvPr/>
        </p:nvSpPr>
        <p:spPr>
          <a:xfrm>
            <a:off x="2571840" y="1088640"/>
            <a:ext cx="5738760" cy="876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5700" spc="-1" strike="noStrike">
                <a:solidFill>
                  <a:srgbClr val="202020"/>
                </a:solidFill>
                <a:latin typeface="Noto Sans"/>
                <a:ea typeface="Noto Sans"/>
              </a:rPr>
              <a:t>Project Portfolio</a:t>
            </a:r>
            <a:endParaRPr b="0" lang="en-US" sz="57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26" name=""/>
          <p:cNvSpPr txBox="1"/>
          <p:nvPr/>
        </p:nvSpPr>
        <p:spPr>
          <a:xfrm>
            <a:off x="2619000" y="2582640"/>
            <a:ext cx="4545360" cy="51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ko-KR" sz="2780" spc="-1" strike="noStrike">
                <a:solidFill>
                  <a:srgbClr val="555555"/>
                </a:solidFill>
                <a:latin typeface="Noto Sans CJK KR"/>
                <a:ea typeface="Noto Sans CJK KR"/>
              </a:rPr>
              <a:t>주요 개발 프로젝트와 담당 범위</a:t>
            </a:r>
            <a:endParaRPr b="0" lang="en-US" sz="278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27" name=""/>
          <p:cNvSpPr txBox="1"/>
          <p:nvPr/>
        </p:nvSpPr>
        <p:spPr>
          <a:xfrm>
            <a:off x="2619360" y="4395240"/>
            <a:ext cx="4449600" cy="661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3600" spc="-1" strike="noStrike">
                <a:solidFill>
                  <a:srgbClr val="202020"/>
                </a:solidFill>
                <a:latin typeface="Noto Sans"/>
                <a:ea typeface="Noto Sans"/>
              </a:rPr>
              <a:t>01  </a:t>
            </a:r>
            <a:r>
              <a:rPr b="1" lang="en-US" sz="360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 </a:t>
            </a:r>
            <a:r>
              <a:rPr b="1" lang="ko-KR" sz="360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공장자동화 </a:t>
            </a:r>
            <a:r>
              <a:rPr b="1" lang="en-US" sz="3600" spc="-1" strike="noStrike">
                <a:solidFill>
                  <a:srgbClr val="202020"/>
                </a:solidFill>
                <a:latin typeface="Noto Sans"/>
                <a:ea typeface="Noto Sans"/>
              </a:rPr>
              <a:t> </a:t>
            </a:r>
            <a:r>
              <a:rPr b="1" lang="en-US" sz="3600" spc="-1" strike="noStrike">
                <a:solidFill>
                  <a:srgbClr val="202020"/>
                </a:solidFill>
                <a:latin typeface="Noto Sans"/>
                <a:ea typeface="Noto Sans"/>
              </a:rPr>
              <a:t>AMR</a:t>
            </a:r>
            <a:endParaRPr b="0" lang="en-US" sz="3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28" name=""/>
          <p:cNvSpPr txBox="1"/>
          <p:nvPr/>
        </p:nvSpPr>
        <p:spPr>
          <a:xfrm>
            <a:off x="2619360" y="5248440"/>
            <a:ext cx="3588480" cy="454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470" spc="-1" strike="noStrike">
                <a:solidFill>
                  <a:srgbClr val="555555"/>
                </a:solidFill>
                <a:latin typeface="Noto Sans"/>
                <a:ea typeface="Noto Sans"/>
              </a:rPr>
              <a:t>2026.09–</a:t>
            </a:r>
            <a:r>
              <a:rPr b="0" lang="en-US" sz="2470" spc="-1" strike="noStrike">
                <a:solidFill>
                  <a:srgbClr val="555555"/>
                </a:solidFill>
                <a:latin typeface="Noto Sans CJK KR"/>
                <a:ea typeface="Noto Sans CJK KR"/>
              </a:rPr>
              <a:t> </a:t>
            </a:r>
            <a:r>
              <a:rPr b="0" lang="ko-KR" sz="2470" spc="-1" strike="noStrike">
                <a:solidFill>
                  <a:srgbClr val="555555"/>
                </a:solidFill>
                <a:latin typeface="Noto Sans CJK KR"/>
                <a:ea typeface="Noto Sans CJK KR"/>
              </a:rPr>
              <a:t>진행 중 </a:t>
            </a:r>
            <a:r>
              <a:rPr b="0" lang="en-US" sz="2470" spc="-1" strike="noStrike">
                <a:solidFill>
                  <a:srgbClr val="555555"/>
                </a:solidFill>
                <a:latin typeface="Noto Sans"/>
                <a:ea typeface="Noto Sans"/>
              </a:rPr>
              <a:t> </a:t>
            </a:r>
            <a:r>
              <a:rPr b="0" lang="en-US" sz="2470" spc="-1" strike="noStrike">
                <a:solidFill>
                  <a:srgbClr val="555555"/>
                </a:solidFill>
                <a:latin typeface="Noto Sans"/>
                <a:ea typeface="Noto Sans"/>
              </a:rPr>
              <a:t>/ 5</a:t>
            </a:r>
            <a:r>
              <a:rPr b="0" lang="en-US" sz="2470" spc="-1" strike="noStrike">
                <a:solidFill>
                  <a:srgbClr val="555555"/>
                </a:solidFill>
                <a:latin typeface="Noto Sans CJK KR"/>
                <a:ea typeface="Noto Sans CJK KR"/>
              </a:rPr>
              <a:t> </a:t>
            </a:r>
            <a:r>
              <a:rPr b="0" lang="ko-KR" sz="2470" spc="-1" strike="noStrike">
                <a:solidFill>
                  <a:srgbClr val="555555"/>
                </a:solidFill>
                <a:latin typeface="Noto Sans CJK KR"/>
                <a:ea typeface="Noto Sans CJK KR"/>
              </a:rPr>
              <a:t>인</a:t>
            </a:r>
            <a:endParaRPr b="0" lang="en-US" sz="247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29" name=""/>
          <p:cNvSpPr txBox="1"/>
          <p:nvPr/>
        </p:nvSpPr>
        <p:spPr>
          <a:xfrm>
            <a:off x="2619360" y="6203160"/>
            <a:ext cx="2274480" cy="552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ko-KR" sz="300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재료 운반 로봇</a:t>
            </a:r>
            <a:endParaRPr b="0" lang="en-US" sz="3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30" name=""/>
          <p:cNvSpPr txBox="1"/>
          <p:nvPr/>
        </p:nvSpPr>
        <p:spPr>
          <a:xfrm>
            <a:off x="2619360" y="7200360"/>
            <a:ext cx="11894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ko-KR" sz="2400" spc="-1" strike="noStrike">
                <a:solidFill>
                  <a:srgbClr val="555555"/>
                </a:solidFill>
                <a:latin typeface="Noto Sans CJK KR"/>
                <a:ea typeface="Noto Sans CJK KR"/>
              </a:rPr>
              <a:t>개인 담당</a:t>
            </a:r>
            <a:endParaRPr b="0" lang="en-US" sz="2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31" name=""/>
          <p:cNvSpPr txBox="1"/>
          <p:nvPr/>
        </p:nvSpPr>
        <p:spPr>
          <a:xfrm>
            <a:off x="2619360" y="7916040"/>
            <a:ext cx="3758040" cy="51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780" spc="-1" strike="noStrike">
                <a:solidFill>
                  <a:srgbClr val="202020"/>
                </a:solidFill>
                <a:latin typeface="Noto Sans"/>
                <a:ea typeface="Noto Sans"/>
              </a:rPr>
              <a:t>Nav2 </a:t>
            </a:r>
            <a:r>
              <a:rPr b="0" lang="en-US" sz="278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 </a:t>
            </a:r>
            <a:r>
              <a:rPr b="0" lang="ko-KR" sz="278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주행</a:t>
            </a:r>
            <a:r>
              <a:rPr b="0" lang="en-US" sz="2780" spc="-1" strike="noStrike">
                <a:solidFill>
                  <a:srgbClr val="202020"/>
                </a:solidFill>
                <a:latin typeface="Noto Sans"/>
                <a:ea typeface="Noto Sans"/>
              </a:rPr>
              <a:t> </a:t>
            </a:r>
            <a:r>
              <a:rPr b="0" lang="en-US" sz="2780" spc="-1" strike="noStrike">
                <a:solidFill>
                  <a:srgbClr val="202020"/>
                </a:solidFill>
                <a:latin typeface="Noto Sans"/>
                <a:ea typeface="Noto Sans"/>
              </a:rPr>
              <a:t>, </a:t>
            </a:r>
            <a:r>
              <a:rPr b="0" lang="en-US" sz="278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 </a:t>
            </a:r>
            <a:r>
              <a:rPr b="0" lang="ko-KR" sz="278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마커 도킹</a:t>
            </a:r>
            <a:endParaRPr b="0" lang="en-US" sz="2780" spc="-1" strike="noStrike">
              <a:solidFill>
                <a:srgbClr val="000000"/>
              </a:solidFill>
              <a:latin typeface="Noto Sans CJK KR"/>
            </a:endParaRPr>
          </a:p>
        </p:txBody>
      </p:sp>
      <p:pic>
        <p:nvPicPr>
          <p:cNvPr id="332" name="" descr=""/>
          <p:cNvPicPr/>
          <p:nvPr/>
        </p:nvPicPr>
        <p:blipFill>
          <a:blip r:embed="rId2"/>
          <a:stretch/>
        </p:blipFill>
        <p:spPr>
          <a:xfrm>
            <a:off x="3344400" y="9905760"/>
            <a:ext cx="4740120" cy="2665800"/>
          </a:xfrm>
          <a:prstGeom prst="rect">
            <a:avLst/>
          </a:prstGeom>
          <a:ln w="0">
            <a:noFill/>
          </a:ln>
        </p:spPr>
      </p:pic>
      <p:sp>
        <p:nvSpPr>
          <p:cNvPr id="333" name=""/>
          <p:cNvSpPr txBox="1"/>
          <p:nvPr/>
        </p:nvSpPr>
        <p:spPr>
          <a:xfrm>
            <a:off x="2619360" y="8339760"/>
            <a:ext cx="3651120" cy="51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ko-KR" sz="278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관제 연동</a:t>
            </a:r>
            <a:r>
              <a:rPr b="0" lang="en-US" sz="2780" spc="-1" strike="noStrike">
                <a:solidFill>
                  <a:srgbClr val="202020"/>
                </a:solidFill>
                <a:latin typeface="Noto Sans"/>
                <a:ea typeface="Noto Sans"/>
              </a:rPr>
              <a:t> </a:t>
            </a:r>
            <a:r>
              <a:rPr b="0" lang="en-US" sz="2780" spc="-1" strike="noStrike">
                <a:solidFill>
                  <a:srgbClr val="202020"/>
                </a:solidFill>
                <a:latin typeface="Noto Sans"/>
                <a:ea typeface="Noto Sans"/>
              </a:rPr>
              <a:t>, </a:t>
            </a:r>
            <a:r>
              <a:rPr b="0" lang="en-US" sz="278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 </a:t>
            </a:r>
            <a:r>
              <a:rPr b="0" lang="ko-KR" sz="278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부하 줄이기</a:t>
            </a:r>
            <a:endParaRPr b="0" lang="en-US" sz="278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34" name=""/>
          <p:cNvSpPr txBox="1"/>
          <p:nvPr/>
        </p:nvSpPr>
        <p:spPr>
          <a:xfrm>
            <a:off x="2619360" y="12866400"/>
            <a:ext cx="1934640" cy="31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020" spc="-1" strike="noStrike">
                <a:solidFill>
                  <a:srgbClr val="555555"/>
                </a:solidFill>
                <a:latin typeface="Noto Sans"/>
                <a:ea typeface="Noto Sans"/>
              </a:rPr>
              <a:t>ROS2 / OpenCV</a:t>
            </a:r>
            <a:endParaRPr b="0" lang="en-US" sz="202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35" name=""/>
          <p:cNvSpPr txBox="1"/>
          <p:nvPr/>
        </p:nvSpPr>
        <p:spPr>
          <a:xfrm>
            <a:off x="9906120" y="4395240"/>
            <a:ext cx="2765160" cy="553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3600" spc="-1" strike="noStrike">
                <a:solidFill>
                  <a:srgbClr val="202020"/>
                </a:solidFill>
                <a:latin typeface="Noto Sans"/>
                <a:ea typeface="Noto Sans"/>
              </a:rPr>
              <a:t>02  Safe Eye</a:t>
            </a:r>
            <a:endParaRPr b="0" lang="en-US" sz="3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36" name=""/>
          <p:cNvSpPr txBox="1"/>
          <p:nvPr/>
        </p:nvSpPr>
        <p:spPr>
          <a:xfrm>
            <a:off x="9906120" y="5248440"/>
            <a:ext cx="2197800" cy="454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470" spc="-1" strike="noStrike">
                <a:solidFill>
                  <a:srgbClr val="555555"/>
                </a:solidFill>
                <a:latin typeface="Noto Sans"/>
                <a:ea typeface="Noto Sans"/>
              </a:rPr>
              <a:t>2026.05 / 4</a:t>
            </a:r>
            <a:r>
              <a:rPr b="0" lang="en-US" sz="2470" spc="-1" strike="noStrike">
                <a:solidFill>
                  <a:srgbClr val="555555"/>
                </a:solidFill>
                <a:latin typeface="Noto Sans CJK KR"/>
                <a:ea typeface="Noto Sans CJK KR"/>
              </a:rPr>
              <a:t> </a:t>
            </a:r>
            <a:r>
              <a:rPr b="0" lang="ko-KR" sz="2470" spc="-1" strike="noStrike">
                <a:solidFill>
                  <a:srgbClr val="555555"/>
                </a:solidFill>
                <a:latin typeface="Noto Sans CJK KR"/>
                <a:ea typeface="Noto Sans CJK KR"/>
              </a:rPr>
              <a:t>인</a:t>
            </a:r>
            <a:endParaRPr b="0" lang="en-US" sz="247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37" name=""/>
          <p:cNvSpPr txBox="1"/>
          <p:nvPr/>
        </p:nvSpPr>
        <p:spPr>
          <a:xfrm>
            <a:off x="9906120" y="6203160"/>
            <a:ext cx="2975400" cy="552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ko-KR" sz="300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산업현장 안전 감지</a:t>
            </a:r>
            <a:endParaRPr b="0" lang="en-US" sz="3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38" name=""/>
          <p:cNvSpPr txBox="1"/>
          <p:nvPr/>
        </p:nvSpPr>
        <p:spPr>
          <a:xfrm>
            <a:off x="9906120" y="7200360"/>
            <a:ext cx="11894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ko-KR" sz="2400" spc="-1" strike="noStrike">
                <a:solidFill>
                  <a:srgbClr val="555555"/>
                </a:solidFill>
                <a:latin typeface="Noto Sans CJK KR"/>
                <a:ea typeface="Noto Sans CJK KR"/>
              </a:rPr>
              <a:t>개인 담당</a:t>
            </a:r>
            <a:endParaRPr b="0" lang="en-US" sz="2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39" name=""/>
          <p:cNvSpPr txBox="1"/>
          <p:nvPr/>
        </p:nvSpPr>
        <p:spPr>
          <a:xfrm>
            <a:off x="9906120" y="7916040"/>
            <a:ext cx="3709080" cy="51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780" spc="-1" strike="noStrike">
                <a:solidFill>
                  <a:srgbClr val="202020"/>
                </a:solidFill>
                <a:latin typeface="Noto Sans"/>
                <a:ea typeface="Noto Sans"/>
              </a:rPr>
              <a:t>PPE </a:t>
            </a:r>
            <a:r>
              <a:rPr b="0" lang="en-US" sz="278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 </a:t>
            </a:r>
            <a:r>
              <a:rPr b="0" lang="ko-KR" sz="278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객체탐지 모델 학습</a:t>
            </a:r>
            <a:endParaRPr b="0" lang="en-US" sz="2780" spc="-1" strike="noStrike">
              <a:solidFill>
                <a:srgbClr val="000000"/>
              </a:solidFill>
              <a:latin typeface="Noto Sans CJK KR"/>
            </a:endParaRPr>
          </a:p>
        </p:txBody>
      </p:sp>
      <p:pic>
        <p:nvPicPr>
          <p:cNvPr id="340" name="" descr=""/>
          <p:cNvPicPr/>
          <p:nvPr/>
        </p:nvPicPr>
        <p:blipFill>
          <a:blip r:embed="rId3"/>
          <a:stretch/>
        </p:blipFill>
        <p:spPr>
          <a:xfrm>
            <a:off x="10413720" y="9905760"/>
            <a:ext cx="5174640" cy="2665800"/>
          </a:xfrm>
          <a:prstGeom prst="rect">
            <a:avLst/>
          </a:prstGeom>
          <a:ln w="0">
            <a:noFill/>
          </a:ln>
        </p:spPr>
      </p:pic>
      <p:sp>
        <p:nvSpPr>
          <p:cNvPr id="341" name=""/>
          <p:cNvSpPr txBox="1"/>
          <p:nvPr/>
        </p:nvSpPr>
        <p:spPr>
          <a:xfrm>
            <a:off x="9906120" y="8339760"/>
            <a:ext cx="3795840" cy="51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ko-KR" sz="278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하드웨어</a:t>
            </a:r>
            <a:r>
              <a:rPr b="0" lang="en-US" sz="2780" spc="-1" strike="noStrike">
                <a:solidFill>
                  <a:srgbClr val="202020"/>
                </a:solidFill>
                <a:latin typeface="Noto Sans"/>
                <a:ea typeface="Noto Sans"/>
              </a:rPr>
              <a:t> </a:t>
            </a:r>
            <a:r>
              <a:rPr b="0" lang="en-US" sz="2780" spc="-1" strike="noStrike">
                <a:solidFill>
                  <a:srgbClr val="202020"/>
                </a:solidFill>
                <a:latin typeface="Noto Sans"/>
                <a:ea typeface="Noto Sans"/>
              </a:rPr>
              <a:t>·</a:t>
            </a:r>
            <a:r>
              <a:rPr b="0" lang="en-US" sz="278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 </a:t>
            </a:r>
            <a:r>
              <a:rPr b="0" lang="ko-KR" sz="278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임베디드 구동</a:t>
            </a:r>
            <a:endParaRPr b="0" lang="en-US" sz="278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42" name=""/>
          <p:cNvSpPr txBox="1"/>
          <p:nvPr/>
        </p:nvSpPr>
        <p:spPr>
          <a:xfrm>
            <a:off x="9906120" y="12866400"/>
            <a:ext cx="3074760" cy="31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020" spc="-1" strike="noStrike">
                <a:solidFill>
                  <a:srgbClr val="555555"/>
                </a:solidFill>
                <a:latin typeface="Noto Sans"/>
                <a:ea typeface="Noto Sans"/>
              </a:rPr>
              <a:t>YOLO11n / Raspberry Pi 5</a:t>
            </a:r>
            <a:endParaRPr b="0" lang="en-US" sz="202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43" name=""/>
          <p:cNvSpPr txBox="1"/>
          <p:nvPr/>
        </p:nvSpPr>
        <p:spPr>
          <a:xfrm>
            <a:off x="17192520" y="4395240"/>
            <a:ext cx="2711880" cy="553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3600" spc="-1" strike="noStrike">
                <a:solidFill>
                  <a:srgbClr val="202020"/>
                </a:solidFill>
                <a:latin typeface="Noto Sans"/>
                <a:ea typeface="Noto Sans"/>
              </a:rPr>
              <a:t>03  ARMIGO</a:t>
            </a:r>
            <a:endParaRPr b="0" lang="en-US" sz="3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44" name=""/>
          <p:cNvSpPr txBox="1"/>
          <p:nvPr/>
        </p:nvSpPr>
        <p:spPr>
          <a:xfrm>
            <a:off x="17192520" y="5248440"/>
            <a:ext cx="2201040" cy="454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470" spc="-1" strike="noStrike">
                <a:solidFill>
                  <a:srgbClr val="555555"/>
                </a:solidFill>
                <a:latin typeface="Noto Sans"/>
                <a:ea typeface="Noto Sans"/>
              </a:rPr>
              <a:t>2026.08 / 4</a:t>
            </a:r>
            <a:r>
              <a:rPr b="0" lang="en-US" sz="2470" spc="-1" strike="noStrike">
                <a:solidFill>
                  <a:srgbClr val="555555"/>
                </a:solidFill>
                <a:latin typeface="Noto Sans CJK KR"/>
                <a:ea typeface="Noto Sans CJK KR"/>
              </a:rPr>
              <a:t> </a:t>
            </a:r>
            <a:r>
              <a:rPr b="0" lang="ko-KR" sz="2470" spc="-1" strike="noStrike">
                <a:solidFill>
                  <a:srgbClr val="555555"/>
                </a:solidFill>
                <a:latin typeface="Noto Sans CJK KR"/>
                <a:ea typeface="Noto Sans CJK KR"/>
              </a:rPr>
              <a:t>인</a:t>
            </a:r>
            <a:endParaRPr b="0" lang="en-US" sz="247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45" name=""/>
          <p:cNvSpPr txBox="1"/>
          <p:nvPr/>
        </p:nvSpPr>
        <p:spPr>
          <a:xfrm>
            <a:off x="17192520" y="6203160"/>
            <a:ext cx="2710440" cy="552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ko-KR" sz="300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원격 조작 로봇 팔</a:t>
            </a:r>
            <a:endParaRPr b="0" lang="en-US" sz="3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46" name=""/>
          <p:cNvSpPr txBox="1"/>
          <p:nvPr/>
        </p:nvSpPr>
        <p:spPr>
          <a:xfrm>
            <a:off x="17192520" y="7200360"/>
            <a:ext cx="11894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ko-KR" sz="2400" spc="-1" strike="noStrike">
                <a:solidFill>
                  <a:srgbClr val="555555"/>
                </a:solidFill>
                <a:latin typeface="Noto Sans CJK KR"/>
                <a:ea typeface="Noto Sans CJK KR"/>
              </a:rPr>
              <a:t>공동 담당</a:t>
            </a:r>
            <a:endParaRPr b="0" lang="en-US" sz="2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47" name=""/>
          <p:cNvSpPr txBox="1"/>
          <p:nvPr/>
        </p:nvSpPr>
        <p:spPr>
          <a:xfrm>
            <a:off x="17192520" y="7916040"/>
            <a:ext cx="3339000" cy="51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780" spc="-1" strike="noStrike">
                <a:solidFill>
                  <a:srgbClr val="202020"/>
                </a:solidFill>
                <a:latin typeface="Noto Sans"/>
                <a:ea typeface="Noto Sans"/>
              </a:rPr>
              <a:t>UI, </a:t>
            </a:r>
            <a:r>
              <a:rPr b="0" lang="en-US" sz="278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 </a:t>
            </a:r>
            <a:r>
              <a:rPr b="0" lang="ko-KR" sz="278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판단 로직</a:t>
            </a:r>
            <a:r>
              <a:rPr b="0" lang="en-US" sz="2780" spc="-1" strike="noStrike">
                <a:solidFill>
                  <a:srgbClr val="202020"/>
                </a:solidFill>
                <a:latin typeface="Noto Sans"/>
                <a:ea typeface="Noto Sans"/>
              </a:rPr>
              <a:t> </a:t>
            </a:r>
            <a:r>
              <a:rPr b="0" lang="en-US" sz="2780" spc="-1" strike="noStrike">
                <a:solidFill>
                  <a:srgbClr val="202020"/>
                </a:solidFill>
                <a:latin typeface="Noto Sans"/>
                <a:ea typeface="Noto Sans"/>
              </a:rPr>
              <a:t>, </a:t>
            </a:r>
            <a:r>
              <a:rPr b="0" lang="en-US" sz="278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 </a:t>
            </a:r>
            <a:r>
              <a:rPr b="0" lang="ko-KR" sz="278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티칭</a:t>
            </a:r>
            <a:endParaRPr b="0" lang="en-US" sz="2780" spc="-1" strike="noStrike">
              <a:solidFill>
                <a:srgbClr val="000000"/>
              </a:solidFill>
              <a:latin typeface="Noto Sans CJK KR"/>
            </a:endParaRPr>
          </a:p>
        </p:txBody>
      </p:sp>
      <p:pic>
        <p:nvPicPr>
          <p:cNvPr id="348" name="" descr=""/>
          <p:cNvPicPr/>
          <p:nvPr/>
        </p:nvPicPr>
        <p:blipFill>
          <a:blip r:embed="rId4"/>
          <a:stretch/>
        </p:blipFill>
        <p:spPr>
          <a:xfrm>
            <a:off x="17917560" y="9905760"/>
            <a:ext cx="4740120" cy="2665800"/>
          </a:xfrm>
          <a:prstGeom prst="rect">
            <a:avLst/>
          </a:prstGeom>
          <a:ln w="0">
            <a:noFill/>
          </a:ln>
        </p:spPr>
      </p:pic>
      <p:sp>
        <p:nvSpPr>
          <p:cNvPr id="349" name=""/>
          <p:cNvSpPr txBox="1"/>
          <p:nvPr/>
        </p:nvSpPr>
        <p:spPr>
          <a:xfrm>
            <a:off x="17192520" y="8339760"/>
            <a:ext cx="3490560" cy="51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ko-KR" sz="278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무선 통신과 시스템 연동</a:t>
            </a:r>
            <a:endParaRPr b="0" lang="en-US" sz="278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50" name=""/>
          <p:cNvSpPr txBox="1"/>
          <p:nvPr/>
        </p:nvSpPr>
        <p:spPr>
          <a:xfrm>
            <a:off x="17192520" y="12866400"/>
            <a:ext cx="2347560" cy="31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020" spc="-1" strike="noStrike">
                <a:solidFill>
                  <a:srgbClr val="555555"/>
                </a:solidFill>
                <a:latin typeface="Noto Sans"/>
                <a:ea typeface="Noto Sans"/>
              </a:rPr>
              <a:t>STM32 / FreeRTOS</a:t>
            </a:r>
            <a:endParaRPr b="0" lang="en-US" sz="202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"/>
          <p:cNvSpPr/>
          <p:nvPr/>
        </p:nvSpPr>
        <p:spPr>
          <a:xfrm>
            <a:off x="0" y="0"/>
            <a:ext cx="24383520" cy="13716000"/>
          </a:xfrm>
          <a:custGeom>
            <a:avLst/>
            <a:gdLst/>
            <a:ahLst/>
            <a:rect l="0" t="0" r="r" b="b"/>
            <a:pathLst>
              <a:path w="67732" h="38100">
                <a:moveTo>
                  <a:pt x="0" y="0"/>
                </a:moveTo>
                <a:lnTo>
                  <a:pt x="67732" y="0"/>
                </a:lnTo>
                <a:lnTo>
                  <a:pt x="67732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52" name=""/>
          <p:cNvSpPr/>
          <p:nvPr/>
        </p:nvSpPr>
        <p:spPr>
          <a:xfrm>
            <a:off x="0" y="0"/>
            <a:ext cx="24384240" cy="13716360"/>
          </a:xfrm>
          <a:custGeom>
            <a:avLst/>
            <a:gdLst/>
            <a:ahLst/>
            <a:rect l="0" t="0" r="r" b="b"/>
            <a:pathLst>
              <a:path w="67734" h="38101">
                <a:moveTo>
                  <a:pt x="0" y="0"/>
                </a:moveTo>
                <a:lnTo>
                  <a:pt x="67734" y="0"/>
                </a:lnTo>
                <a:lnTo>
                  <a:pt x="67734" y="38101"/>
                </a:lnTo>
                <a:lnTo>
                  <a:pt x="0" y="3810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Noto Sans CJK KR"/>
            </a:endParaRPr>
          </a:p>
        </p:txBody>
      </p:sp>
      <p:pic>
        <p:nvPicPr>
          <p:cNvPr id="353" name="" descr=""/>
          <p:cNvPicPr/>
          <p:nvPr/>
        </p:nvPicPr>
        <p:blipFill>
          <a:blip r:embed="rId1"/>
          <a:stretch/>
        </p:blipFill>
        <p:spPr>
          <a:xfrm>
            <a:off x="0" y="-360"/>
            <a:ext cx="1485000" cy="13714920"/>
          </a:xfrm>
          <a:prstGeom prst="rect">
            <a:avLst/>
          </a:prstGeom>
          <a:ln w="0">
            <a:noFill/>
          </a:ln>
        </p:spPr>
      </p:pic>
      <p:sp>
        <p:nvSpPr>
          <p:cNvPr id="354" name=""/>
          <p:cNvSpPr txBox="1"/>
          <p:nvPr/>
        </p:nvSpPr>
        <p:spPr>
          <a:xfrm rot="5400000">
            <a:off x="187200" y="1617480"/>
            <a:ext cx="1070640" cy="31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020" spc="-1" strike="noStrike">
                <a:solidFill>
                  <a:srgbClr val="ffffff"/>
                </a:solidFill>
                <a:latin typeface="Noto Sans"/>
                <a:ea typeface="Noto Sans"/>
              </a:rPr>
              <a:t>Safe Eye</a:t>
            </a:r>
            <a:endParaRPr b="0" lang="en-US" sz="202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55" name=""/>
          <p:cNvSpPr txBox="1"/>
          <p:nvPr/>
        </p:nvSpPr>
        <p:spPr>
          <a:xfrm>
            <a:off x="466560" y="12484800"/>
            <a:ext cx="258120" cy="30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ffffff"/>
                </a:solidFill>
                <a:latin typeface="Noto Sans"/>
                <a:ea typeface="Noto Sans"/>
              </a:rPr>
              <a:t>10</a:t>
            </a:r>
            <a:endParaRPr b="0" lang="en-US" sz="19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56" name=""/>
          <p:cNvSpPr txBox="1"/>
          <p:nvPr/>
        </p:nvSpPr>
        <p:spPr>
          <a:xfrm>
            <a:off x="2571840" y="1088640"/>
            <a:ext cx="3091320" cy="876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5700" spc="-1" strike="noStrike">
                <a:solidFill>
                  <a:srgbClr val="202020"/>
                </a:solidFill>
                <a:latin typeface="Noto Sans"/>
                <a:ea typeface="Noto Sans"/>
              </a:rPr>
              <a:t>Safe Eye</a:t>
            </a:r>
            <a:endParaRPr b="0" lang="en-US" sz="5700" spc="-1" strike="noStrike">
              <a:solidFill>
                <a:srgbClr val="000000"/>
              </a:solidFill>
              <a:latin typeface="Noto Sans CJK KR"/>
            </a:endParaRPr>
          </a:p>
        </p:txBody>
      </p:sp>
      <p:pic>
        <p:nvPicPr>
          <p:cNvPr id="357" name="" descr=""/>
          <p:cNvPicPr/>
          <p:nvPr/>
        </p:nvPicPr>
        <p:blipFill>
          <a:blip r:embed="rId2"/>
          <a:stretch/>
        </p:blipFill>
        <p:spPr>
          <a:xfrm>
            <a:off x="2523960" y="4846680"/>
            <a:ext cx="10762200" cy="5545080"/>
          </a:xfrm>
          <a:prstGeom prst="rect">
            <a:avLst/>
          </a:prstGeom>
          <a:ln w="0">
            <a:noFill/>
          </a:ln>
        </p:spPr>
      </p:pic>
      <p:sp>
        <p:nvSpPr>
          <p:cNvPr id="358" name=""/>
          <p:cNvSpPr txBox="1"/>
          <p:nvPr/>
        </p:nvSpPr>
        <p:spPr>
          <a:xfrm>
            <a:off x="2619000" y="2582640"/>
            <a:ext cx="9097920" cy="51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780" spc="-1" strike="noStrike">
                <a:solidFill>
                  <a:srgbClr val="555555"/>
                </a:solidFill>
                <a:latin typeface="Noto Sans"/>
                <a:ea typeface="Noto Sans"/>
              </a:rPr>
              <a:t>YOLO </a:t>
            </a:r>
            <a:r>
              <a:rPr b="0" lang="en-US" sz="2780" spc="-1" strike="noStrike">
                <a:solidFill>
                  <a:srgbClr val="555555"/>
                </a:solidFill>
                <a:latin typeface="Noto Sans CJK KR"/>
                <a:ea typeface="Noto Sans CJK KR"/>
              </a:rPr>
              <a:t> </a:t>
            </a:r>
            <a:r>
              <a:rPr b="0" lang="ko-KR" sz="2780" spc="-1" strike="noStrike">
                <a:solidFill>
                  <a:srgbClr val="555555"/>
                </a:solidFill>
                <a:latin typeface="Noto Sans CJK KR"/>
                <a:ea typeface="Noto Sans CJK KR"/>
              </a:rPr>
              <a:t>기반 산업현장 안전 감지 </a:t>
            </a:r>
            <a:r>
              <a:rPr b="0" lang="en-US" sz="2780" spc="-1" strike="noStrike">
                <a:solidFill>
                  <a:srgbClr val="555555"/>
                </a:solidFill>
                <a:latin typeface="Noto Sans"/>
                <a:ea typeface="Noto Sans"/>
              </a:rPr>
              <a:t> </a:t>
            </a:r>
            <a:r>
              <a:rPr b="0" lang="en-US" sz="2780" spc="-1" strike="noStrike">
                <a:solidFill>
                  <a:srgbClr val="555555"/>
                </a:solidFill>
                <a:latin typeface="Noto Sans"/>
                <a:ea typeface="Noto Sans"/>
              </a:rPr>
              <a:t>/ 2026.05 / 4</a:t>
            </a:r>
            <a:r>
              <a:rPr b="0" lang="en-US" sz="2780" spc="-1" strike="noStrike">
                <a:solidFill>
                  <a:srgbClr val="555555"/>
                </a:solidFill>
                <a:latin typeface="Noto Sans CJK KR"/>
                <a:ea typeface="Noto Sans CJK KR"/>
              </a:rPr>
              <a:t> </a:t>
            </a:r>
            <a:r>
              <a:rPr b="0" lang="ko-KR" sz="2780" spc="-1" strike="noStrike">
                <a:solidFill>
                  <a:srgbClr val="555555"/>
                </a:solidFill>
                <a:latin typeface="Noto Sans CJK KR"/>
                <a:ea typeface="Noto Sans CJK KR"/>
              </a:rPr>
              <a:t>인 프로젝트</a:t>
            </a:r>
            <a:endParaRPr b="0" lang="en-US" sz="278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59" name=""/>
          <p:cNvSpPr txBox="1"/>
          <p:nvPr/>
        </p:nvSpPr>
        <p:spPr>
          <a:xfrm>
            <a:off x="2619000" y="11819880"/>
            <a:ext cx="5342040" cy="426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ko-KR" sz="2320" spc="-1" strike="noStrike">
                <a:solidFill>
                  <a:srgbClr val="555555"/>
                </a:solidFill>
                <a:latin typeface="Noto Sans CJK KR"/>
                <a:ea typeface="Noto Sans CJK KR"/>
              </a:rPr>
              <a:t>팀 통합 시연 화면 </a:t>
            </a:r>
            <a:r>
              <a:rPr b="0" lang="en-US" sz="2320" spc="-1" strike="noStrike">
                <a:solidFill>
                  <a:srgbClr val="555555"/>
                </a:solidFill>
                <a:latin typeface="Noto Sans"/>
                <a:ea typeface="Noto Sans"/>
              </a:rPr>
              <a:t> </a:t>
            </a:r>
            <a:r>
              <a:rPr b="0" lang="en-US" sz="2320" spc="-1" strike="noStrike">
                <a:solidFill>
                  <a:srgbClr val="555555"/>
                </a:solidFill>
                <a:latin typeface="Noto Sans"/>
                <a:ea typeface="Noto Sans"/>
              </a:rPr>
              <a:t>/ </a:t>
            </a:r>
            <a:r>
              <a:rPr b="0" lang="en-US" sz="2320" spc="-1" strike="noStrike">
                <a:solidFill>
                  <a:srgbClr val="555555"/>
                </a:solidFill>
                <a:latin typeface="Noto Sans CJK KR"/>
                <a:ea typeface="Noto Sans CJK KR"/>
              </a:rPr>
              <a:t> </a:t>
            </a:r>
            <a:r>
              <a:rPr b="0" lang="ko-KR" sz="2320" spc="-1" strike="noStrike">
                <a:solidFill>
                  <a:srgbClr val="555555"/>
                </a:solidFill>
                <a:latin typeface="Noto Sans CJK KR"/>
                <a:ea typeface="Noto Sans CJK KR"/>
              </a:rPr>
              <a:t>화면 </a:t>
            </a:r>
            <a:r>
              <a:rPr b="0" lang="en-US" sz="2320" spc="-1" strike="noStrike">
                <a:solidFill>
                  <a:srgbClr val="555555"/>
                </a:solidFill>
                <a:latin typeface="Noto Sans"/>
                <a:ea typeface="Noto Sans"/>
              </a:rPr>
              <a:t> </a:t>
            </a:r>
            <a:r>
              <a:rPr b="0" lang="en-US" sz="2320" spc="-1" strike="noStrike">
                <a:solidFill>
                  <a:srgbClr val="555555"/>
                </a:solidFill>
                <a:latin typeface="Noto Sans"/>
                <a:ea typeface="Noto Sans"/>
              </a:rPr>
              <a:t>UI</a:t>
            </a:r>
            <a:r>
              <a:rPr b="0" lang="en-US" sz="2320" spc="-1" strike="noStrike">
                <a:solidFill>
                  <a:srgbClr val="555555"/>
                </a:solidFill>
                <a:latin typeface="Noto Sans CJK KR"/>
                <a:ea typeface="Noto Sans CJK KR"/>
              </a:rPr>
              <a:t> </a:t>
            </a:r>
            <a:r>
              <a:rPr b="0" lang="ko-KR" sz="2320" spc="-1" strike="noStrike">
                <a:solidFill>
                  <a:srgbClr val="555555"/>
                </a:solidFill>
                <a:latin typeface="Noto Sans CJK KR"/>
                <a:ea typeface="Noto Sans CJK KR"/>
              </a:rPr>
              <a:t>는 팀원 담당</a:t>
            </a:r>
            <a:endParaRPr b="0" lang="en-US" sz="232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60" name=""/>
          <p:cNvSpPr txBox="1"/>
          <p:nvPr/>
        </p:nvSpPr>
        <p:spPr>
          <a:xfrm>
            <a:off x="14382720" y="4300200"/>
            <a:ext cx="3152520" cy="661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ko-KR" sz="360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팀 프로젝트 목표</a:t>
            </a:r>
            <a:endParaRPr b="0" lang="en-US" sz="3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61" name=""/>
          <p:cNvSpPr txBox="1"/>
          <p:nvPr/>
        </p:nvSpPr>
        <p:spPr>
          <a:xfrm>
            <a:off x="14382720" y="5202360"/>
            <a:ext cx="7758360" cy="53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ko-KR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고정 카메라에서 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 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PPE </a:t>
            </a:r>
            <a:r>
              <a:rPr b="0" lang="en-US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 </a:t>
            </a:r>
            <a:r>
              <a:rPr b="0" lang="ko-KR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미착용과 위험구역 접근을 </a:t>
            </a:r>
            <a:endParaRPr b="0" lang="en-US" sz="293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62" name=""/>
          <p:cNvSpPr txBox="1"/>
          <p:nvPr/>
        </p:nvSpPr>
        <p:spPr>
          <a:xfrm>
            <a:off x="14382720" y="5649120"/>
            <a:ext cx="6528960" cy="53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ko-KR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감지하고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 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, </a:t>
            </a:r>
            <a:r>
              <a:rPr b="0" lang="en-US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 </a:t>
            </a:r>
            <a:r>
              <a:rPr b="0" lang="ko-KR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화면과 음성으로 경고합니다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 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.</a:t>
            </a:r>
            <a:endParaRPr b="0" lang="en-US" sz="293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63" name=""/>
          <p:cNvSpPr txBox="1"/>
          <p:nvPr/>
        </p:nvSpPr>
        <p:spPr>
          <a:xfrm>
            <a:off x="14382720" y="7443720"/>
            <a:ext cx="1786680" cy="661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ko-KR" sz="360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개인 담당</a:t>
            </a:r>
            <a:endParaRPr b="0" lang="en-US" sz="3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64" name=""/>
          <p:cNvSpPr txBox="1"/>
          <p:nvPr/>
        </p:nvSpPr>
        <p:spPr>
          <a:xfrm>
            <a:off x="14382720" y="8345520"/>
            <a:ext cx="7652520" cy="53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PPE </a:t>
            </a:r>
            <a:r>
              <a:rPr b="0" lang="en-US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 </a:t>
            </a:r>
            <a:r>
              <a:rPr b="0" lang="ko-KR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탐지 모델 학습과 라즈베리파이 장치 구동을 </a:t>
            </a:r>
            <a:endParaRPr b="0" lang="en-US" sz="293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65" name=""/>
          <p:cNvSpPr txBox="1"/>
          <p:nvPr/>
        </p:nvSpPr>
        <p:spPr>
          <a:xfrm>
            <a:off x="14382720" y="8792280"/>
            <a:ext cx="8656920" cy="53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ko-KR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맡았습니다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 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. </a:t>
            </a:r>
            <a:r>
              <a:rPr b="0" lang="en-US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 </a:t>
            </a:r>
            <a:r>
              <a:rPr b="0" lang="ko-KR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라벨이 어긋난 데이터를 정리해 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 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mAP50 </a:t>
            </a:r>
            <a:endParaRPr b="0" lang="en-US" sz="293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66" name=""/>
          <p:cNvSpPr txBox="1"/>
          <p:nvPr/>
        </p:nvSpPr>
        <p:spPr>
          <a:xfrm>
            <a:off x="14382720" y="9239040"/>
            <a:ext cx="8408880" cy="53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0.923</a:t>
            </a:r>
            <a:r>
              <a:rPr b="0" lang="en-US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 </a:t>
            </a:r>
            <a:r>
              <a:rPr b="0" lang="ko-KR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을 얻었고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 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, IR </a:t>
            </a:r>
            <a:r>
              <a:rPr b="0" lang="en-US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 </a:t>
            </a:r>
            <a:r>
              <a:rPr b="0" lang="ko-KR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감지 때만 추론하게 만들었습니</a:t>
            </a:r>
            <a:endParaRPr b="0" lang="en-US" sz="293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67" name=""/>
          <p:cNvSpPr txBox="1"/>
          <p:nvPr/>
        </p:nvSpPr>
        <p:spPr>
          <a:xfrm>
            <a:off x="14382720" y="9685800"/>
            <a:ext cx="638280" cy="53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ko-KR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다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 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.</a:t>
            </a:r>
            <a:endParaRPr b="0" lang="en-US" sz="293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68" name=""/>
          <p:cNvSpPr txBox="1"/>
          <p:nvPr/>
        </p:nvSpPr>
        <p:spPr>
          <a:xfrm>
            <a:off x="14382720" y="11059560"/>
            <a:ext cx="2948040" cy="428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780" spc="-1" strike="noStrike">
                <a:solidFill>
                  <a:srgbClr val="202020"/>
                </a:solidFill>
                <a:latin typeface="Noto Sans"/>
                <a:ea typeface="Noto Sans"/>
              </a:rPr>
              <a:t>YOLO11n · Python</a:t>
            </a:r>
            <a:endParaRPr b="0" lang="en-US" sz="278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69" name=""/>
          <p:cNvSpPr txBox="1"/>
          <p:nvPr/>
        </p:nvSpPr>
        <p:spPr>
          <a:xfrm>
            <a:off x="14382720" y="11483280"/>
            <a:ext cx="3998160" cy="51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780" spc="-1" strike="noStrike">
                <a:solidFill>
                  <a:srgbClr val="202020"/>
                </a:solidFill>
                <a:latin typeface="Noto Sans"/>
                <a:ea typeface="Noto Sans"/>
              </a:rPr>
              <a:t>Raspberry Pi 5 · IR </a:t>
            </a:r>
            <a:r>
              <a:rPr b="0" lang="en-US" sz="278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 </a:t>
            </a:r>
            <a:r>
              <a:rPr b="0" lang="ko-KR" sz="278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센서</a:t>
            </a:r>
            <a:endParaRPr b="0" lang="en-US" sz="278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70" name=""/>
          <p:cNvSpPr txBox="1"/>
          <p:nvPr/>
        </p:nvSpPr>
        <p:spPr>
          <a:xfrm>
            <a:off x="14382720" y="11907000"/>
            <a:ext cx="2596320" cy="51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ko-KR" sz="278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카메라 </a:t>
            </a:r>
            <a:r>
              <a:rPr b="0" lang="en-US" sz="2780" spc="-1" strike="noStrike">
                <a:solidFill>
                  <a:srgbClr val="202020"/>
                </a:solidFill>
                <a:latin typeface="Noto Sans"/>
                <a:ea typeface="Noto Sans"/>
              </a:rPr>
              <a:t> </a:t>
            </a:r>
            <a:r>
              <a:rPr b="0" lang="en-US" sz="2780" spc="-1" strike="noStrike">
                <a:solidFill>
                  <a:srgbClr val="202020"/>
                </a:solidFill>
                <a:latin typeface="Noto Sans"/>
                <a:ea typeface="Noto Sans"/>
              </a:rPr>
              <a:t>· </a:t>
            </a:r>
            <a:r>
              <a:rPr b="0" lang="en-US" sz="278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 </a:t>
            </a:r>
            <a:r>
              <a:rPr b="0" lang="ko-KR" sz="278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스피커</a:t>
            </a:r>
            <a:endParaRPr b="0" lang="en-US" sz="278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"/>
          <p:cNvSpPr/>
          <p:nvPr/>
        </p:nvSpPr>
        <p:spPr>
          <a:xfrm>
            <a:off x="0" y="0"/>
            <a:ext cx="24383520" cy="13716000"/>
          </a:xfrm>
          <a:custGeom>
            <a:avLst/>
            <a:gdLst/>
            <a:ahLst/>
            <a:rect l="0" t="0" r="r" b="b"/>
            <a:pathLst>
              <a:path w="67732" h="38100">
                <a:moveTo>
                  <a:pt x="0" y="0"/>
                </a:moveTo>
                <a:lnTo>
                  <a:pt x="67732" y="0"/>
                </a:lnTo>
                <a:lnTo>
                  <a:pt x="67732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72" name=""/>
          <p:cNvSpPr/>
          <p:nvPr/>
        </p:nvSpPr>
        <p:spPr>
          <a:xfrm>
            <a:off x="0" y="0"/>
            <a:ext cx="24384240" cy="13716360"/>
          </a:xfrm>
          <a:custGeom>
            <a:avLst/>
            <a:gdLst/>
            <a:ahLst/>
            <a:rect l="0" t="0" r="r" b="b"/>
            <a:pathLst>
              <a:path w="67734" h="38101">
                <a:moveTo>
                  <a:pt x="0" y="0"/>
                </a:moveTo>
                <a:lnTo>
                  <a:pt x="67734" y="0"/>
                </a:lnTo>
                <a:lnTo>
                  <a:pt x="67734" y="38101"/>
                </a:lnTo>
                <a:lnTo>
                  <a:pt x="0" y="3810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Noto Sans CJK KR"/>
            </a:endParaRPr>
          </a:p>
        </p:txBody>
      </p:sp>
      <p:pic>
        <p:nvPicPr>
          <p:cNvPr id="373" name="" descr=""/>
          <p:cNvPicPr/>
          <p:nvPr/>
        </p:nvPicPr>
        <p:blipFill>
          <a:blip r:embed="rId1"/>
          <a:stretch/>
        </p:blipFill>
        <p:spPr>
          <a:xfrm>
            <a:off x="0" y="-360"/>
            <a:ext cx="1485000" cy="13714920"/>
          </a:xfrm>
          <a:prstGeom prst="rect">
            <a:avLst/>
          </a:prstGeom>
          <a:ln w="0">
            <a:noFill/>
          </a:ln>
        </p:spPr>
      </p:pic>
      <p:sp>
        <p:nvSpPr>
          <p:cNvPr id="374" name=""/>
          <p:cNvSpPr txBox="1"/>
          <p:nvPr/>
        </p:nvSpPr>
        <p:spPr>
          <a:xfrm rot="5400000">
            <a:off x="208440" y="1596240"/>
            <a:ext cx="1027800" cy="31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020" spc="-1" strike="noStrike">
                <a:solidFill>
                  <a:srgbClr val="ffffff"/>
                </a:solidFill>
                <a:latin typeface="Noto Sans"/>
                <a:ea typeface="Noto Sans"/>
              </a:rPr>
              <a:t>ARMIGO</a:t>
            </a:r>
            <a:endParaRPr b="0" lang="en-US" sz="202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75" name=""/>
          <p:cNvSpPr txBox="1"/>
          <p:nvPr/>
        </p:nvSpPr>
        <p:spPr>
          <a:xfrm>
            <a:off x="466560" y="12484800"/>
            <a:ext cx="247320" cy="30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ffffff"/>
                </a:solidFill>
                <a:latin typeface="Noto Sans"/>
                <a:ea typeface="Noto Sans"/>
              </a:rPr>
              <a:t>11</a:t>
            </a:r>
            <a:endParaRPr b="0" lang="en-US" sz="19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76" name=""/>
          <p:cNvSpPr txBox="1"/>
          <p:nvPr/>
        </p:nvSpPr>
        <p:spPr>
          <a:xfrm>
            <a:off x="2571840" y="1088640"/>
            <a:ext cx="2993760" cy="876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5700" spc="-1" strike="noStrike">
                <a:solidFill>
                  <a:srgbClr val="202020"/>
                </a:solidFill>
                <a:latin typeface="Noto Sans"/>
                <a:ea typeface="Noto Sans"/>
              </a:rPr>
              <a:t>ARMIGO</a:t>
            </a:r>
            <a:endParaRPr b="0" lang="en-US" sz="5700" spc="-1" strike="noStrike">
              <a:solidFill>
                <a:srgbClr val="000000"/>
              </a:solidFill>
              <a:latin typeface="Noto Sans CJK KR"/>
            </a:endParaRPr>
          </a:p>
        </p:txBody>
      </p:sp>
      <p:pic>
        <p:nvPicPr>
          <p:cNvPr id="377" name="" descr=""/>
          <p:cNvPicPr/>
          <p:nvPr/>
        </p:nvPicPr>
        <p:blipFill>
          <a:blip r:embed="rId2"/>
          <a:stretch/>
        </p:blipFill>
        <p:spPr>
          <a:xfrm>
            <a:off x="2476440" y="4878360"/>
            <a:ext cx="10762200" cy="6053400"/>
          </a:xfrm>
          <a:prstGeom prst="rect">
            <a:avLst/>
          </a:prstGeom>
          <a:ln w="0">
            <a:noFill/>
          </a:ln>
        </p:spPr>
      </p:pic>
      <p:sp>
        <p:nvSpPr>
          <p:cNvPr id="378" name=""/>
          <p:cNvSpPr txBox="1"/>
          <p:nvPr/>
        </p:nvSpPr>
        <p:spPr>
          <a:xfrm>
            <a:off x="2619000" y="2582640"/>
            <a:ext cx="9184680" cy="51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780" spc="-1" strike="noStrike">
                <a:solidFill>
                  <a:srgbClr val="555555"/>
                </a:solidFill>
                <a:latin typeface="Noto Sans"/>
                <a:ea typeface="Noto Sans"/>
              </a:rPr>
              <a:t>Leader–Follower </a:t>
            </a:r>
            <a:r>
              <a:rPr b="0" lang="en-US" sz="2780" spc="-1" strike="noStrike">
                <a:solidFill>
                  <a:srgbClr val="555555"/>
                </a:solidFill>
                <a:latin typeface="Noto Sans CJK KR"/>
                <a:ea typeface="Noto Sans CJK KR"/>
              </a:rPr>
              <a:t> </a:t>
            </a:r>
            <a:r>
              <a:rPr b="0" lang="ko-KR" sz="2780" spc="-1" strike="noStrike">
                <a:solidFill>
                  <a:srgbClr val="555555"/>
                </a:solidFill>
                <a:latin typeface="Noto Sans CJK KR"/>
                <a:ea typeface="Noto Sans CJK KR"/>
              </a:rPr>
              <a:t>원격 로봇 팔 </a:t>
            </a:r>
            <a:r>
              <a:rPr b="0" lang="en-US" sz="2780" spc="-1" strike="noStrike">
                <a:solidFill>
                  <a:srgbClr val="555555"/>
                </a:solidFill>
                <a:latin typeface="Noto Sans"/>
                <a:ea typeface="Noto Sans"/>
              </a:rPr>
              <a:t> </a:t>
            </a:r>
            <a:r>
              <a:rPr b="0" lang="en-US" sz="2780" spc="-1" strike="noStrike">
                <a:solidFill>
                  <a:srgbClr val="555555"/>
                </a:solidFill>
                <a:latin typeface="Noto Sans"/>
                <a:ea typeface="Noto Sans"/>
              </a:rPr>
              <a:t>/ 2026.08 / 4</a:t>
            </a:r>
            <a:r>
              <a:rPr b="0" lang="en-US" sz="2780" spc="-1" strike="noStrike">
                <a:solidFill>
                  <a:srgbClr val="555555"/>
                </a:solidFill>
                <a:latin typeface="Noto Sans CJK KR"/>
                <a:ea typeface="Noto Sans CJK KR"/>
              </a:rPr>
              <a:t> </a:t>
            </a:r>
            <a:r>
              <a:rPr b="0" lang="ko-KR" sz="2780" spc="-1" strike="noStrike">
                <a:solidFill>
                  <a:srgbClr val="555555"/>
                </a:solidFill>
                <a:latin typeface="Noto Sans CJK KR"/>
                <a:ea typeface="Noto Sans CJK KR"/>
              </a:rPr>
              <a:t>인 프로젝트</a:t>
            </a:r>
            <a:endParaRPr b="0" lang="en-US" sz="278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79" name=""/>
          <p:cNvSpPr txBox="1"/>
          <p:nvPr/>
        </p:nvSpPr>
        <p:spPr>
          <a:xfrm>
            <a:off x="2619000" y="12105720"/>
            <a:ext cx="5683320" cy="426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ko-KR" sz="2320" spc="-1" strike="noStrike">
                <a:solidFill>
                  <a:srgbClr val="555555"/>
                </a:solidFill>
                <a:latin typeface="Noto Sans CJK KR"/>
                <a:ea typeface="Noto Sans CJK KR"/>
              </a:rPr>
              <a:t>팀 시연 화면</a:t>
            </a:r>
            <a:r>
              <a:rPr b="0" lang="en-US" sz="2320" spc="-1" strike="noStrike">
                <a:solidFill>
                  <a:srgbClr val="555555"/>
                </a:solidFill>
                <a:latin typeface="Noto Sans"/>
                <a:ea typeface="Noto Sans"/>
              </a:rPr>
              <a:t> </a:t>
            </a:r>
            <a:r>
              <a:rPr b="0" lang="en-US" sz="2320" spc="-1" strike="noStrike">
                <a:solidFill>
                  <a:srgbClr val="555555"/>
                </a:solidFill>
                <a:latin typeface="Noto Sans"/>
                <a:ea typeface="Noto Sans"/>
              </a:rPr>
              <a:t>: Leader Arm </a:t>
            </a:r>
            <a:r>
              <a:rPr b="0" lang="en-US" sz="2320" spc="-1" strike="noStrike">
                <a:solidFill>
                  <a:srgbClr val="555555"/>
                </a:solidFill>
                <a:latin typeface="Noto Sans CJK KR"/>
                <a:ea typeface="Noto Sans CJK KR"/>
              </a:rPr>
              <a:t> </a:t>
            </a:r>
            <a:r>
              <a:rPr b="0" lang="ko-KR" sz="2320" spc="-1" strike="noStrike">
                <a:solidFill>
                  <a:srgbClr val="555555"/>
                </a:solidFill>
                <a:latin typeface="Noto Sans CJK KR"/>
                <a:ea typeface="Noto Sans CJK KR"/>
              </a:rPr>
              <a:t>조작과 자세 저장</a:t>
            </a:r>
            <a:endParaRPr b="0" lang="en-US" sz="232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80" name=""/>
          <p:cNvSpPr txBox="1"/>
          <p:nvPr/>
        </p:nvSpPr>
        <p:spPr>
          <a:xfrm>
            <a:off x="14287680" y="4205160"/>
            <a:ext cx="1786680" cy="661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ko-KR" sz="360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구현 목표</a:t>
            </a:r>
            <a:endParaRPr b="0" lang="en-US" sz="3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81" name=""/>
          <p:cNvSpPr txBox="1"/>
          <p:nvPr/>
        </p:nvSpPr>
        <p:spPr>
          <a:xfrm>
            <a:off x="14287680" y="5106960"/>
            <a:ext cx="8285400" cy="53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Leader Arm</a:t>
            </a:r>
            <a:r>
              <a:rPr b="0" lang="en-US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 </a:t>
            </a:r>
            <a:r>
              <a:rPr b="0" lang="ko-KR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의 자세를 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 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Follower Arm</a:t>
            </a:r>
            <a:r>
              <a:rPr b="0" lang="en-US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 </a:t>
            </a:r>
            <a:r>
              <a:rPr b="0" lang="ko-KR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으로 전달하</a:t>
            </a:r>
            <a:endParaRPr b="0" lang="en-US" sz="293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82" name=""/>
          <p:cNvSpPr txBox="1"/>
          <p:nvPr/>
        </p:nvSpPr>
        <p:spPr>
          <a:xfrm>
            <a:off x="14287680" y="5553720"/>
            <a:ext cx="5928480" cy="53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ko-KR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고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 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, </a:t>
            </a:r>
            <a:r>
              <a:rPr b="0" lang="en-US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 </a:t>
            </a:r>
            <a:r>
              <a:rPr b="0" lang="ko-KR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저장한 자세를 반복 실행합니다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 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.</a:t>
            </a:r>
            <a:endParaRPr b="0" lang="en-US" sz="293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83" name=""/>
          <p:cNvSpPr txBox="1"/>
          <p:nvPr/>
        </p:nvSpPr>
        <p:spPr>
          <a:xfrm>
            <a:off x="14287320" y="7110000"/>
            <a:ext cx="1786680" cy="661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ko-KR" sz="360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담당 범위</a:t>
            </a:r>
            <a:endParaRPr b="0" lang="en-US" sz="3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84" name=""/>
          <p:cNvSpPr txBox="1"/>
          <p:nvPr/>
        </p:nvSpPr>
        <p:spPr>
          <a:xfrm>
            <a:off x="14287320" y="8012160"/>
            <a:ext cx="8453160" cy="53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ko-KR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전민석과 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 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UI, </a:t>
            </a:r>
            <a:r>
              <a:rPr b="0" lang="en-US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 </a:t>
            </a:r>
            <a:r>
              <a:rPr b="0" lang="ko-KR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티칭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 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, </a:t>
            </a:r>
            <a:r>
              <a:rPr b="0" lang="en-US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 </a:t>
            </a:r>
            <a:r>
              <a:rPr b="0" lang="ko-KR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무선 통신을 같이 맡았습니다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 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. </a:t>
            </a:r>
            <a:endParaRPr b="0" lang="en-US" sz="293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85" name=""/>
          <p:cNvSpPr txBox="1"/>
          <p:nvPr/>
        </p:nvSpPr>
        <p:spPr>
          <a:xfrm>
            <a:off x="14287320" y="8458920"/>
            <a:ext cx="7767000" cy="53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ko-KR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통신 대기로 모터가 끊기던 문제는 인터럽트 수신과 </a:t>
            </a:r>
            <a:endParaRPr b="0" lang="en-US" sz="293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86" name=""/>
          <p:cNvSpPr txBox="1"/>
          <p:nvPr/>
        </p:nvSpPr>
        <p:spPr>
          <a:xfrm>
            <a:off x="14287320" y="8905680"/>
            <a:ext cx="5879160" cy="53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UART </a:t>
            </a:r>
            <a:r>
              <a:rPr b="0" lang="en-US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 </a:t>
            </a:r>
            <a:r>
              <a:rPr b="0" lang="ko-KR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설정 수정으로 해결했습니다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 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.</a:t>
            </a:r>
            <a:endParaRPr b="0" lang="en-US" sz="293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87" name=""/>
          <p:cNvSpPr txBox="1"/>
          <p:nvPr/>
        </p:nvSpPr>
        <p:spPr>
          <a:xfrm>
            <a:off x="14287680" y="10869480"/>
            <a:ext cx="4380840" cy="428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780" spc="-1" strike="noStrike">
                <a:solidFill>
                  <a:srgbClr val="202020"/>
                </a:solidFill>
                <a:latin typeface="Noto Sans"/>
                <a:ea typeface="Noto Sans"/>
              </a:rPr>
              <a:t>STM32F411RE · FreeRTOS</a:t>
            </a:r>
            <a:endParaRPr b="0" lang="en-US" sz="278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88" name=""/>
          <p:cNvSpPr txBox="1"/>
          <p:nvPr/>
        </p:nvSpPr>
        <p:spPr>
          <a:xfrm>
            <a:off x="14287680" y="11293200"/>
            <a:ext cx="4080600" cy="428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780" spc="-1" strike="noStrike">
                <a:solidFill>
                  <a:srgbClr val="202020"/>
                </a:solidFill>
                <a:latin typeface="Noto Sans"/>
                <a:ea typeface="Noto Sans"/>
              </a:rPr>
              <a:t>UART · Bluetooth HC-05</a:t>
            </a:r>
            <a:endParaRPr b="0" lang="en-US" sz="278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89" name=""/>
          <p:cNvSpPr txBox="1"/>
          <p:nvPr/>
        </p:nvSpPr>
        <p:spPr>
          <a:xfrm>
            <a:off x="14287680" y="11716920"/>
            <a:ext cx="3842640" cy="428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780" spc="-1" strike="noStrike">
                <a:solidFill>
                  <a:srgbClr val="202020"/>
                </a:solidFill>
                <a:latin typeface="Noto Sans"/>
                <a:ea typeface="Noto Sans"/>
              </a:rPr>
              <a:t>TFT LCD · 4×4 Keypad</a:t>
            </a:r>
            <a:endParaRPr b="0" lang="en-US" sz="278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"/>
          <p:cNvSpPr/>
          <p:nvPr/>
        </p:nvSpPr>
        <p:spPr>
          <a:xfrm>
            <a:off x="0" y="0"/>
            <a:ext cx="24383520" cy="13716000"/>
          </a:xfrm>
          <a:custGeom>
            <a:avLst/>
            <a:gdLst/>
            <a:ahLst/>
            <a:rect l="0" t="0" r="r" b="b"/>
            <a:pathLst>
              <a:path w="67732" h="38100">
                <a:moveTo>
                  <a:pt x="0" y="0"/>
                </a:moveTo>
                <a:lnTo>
                  <a:pt x="67732" y="0"/>
                </a:lnTo>
                <a:lnTo>
                  <a:pt x="67732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91" name=""/>
          <p:cNvSpPr/>
          <p:nvPr/>
        </p:nvSpPr>
        <p:spPr>
          <a:xfrm>
            <a:off x="0" y="0"/>
            <a:ext cx="24384240" cy="13716360"/>
          </a:xfrm>
          <a:custGeom>
            <a:avLst/>
            <a:gdLst/>
            <a:ahLst/>
            <a:rect l="0" t="0" r="r" b="b"/>
            <a:pathLst>
              <a:path w="67734" h="38101">
                <a:moveTo>
                  <a:pt x="0" y="0"/>
                </a:moveTo>
                <a:lnTo>
                  <a:pt x="67734" y="0"/>
                </a:lnTo>
                <a:lnTo>
                  <a:pt x="67734" y="38101"/>
                </a:lnTo>
                <a:lnTo>
                  <a:pt x="0" y="3810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Noto Sans CJK KR"/>
            </a:endParaRPr>
          </a:p>
        </p:txBody>
      </p:sp>
      <p:pic>
        <p:nvPicPr>
          <p:cNvPr id="392" name="" descr=""/>
          <p:cNvPicPr/>
          <p:nvPr/>
        </p:nvPicPr>
        <p:blipFill>
          <a:blip r:embed="rId1"/>
          <a:stretch/>
        </p:blipFill>
        <p:spPr>
          <a:xfrm>
            <a:off x="0" y="-360"/>
            <a:ext cx="1485000" cy="13714920"/>
          </a:xfrm>
          <a:prstGeom prst="rect">
            <a:avLst/>
          </a:prstGeom>
          <a:ln w="0">
            <a:noFill/>
          </a:ln>
        </p:spPr>
      </p:pic>
      <p:sp>
        <p:nvSpPr>
          <p:cNvPr id="393" name=""/>
          <p:cNvSpPr txBox="1"/>
          <p:nvPr/>
        </p:nvSpPr>
        <p:spPr>
          <a:xfrm rot="5400000">
            <a:off x="11160" y="1793520"/>
            <a:ext cx="1422720" cy="31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020" spc="-1" strike="noStrike">
                <a:solidFill>
                  <a:srgbClr val="ffffff"/>
                </a:solidFill>
                <a:latin typeface="Noto Sans"/>
                <a:ea typeface="Noto Sans"/>
              </a:rPr>
              <a:t>PLC Project</a:t>
            </a:r>
            <a:endParaRPr b="0" lang="en-US" sz="202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94" name=""/>
          <p:cNvSpPr txBox="1"/>
          <p:nvPr/>
        </p:nvSpPr>
        <p:spPr>
          <a:xfrm>
            <a:off x="466560" y="12484800"/>
            <a:ext cx="252360" cy="30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ffffff"/>
                </a:solidFill>
                <a:latin typeface="Noto Sans"/>
                <a:ea typeface="Noto Sans"/>
              </a:rPr>
              <a:t>12</a:t>
            </a:r>
            <a:endParaRPr b="0" lang="en-US" sz="19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95" name=""/>
          <p:cNvSpPr txBox="1"/>
          <p:nvPr/>
        </p:nvSpPr>
        <p:spPr>
          <a:xfrm>
            <a:off x="2571840" y="1088640"/>
            <a:ext cx="5261400" cy="1049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5700" spc="-1" strike="noStrike">
                <a:solidFill>
                  <a:srgbClr val="202020"/>
                </a:solidFill>
                <a:latin typeface="Noto Sans"/>
                <a:ea typeface="Noto Sans"/>
              </a:rPr>
              <a:t>PLC </a:t>
            </a:r>
            <a:r>
              <a:rPr b="1" lang="en-US" sz="570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 </a:t>
            </a:r>
            <a:r>
              <a:rPr b="1" lang="ko-KR" sz="570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공장자동화</a:t>
            </a:r>
            <a:endParaRPr b="0" lang="en-US" sz="5700" spc="-1" strike="noStrike">
              <a:solidFill>
                <a:srgbClr val="000000"/>
              </a:solidFill>
              <a:latin typeface="Noto Sans CJK KR"/>
            </a:endParaRPr>
          </a:p>
        </p:txBody>
      </p:sp>
      <p:pic>
        <p:nvPicPr>
          <p:cNvPr id="396" name="" descr=""/>
          <p:cNvPicPr/>
          <p:nvPr/>
        </p:nvPicPr>
        <p:blipFill>
          <a:blip r:embed="rId2"/>
          <a:stretch/>
        </p:blipFill>
        <p:spPr>
          <a:xfrm>
            <a:off x="2853000" y="4285800"/>
            <a:ext cx="9723240" cy="7333200"/>
          </a:xfrm>
          <a:prstGeom prst="rect">
            <a:avLst/>
          </a:prstGeom>
          <a:ln w="0">
            <a:noFill/>
          </a:ln>
        </p:spPr>
      </p:pic>
      <p:sp>
        <p:nvSpPr>
          <p:cNvPr id="397" name=""/>
          <p:cNvSpPr txBox="1"/>
          <p:nvPr/>
        </p:nvSpPr>
        <p:spPr>
          <a:xfrm>
            <a:off x="2619000" y="2582640"/>
            <a:ext cx="9110160" cy="51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ko-KR" sz="2780" spc="-1" strike="noStrike">
                <a:solidFill>
                  <a:srgbClr val="555555"/>
                </a:solidFill>
                <a:latin typeface="Noto Sans CJK KR"/>
                <a:ea typeface="Noto Sans CJK KR"/>
              </a:rPr>
              <a:t>창고 적재</a:t>
            </a:r>
            <a:r>
              <a:rPr b="0" lang="en-US" sz="2780" spc="-1" strike="noStrike">
                <a:solidFill>
                  <a:srgbClr val="555555"/>
                </a:solidFill>
                <a:latin typeface="Noto Sans"/>
                <a:ea typeface="Noto Sans"/>
              </a:rPr>
              <a:t> </a:t>
            </a:r>
            <a:r>
              <a:rPr b="0" lang="en-US" sz="2780" spc="-1" strike="noStrike">
                <a:solidFill>
                  <a:srgbClr val="555555"/>
                </a:solidFill>
                <a:latin typeface="Noto Sans"/>
                <a:ea typeface="Noto Sans"/>
              </a:rPr>
              <a:t>·</a:t>
            </a:r>
            <a:r>
              <a:rPr b="0" lang="en-US" sz="2780" spc="-1" strike="noStrike">
                <a:solidFill>
                  <a:srgbClr val="555555"/>
                </a:solidFill>
                <a:latin typeface="Noto Sans CJK KR"/>
                <a:ea typeface="Noto Sans CJK KR"/>
              </a:rPr>
              <a:t> </a:t>
            </a:r>
            <a:r>
              <a:rPr b="0" lang="ko-KR" sz="2780" spc="-1" strike="noStrike">
                <a:solidFill>
                  <a:srgbClr val="555555"/>
                </a:solidFill>
                <a:latin typeface="Noto Sans CJK KR"/>
                <a:ea typeface="Noto Sans CJK KR"/>
              </a:rPr>
              <a:t>서보 제어 </a:t>
            </a:r>
            <a:r>
              <a:rPr b="0" lang="en-US" sz="2780" spc="-1" strike="noStrike">
                <a:solidFill>
                  <a:srgbClr val="555555"/>
                </a:solidFill>
                <a:latin typeface="Noto Sans"/>
                <a:ea typeface="Noto Sans"/>
              </a:rPr>
              <a:t> </a:t>
            </a:r>
            <a:r>
              <a:rPr b="0" lang="en-US" sz="2780" spc="-1" strike="noStrike">
                <a:solidFill>
                  <a:srgbClr val="555555"/>
                </a:solidFill>
                <a:latin typeface="Noto Sans"/>
                <a:ea typeface="Noto Sans"/>
              </a:rPr>
              <a:t>/ 2026.06.10–06.13 / 2</a:t>
            </a:r>
            <a:r>
              <a:rPr b="0" lang="en-US" sz="2780" spc="-1" strike="noStrike">
                <a:solidFill>
                  <a:srgbClr val="555555"/>
                </a:solidFill>
                <a:latin typeface="Noto Sans CJK KR"/>
                <a:ea typeface="Noto Sans CJK KR"/>
              </a:rPr>
              <a:t> </a:t>
            </a:r>
            <a:r>
              <a:rPr b="0" lang="ko-KR" sz="2780" spc="-1" strike="noStrike">
                <a:solidFill>
                  <a:srgbClr val="555555"/>
                </a:solidFill>
                <a:latin typeface="Noto Sans CJK KR"/>
                <a:ea typeface="Noto Sans CJK KR"/>
              </a:rPr>
              <a:t>인 프로젝트</a:t>
            </a:r>
            <a:endParaRPr b="0" lang="en-US" sz="278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98" name=""/>
          <p:cNvSpPr txBox="1"/>
          <p:nvPr/>
        </p:nvSpPr>
        <p:spPr>
          <a:xfrm>
            <a:off x="2666520" y="12201120"/>
            <a:ext cx="2363040" cy="426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ko-KR" sz="2320" spc="-1" strike="noStrike">
                <a:solidFill>
                  <a:srgbClr val="555555"/>
                </a:solidFill>
                <a:latin typeface="Noto Sans CJK KR"/>
                <a:ea typeface="Noto Sans CJK KR"/>
              </a:rPr>
              <a:t>서보 위치 티칭 화면</a:t>
            </a:r>
            <a:endParaRPr b="0" lang="en-US" sz="232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99" name=""/>
          <p:cNvSpPr txBox="1"/>
          <p:nvPr/>
        </p:nvSpPr>
        <p:spPr>
          <a:xfrm>
            <a:off x="14192280" y="4252680"/>
            <a:ext cx="5883480" cy="661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ko-KR" sz="360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원점과 완료 신호를 잇는 시퀀스</a:t>
            </a:r>
            <a:endParaRPr b="0" lang="en-US" sz="3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00" name=""/>
          <p:cNvSpPr txBox="1"/>
          <p:nvPr/>
        </p:nvSpPr>
        <p:spPr>
          <a:xfrm>
            <a:off x="14192280" y="5154840"/>
            <a:ext cx="8510040" cy="53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ko-KR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서보와 실린더 원점 복귀 후 다음 동작을 허용했습니다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 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. </a:t>
            </a:r>
            <a:endParaRPr b="0" lang="en-US" sz="293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01" name=""/>
          <p:cNvSpPr txBox="1"/>
          <p:nvPr/>
        </p:nvSpPr>
        <p:spPr>
          <a:xfrm>
            <a:off x="14192280" y="5601600"/>
            <a:ext cx="7507800" cy="53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ko-KR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서보 이동 완료 신호를 다음 공정의 실행 조건으로 </a:t>
            </a:r>
            <a:endParaRPr b="0" lang="en-US" sz="293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02" name=""/>
          <p:cNvSpPr txBox="1"/>
          <p:nvPr/>
        </p:nvSpPr>
        <p:spPr>
          <a:xfrm>
            <a:off x="14192280" y="6048360"/>
            <a:ext cx="2348280" cy="53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ko-KR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연결했습니다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 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.</a:t>
            </a:r>
            <a:endParaRPr b="0" lang="en-US" sz="293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03" name=""/>
          <p:cNvSpPr txBox="1"/>
          <p:nvPr/>
        </p:nvSpPr>
        <p:spPr>
          <a:xfrm>
            <a:off x="14192280" y="7300800"/>
            <a:ext cx="3152520" cy="661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ko-KR" sz="360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점검과 정지 조건</a:t>
            </a:r>
            <a:endParaRPr b="0" lang="en-US" sz="3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04" name=""/>
          <p:cNvSpPr txBox="1"/>
          <p:nvPr/>
        </p:nvSpPr>
        <p:spPr>
          <a:xfrm>
            <a:off x="14192280" y="8202600"/>
            <a:ext cx="8535240" cy="53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ko-KR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장치를 수동 조작하고 센서 상태를 확인하는 점검 기능을 </a:t>
            </a:r>
            <a:endParaRPr b="0" lang="en-US" sz="293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05" name=""/>
          <p:cNvSpPr txBox="1"/>
          <p:nvPr/>
        </p:nvSpPr>
        <p:spPr>
          <a:xfrm>
            <a:off x="14192280" y="8649360"/>
            <a:ext cx="8276400" cy="53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ko-KR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맡았습니다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 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. </a:t>
            </a:r>
            <a:r>
              <a:rPr b="0" lang="en-US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 </a:t>
            </a:r>
            <a:r>
              <a:rPr b="0" lang="ko-KR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비상정지 입력 시 시퀀스와 관련 출력을 </a:t>
            </a:r>
            <a:endParaRPr b="0" lang="en-US" sz="293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06" name=""/>
          <p:cNvSpPr txBox="1"/>
          <p:nvPr/>
        </p:nvSpPr>
        <p:spPr>
          <a:xfrm>
            <a:off x="14192280" y="9096120"/>
            <a:ext cx="4142160" cy="53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ko-KR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정지하도록 구현했습니다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 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.</a:t>
            </a:r>
            <a:endParaRPr b="0" lang="en-US" sz="293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07" name=""/>
          <p:cNvSpPr txBox="1"/>
          <p:nvPr/>
        </p:nvSpPr>
        <p:spPr>
          <a:xfrm>
            <a:off x="14192280" y="10301040"/>
            <a:ext cx="2731680" cy="661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ko-KR" sz="360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현장 위치 티칭</a:t>
            </a:r>
            <a:endParaRPr b="0" lang="en-US" sz="3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08" name=""/>
          <p:cNvSpPr txBox="1"/>
          <p:nvPr/>
        </p:nvSpPr>
        <p:spPr>
          <a:xfrm>
            <a:off x="14192280" y="11203200"/>
            <a:ext cx="7341840" cy="53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ko-KR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서보의 현재 위치를 목표값으로 저장하는 기능을 </a:t>
            </a:r>
            <a:endParaRPr b="0" lang="en-US" sz="293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09" name=""/>
          <p:cNvSpPr txBox="1"/>
          <p:nvPr/>
        </p:nvSpPr>
        <p:spPr>
          <a:xfrm>
            <a:off x="14192280" y="11649960"/>
            <a:ext cx="9126720" cy="53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ko-KR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구현했습니다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 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. </a:t>
            </a:r>
            <a:r>
              <a:rPr b="0" lang="en-US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 </a:t>
            </a:r>
            <a:r>
              <a:rPr b="0" lang="ko-KR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설비 위치 변경 시 목표 위치를 다시 설정할 </a:t>
            </a:r>
            <a:endParaRPr b="0" lang="en-US" sz="293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10" name=""/>
          <p:cNvSpPr txBox="1"/>
          <p:nvPr/>
        </p:nvSpPr>
        <p:spPr>
          <a:xfrm>
            <a:off x="14192280" y="12096720"/>
            <a:ext cx="2090880" cy="53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ko-KR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수 있습니다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 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.</a:t>
            </a:r>
            <a:endParaRPr b="0" lang="en-US" sz="293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"/>
          <p:cNvSpPr/>
          <p:nvPr/>
        </p:nvSpPr>
        <p:spPr>
          <a:xfrm>
            <a:off x="0" y="0"/>
            <a:ext cx="24383520" cy="13716000"/>
          </a:xfrm>
          <a:custGeom>
            <a:avLst/>
            <a:gdLst/>
            <a:ahLst/>
            <a:rect l="0" t="0" r="r" b="b"/>
            <a:pathLst>
              <a:path w="67732" h="38100">
                <a:moveTo>
                  <a:pt x="0" y="0"/>
                </a:moveTo>
                <a:lnTo>
                  <a:pt x="67732" y="0"/>
                </a:lnTo>
                <a:lnTo>
                  <a:pt x="67732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12" name=""/>
          <p:cNvSpPr/>
          <p:nvPr/>
        </p:nvSpPr>
        <p:spPr>
          <a:xfrm>
            <a:off x="0" y="0"/>
            <a:ext cx="24384240" cy="13716360"/>
          </a:xfrm>
          <a:custGeom>
            <a:avLst/>
            <a:gdLst/>
            <a:ahLst/>
            <a:rect l="0" t="0" r="r" b="b"/>
            <a:pathLst>
              <a:path w="67734" h="38101">
                <a:moveTo>
                  <a:pt x="0" y="0"/>
                </a:moveTo>
                <a:lnTo>
                  <a:pt x="67734" y="0"/>
                </a:lnTo>
                <a:lnTo>
                  <a:pt x="67734" y="38101"/>
                </a:lnTo>
                <a:lnTo>
                  <a:pt x="0" y="3810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Noto Sans CJK KR"/>
            </a:endParaRPr>
          </a:p>
        </p:txBody>
      </p:sp>
      <p:pic>
        <p:nvPicPr>
          <p:cNvPr id="413" name="" descr=""/>
          <p:cNvPicPr/>
          <p:nvPr/>
        </p:nvPicPr>
        <p:blipFill>
          <a:blip r:embed="rId1"/>
          <a:stretch/>
        </p:blipFill>
        <p:spPr>
          <a:xfrm>
            <a:off x="1486080" y="8965800"/>
            <a:ext cx="11454480" cy="4748760"/>
          </a:xfrm>
          <a:prstGeom prst="rect">
            <a:avLst/>
          </a:prstGeom>
          <a:ln w="0">
            <a:noFill/>
          </a:ln>
        </p:spPr>
      </p:pic>
      <p:pic>
        <p:nvPicPr>
          <p:cNvPr id="414" name="" descr=""/>
          <p:cNvPicPr/>
          <p:nvPr/>
        </p:nvPicPr>
        <p:blipFill>
          <a:blip r:embed="rId2"/>
          <a:stretch/>
        </p:blipFill>
        <p:spPr>
          <a:xfrm>
            <a:off x="12928680" y="4101840"/>
            <a:ext cx="11454480" cy="4862880"/>
          </a:xfrm>
          <a:prstGeom prst="rect">
            <a:avLst/>
          </a:prstGeom>
          <a:ln w="0">
            <a:noFill/>
          </a:ln>
        </p:spPr>
      </p:pic>
      <p:pic>
        <p:nvPicPr>
          <p:cNvPr id="415" name="" descr=""/>
          <p:cNvPicPr/>
          <p:nvPr/>
        </p:nvPicPr>
        <p:blipFill>
          <a:blip r:embed="rId3"/>
          <a:stretch/>
        </p:blipFill>
        <p:spPr>
          <a:xfrm>
            <a:off x="0" y="-360"/>
            <a:ext cx="1485000" cy="13714920"/>
          </a:xfrm>
          <a:prstGeom prst="rect">
            <a:avLst/>
          </a:prstGeom>
          <a:ln w="0">
            <a:noFill/>
          </a:ln>
        </p:spPr>
      </p:pic>
      <p:pic>
        <p:nvPicPr>
          <p:cNvPr id="416" name="" descr=""/>
          <p:cNvPicPr/>
          <p:nvPr/>
        </p:nvPicPr>
        <p:blipFill>
          <a:blip r:embed="rId4"/>
          <a:stretch/>
        </p:blipFill>
        <p:spPr>
          <a:xfrm>
            <a:off x="12928680" y="4101840"/>
            <a:ext cx="24480" cy="10031760"/>
          </a:xfrm>
          <a:prstGeom prst="rect">
            <a:avLst/>
          </a:prstGeom>
          <a:ln w="0">
            <a:noFill/>
          </a:ln>
        </p:spPr>
      </p:pic>
      <p:pic>
        <p:nvPicPr>
          <p:cNvPr id="417" name="" descr=""/>
          <p:cNvPicPr/>
          <p:nvPr/>
        </p:nvPicPr>
        <p:blipFill>
          <a:blip r:embed="rId5"/>
          <a:stretch/>
        </p:blipFill>
        <p:spPr>
          <a:xfrm>
            <a:off x="1486080" y="4101840"/>
            <a:ext cx="22897080" cy="24480"/>
          </a:xfrm>
          <a:prstGeom prst="rect">
            <a:avLst/>
          </a:prstGeom>
          <a:ln w="0">
            <a:noFill/>
          </a:ln>
        </p:spPr>
      </p:pic>
      <p:pic>
        <p:nvPicPr>
          <p:cNvPr id="418" name="" descr=""/>
          <p:cNvPicPr/>
          <p:nvPr/>
        </p:nvPicPr>
        <p:blipFill>
          <a:blip r:embed="rId6"/>
          <a:stretch/>
        </p:blipFill>
        <p:spPr>
          <a:xfrm>
            <a:off x="1486080" y="8965800"/>
            <a:ext cx="22897080" cy="24480"/>
          </a:xfrm>
          <a:prstGeom prst="rect">
            <a:avLst/>
          </a:prstGeom>
          <a:ln w="0">
            <a:noFill/>
          </a:ln>
        </p:spPr>
      </p:pic>
      <p:sp>
        <p:nvSpPr>
          <p:cNvPr id="419" name=""/>
          <p:cNvSpPr txBox="1"/>
          <p:nvPr/>
        </p:nvSpPr>
        <p:spPr>
          <a:xfrm rot="5400000">
            <a:off x="63720" y="1740960"/>
            <a:ext cx="1317600" cy="31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020" spc="-1" strike="noStrike">
                <a:solidFill>
                  <a:srgbClr val="ffffff"/>
                </a:solidFill>
                <a:latin typeface="Noto Sans"/>
                <a:ea typeface="Noto Sans"/>
              </a:rPr>
              <a:t>Work Style</a:t>
            </a:r>
            <a:endParaRPr b="0" lang="en-US" sz="202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20" name=""/>
          <p:cNvSpPr txBox="1"/>
          <p:nvPr/>
        </p:nvSpPr>
        <p:spPr>
          <a:xfrm>
            <a:off x="466560" y="12484800"/>
            <a:ext cx="253800" cy="30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ffffff"/>
                </a:solidFill>
                <a:latin typeface="Noto Sans"/>
                <a:ea typeface="Noto Sans"/>
              </a:rPr>
              <a:t>13</a:t>
            </a:r>
            <a:endParaRPr b="0" lang="en-US" sz="19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21" name=""/>
          <p:cNvSpPr txBox="1"/>
          <p:nvPr/>
        </p:nvSpPr>
        <p:spPr>
          <a:xfrm>
            <a:off x="2571840" y="1088640"/>
            <a:ext cx="11313360" cy="1049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ko-KR" sz="570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프로젝트와 현장에서 이어온 업무 방식</a:t>
            </a:r>
            <a:endParaRPr b="0" lang="en-US" sz="57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22" name=""/>
          <p:cNvSpPr txBox="1"/>
          <p:nvPr/>
        </p:nvSpPr>
        <p:spPr>
          <a:xfrm>
            <a:off x="2619000" y="2582640"/>
            <a:ext cx="5925960" cy="51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ko-KR" sz="2780" spc="-1" strike="noStrike">
                <a:solidFill>
                  <a:srgbClr val="555555"/>
                </a:solidFill>
                <a:latin typeface="Noto Sans CJK KR"/>
                <a:ea typeface="Noto Sans CJK KR"/>
              </a:rPr>
              <a:t>기능 구현과 장치 동작을 함께 확인합니다</a:t>
            </a:r>
            <a:endParaRPr b="0" lang="en-US" sz="278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23" name=""/>
          <p:cNvSpPr txBox="1"/>
          <p:nvPr/>
        </p:nvSpPr>
        <p:spPr>
          <a:xfrm>
            <a:off x="2619000" y="4966920"/>
            <a:ext cx="4518000" cy="661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ko-KR" sz="360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입력과 상태를 먼저 확인</a:t>
            </a:r>
            <a:endParaRPr b="0" lang="en-US" sz="3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24" name=""/>
          <p:cNvSpPr txBox="1"/>
          <p:nvPr/>
        </p:nvSpPr>
        <p:spPr>
          <a:xfrm>
            <a:off x="2619000" y="5869080"/>
            <a:ext cx="8896680" cy="53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NRD</a:t>
            </a:r>
            <a:r>
              <a:rPr b="0" lang="en-US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 </a:t>
            </a:r>
            <a:r>
              <a:rPr b="0" lang="ko-KR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에서는 정상값과 오류값을 비교했고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 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, AMR</a:t>
            </a:r>
            <a:r>
              <a:rPr b="0" lang="en-US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 </a:t>
            </a:r>
            <a:r>
              <a:rPr b="0" lang="ko-KR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에서는 </a:t>
            </a:r>
            <a:endParaRPr b="0" lang="en-US" sz="293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25" name=""/>
          <p:cNvSpPr txBox="1"/>
          <p:nvPr/>
        </p:nvSpPr>
        <p:spPr>
          <a:xfrm>
            <a:off x="2619000" y="6315840"/>
            <a:ext cx="6869880" cy="53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ko-KR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로그와 실측을 맞춰 보며 원인을 찾았습니다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 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.</a:t>
            </a:r>
            <a:endParaRPr b="0" lang="en-US" sz="293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26" name=""/>
          <p:cNvSpPr txBox="1"/>
          <p:nvPr/>
        </p:nvSpPr>
        <p:spPr>
          <a:xfrm>
            <a:off x="14382720" y="4966920"/>
            <a:ext cx="4938480" cy="661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ko-KR" sz="360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기능을 나누고 연결을 점검</a:t>
            </a:r>
            <a:endParaRPr b="0" lang="en-US" sz="3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27" name=""/>
          <p:cNvSpPr txBox="1"/>
          <p:nvPr/>
        </p:nvSpPr>
        <p:spPr>
          <a:xfrm>
            <a:off x="14382720" y="5869080"/>
            <a:ext cx="8421480" cy="53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ARMIGO</a:t>
            </a:r>
            <a:r>
              <a:rPr b="0" lang="en-US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 </a:t>
            </a:r>
            <a:r>
              <a:rPr b="0" lang="ko-KR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에서는 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 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UI·</a:t>
            </a:r>
            <a:r>
              <a:rPr b="0" lang="en-US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 </a:t>
            </a:r>
            <a:r>
              <a:rPr b="0" lang="ko-KR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티칭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 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·</a:t>
            </a:r>
            <a:r>
              <a:rPr b="0" lang="en-US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 </a:t>
            </a:r>
            <a:r>
              <a:rPr b="0" lang="ko-KR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통신을 공동 구현했습니</a:t>
            </a:r>
            <a:endParaRPr b="0" lang="en-US" sz="293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28" name=""/>
          <p:cNvSpPr txBox="1"/>
          <p:nvPr/>
        </p:nvSpPr>
        <p:spPr>
          <a:xfrm>
            <a:off x="14382720" y="6315840"/>
            <a:ext cx="7354440" cy="53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ko-KR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다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 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. Safe Eye</a:t>
            </a:r>
            <a:r>
              <a:rPr b="0" lang="en-US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 </a:t>
            </a:r>
            <a:r>
              <a:rPr b="0" lang="ko-KR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에서는 장치 구동을 모듈로 나눠 </a:t>
            </a:r>
            <a:endParaRPr b="0" lang="en-US" sz="293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29" name=""/>
          <p:cNvSpPr txBox="1"/>
          <p:nvPr/>
        </p:nvSpPr>
        <p:spPr>
          <a:xfrm>
            <a:off x="14382720" y="6762600"/>
            <a:ext cx="2348280" cy="53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ko-KR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관리했습니다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 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.</a:t>
            </a:r>
            <a:endParaRPr b="0" lang="en-US" sz="293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30" name=""/>
          <p:cNvSpPr txBox="1"/>
          <p:nvPr/>
        </p:nvSpPr>
        <p:spPr>
          <a:xfrm>
            <a:off x="2619000" y="9824760"/>
            <a:ext cx="4518000" cy="661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ko-KR" sz="360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팀에 필요한 내용을 공유</a:t>
            </a:r>
            <a:endParaRPr b="0" lang="en-US" sz="3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31" name=""/>
          <p:cNvSpPr txBox="1"/>
          <p:nvPr/>
        </p:nvSpPr>
        <p:spPr>
          <a:xfrm>
            <a:off x="2619000" y="10726920"/>
            <a:ext cx="9451800" cy="53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ko-KR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평택 셋업에서 장비별 진행상황과 인증 이슈를 정리했습니다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 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. </a:t>
            </a:r>
            <a:endParaRPr b="0" lang="en-US" sz="293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32" name=""/>
          <p:cNvSpPr txBox="1"/>
          <p:nvPr/>
        </p:nvSpPr>
        <p:spPr>
          <a:xfrm>
            <a:off x="2619000" y="11173680"/>
            <a:ext cx="9348120" cy="53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ko-KR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프로젝트에서도 담당 기능과 연결 조건을 팀원과 맞췄습니다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 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.</a:t>
            </a:r>
            <a:endParaRPr b="0" lang="en-US" sz="293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33" name=""/>
          <p:cNvSpPr txBox="1"/>
          <p:nvPr/>
        </p:nvSpPr>
        <p:spPr>
          <a:xfrm>
            <a:off x="14382720" y="9824760"/>
            <a:ext cx="4518000" cy="661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ko-KR" sz="360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개발 역량을 꾸준히 확장</a:t>
            </a:r>
            <a:endParaRPr b="0" lang="en-US" sz="3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34" name=""/>
          <p:cNvSpPr txBox="1"/>
          <p:nvPr/>
        </p:nvSpPr>
        <p:spPr>
          <a:xfrm>
            <a:off x="14382720" y="10726920"/>
            <a:ext cx="8428320" cy="53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ko-KR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현장 경험에 임베디드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 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, </a:t>
            </a:r>
            <a:r>
              <a:rPr b="0" lang="en-US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 </a:t>
            </a:r>
            <a:r>
              <a:rPr b="0" lang="ko-KR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비전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 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, ROS2 </a:t>
            </a:r>
            <a:r>
              <a:rPr b="0" lang="en-US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 </a:t>
            </a:r>
            <a:r>
              <a:rPr b="0" lang="ko-KR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주행을 차례로 </a:t>
            </a:r>
            <a:endParaRPr b="0" lang="en-US" sz="293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35" name=""/>
          <p:cNvSpPr txBox="1"/>
          <p:nvPr/>
        </p:nvSpPr>
        <p:spPr>
          <a:xfrm>
            <a:off x="14382720" y="11173680"/>
            <a:ext cx="7635600" cy="53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ko-KR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더했습니다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 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. </a:t>
            </a:r>
            <a:r>
              <a:rPr b="0" lang="en-US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 </a:t>
            </a:r>
            <a:r>
              <a:rPr b="0" lang="ko-KR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지금은 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 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AMR </a:t>
            </a:r>
            <a:r>
              <a:rPr b="0" lang="en-US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 </a:t>
            </a:r>
            <a:r>
              <a:rPr b="0" lang="ko-KR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프로젝트에서 실제 </a:t>
            </a:r>
            <a:endParaRPr b="0" lang="en-US" sz="293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36" name=""/>
          <p:cNvSpPr txBox="1"/>
          <p:nvPr/>
        </p:nvSpPr>
        <p:spPr>
          <a:xfrm>
            <a:off x="14382720" y="11620440"/>
            <a:ext cx="5678280" cy="53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ko-KR" sz="29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로봇으로 확인하며 배우고 있습니다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 </a:t>
            </a:r>
            <a:r>
              <a:rPr b="0" lang="en-US" sz="2930" spc="-1" strike="noStrike">
                <a:solidFill>
                  <a:srgbClr val="202020"/>
                </a:solidFill>
                <a:latin typeface="Noto Sans"/>
                <a:ea typeface="Noto Sans"/>
              </a:rPr>
              <a:t>.</a:t>
            </a:r>
            <a:endParaRPr b="0" lang="en-US" sz="293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"/>
          <p:cNvSpPr/>
          <p:nvPr/>
        </p:nvSpPr>
        <p:spPr>
          <a:xfrm>
            <a:off x="0" y="0"/>
            <a:ext cx="24383520" cy="13716000"/>
          </a:xfrm>
          <a:custGeom>
            <a:avLst/>
            <a:gdLst/>
            <a:ahLst/>
            <a:rect l="0" t="0" r="r" b="b"/>
            <a:pathLst>
              <a:path w="67732" h="38100">
                <a:moveTo>
                  <a:pt x="0" y="0"/>
                </a:moveTo>
                <a:lnTo>
                  <a:pt x="67732" y="0"/>
                </a:lnTo>
                <a:lnTo>
                  <a:pt x="67732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38" name=""/>
          <p:cNvSpPr/>
          <p:nvPr/>
        </p:nvSpPr>
        <p:spPr>
          <a:xfrm>
            <a:off x="0" y="0"/>
            <a:ext cx="24384240" cy="13716360"/>
          </a:xfrm>
          <a:custGeom>
            <a:avLst/>
            <a:gdLst/>
            <a:ahLst/>
            <a:rect l="0" t="0" r="r" b="b"/>
            <a:pathLst>
              <a:path w="67734" h="38101">
                <a:moveTo>
                  <a:pt x="0" y="0"/>
                </a:moveTo>
                <a:lnTo>
                  <a:pt x="67734" y="0"/>
                </a:lnTo>
                <a:lnTo>
                  <a:pt x="67734" y="38101"/>
                </a:lnTo>
                <a:lnTo>
                  <a:pt x="0" y="3810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Noto Sans CJK KR"/>
            </a:endParaRPr>
          </a:p>
        </p:txBody>
      </p:sp>
      <p:pic>
        <p:nvPicPr>
          <p:cNvPr id="439" name="" descr=""/>
          <p:cNvPicPr/>
          <p:nvPr/>
        </p:nvPicPr>
        <p:blipFill>
          <a:blip r:embed="rId1"/>
          <a:stretch/>
        </p:blipFill>
        <p:spPr>
          <a:xfrm>
            <a:off x="0" y="4343040"/>
            <a:ext cx="24382800" cy="9371520"/>
          </a:xfrm>
          <a:prstGeom prst="rect">
            <a:avLst/>
          </a:prstGeom>
          <a:ln w="0">
            <a:noFill/>
          </a:ln>
        </p:spPr>
      </p:pic>
      <p:sp>
        <p:nvSpPr>
          <p:cNvPr id="440" name=""/>
          <p:cNvSpPr txBox="1"/>
          <p:nvPr/>
        </p:nvSpPr>
        <p:spPr>
          <a:xfrm>
            <a:off x="2488680" y="11913120"/>
            <a:ext cx="1169640" cy="613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ko-KR" sz="3340" spc="-1" strike="noStrike">
                <a:solidFill>
                  <a:srgbClr val="ffffff"/>
                </a:solidFill>
                <a:latin typeface="Noto Sans CJK KR"/>
                <a:ea typeface="Noto Sans CJK KR"/>
              </a:rPr>
              <a:t>류상균</a:t>
            </a:r>
            <a:endParaRPr b="0" lang="en-US" sz="334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41" name=""/>
          <p:cNvSpPr txBox="1"/>
          <p:nvPr/>
        </p:nvSpPr>
        <p:spPr>
          <a:xfrm>
            <a:off x="6400800" y="11913120"/>
            <a:ext cx="4760280" cy="51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3340" spc="-1" strike="noStrike">
                <a:solidFill>
                  <a:srgbClr val="ffffff"/>
                </a:solidFill>
                <a:latin typeface="Noto Sans"/>
                <a:ea typeface="Noto Sans"/>
              </a:rPr>
              <a:t>etland6554@gmail.com</a:t>
            </a:r>
            <a:endParaRPr b="0" lang="en-US" sz="3340" spc="-1" strike="noStrike">
              <a:solidFill>
                <a:srgbClr val="000000"/>
              </a:solidFill>
              <a:latin typeface="Noto Sans CJK KR"/>
            </a:endParaRPr>
          </a:p>
        </p:txBody>
      </p:sp>
      <p:pic>
        <p:nvPicPr>
          <p:cNvPr id="442" name="" descr=""/>
          <p:cNvPicPr/>
          <p:nvPr/>
        </p:nvPicPr>
        <p:blipFill>
          <a:blip r:embed="rId2"/>
          <a:stretch/>
        </p:blipFill>
        <p:spPr>
          <a:xfrm>
            <a:off x="0" y="-360"/>
            <a:ext cx="24382800" cy="4342320"/>
          </a:xfrm>
          <a:prstGeom prst="rect">
            <a:avLst/>
          </a:prstGeom>
          <a:ln w="0">
            <a:noFill/>
          </a:ln>
        </p:spPr>
      </p:pic>
      <p:sp>
        <p:nvSpPr>
          <p:cNvPr id="443" name=""/>
          <p:cNvSpPr txBox="1"/>
          <p:nvPr/>
        </p:nvSpPr>
        <p:spPr>
          <a:xfrm>
            <a:off x="12813840" y="11913120"/>
            <a:ext cx="3847320" cy="51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3340" spc="-1" strike="noStrike">
                <a:solidFill>
                  <a:srgbClr val="ffffff"/>
                </a:solidFill>
                <a:latin typeface="Noto Sans"/>
                <a:ea typeface="Noto Sans"/>
              </a:rPr>
              <a:t>+82 10-6554-2989</a:t>
            </a:r>
            <a:endParaRPr b="0" lang="en-US" sz="334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44" name=""/>
          <p:cNvSpPr txBox="1"/>
          <p:nvPr/>
        </p:nvSpPr>
        <p:spPr>
          <a:xfrm>
            <a:off x="2523960" y="2084040"/>
            <a:ext cx="11177640" cy="869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ko-KR" sz="47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개발도 현장도 직접 해내는 엔지니어</a:t>
            </a:r>
            <a:endParaRPr b="0" lang="en-US" sz="473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45" name=""/>
          <p:cNvSpPr txBox="1"/>
          <p:nvPr/>
        </p:nvSpPr>
        <p:spPr>
          <a:xfrm>
            <a:off x="2523600" y="1135080"/>
            <a:ext cx="5179320" cy="593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ko-KR" sz="3230" spc="-1" strike="noStrike">
                <a:solidFill>
                  <a:srgbClr val="202020"/>
                </a:solidFill>
                <a:latin typeface="Noto Sans CJK KR"/>
                <a:ea typeface="Noto Sans CJK KR"/>
              </a:rPr>
              <a:t>류상균 포트폴리오</a:t>
            </a:r>
            <a:endParaRPr b="0" lang="en-US" sz="323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46" name=""/>
          <p:cNvSpPr txBox="1"/>
          <p:nvPr/>
        </p:nvSpPr>
        <p:spPr>
          <a:xfrm>
            <a:off x="2476080" y="5393520"/>
            <a:ext cx="10688400" cy="2306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5000" spc="-1" strike="noStrike">
                <a:solidFill>
                  <a:srgbClr val="ffffff"/>
                </a:solidFill>
                <a:latin typeface="Noto Sans"/>
                <a:ea typeface="Noto Sans"/>
              </a:rPr>
              <a:t>Thank You.</a:t>
            </a:r>
            <a:endParaRPr b="0" lang="en-US" sz="150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